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7"/>
  </p:notesMasterIdLst>
  <p:sldIdLst>
    <p:sldId id="256" r:id="rId5"/>
    <p:sldId id="258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9" r:id="rId16"/>
    <p:sldId id="277" r:id="rId17"/>
    <p:sldId id="280" r:id="rId18"/>
    <p:sldId id="281" r:id="rId19"/>
    <p:sldId id="282" r:id="rId20"/>
    <p:sldId id="283" r:id="rId21"/>
    <p:sldId id="278" r:id="rId22"/>
    <p:sldId id="284" r:id="rId23"/>
    <p:sldId id="285" r:id="rId24"/>
    <p:sldId id="286" r:id="rId25"/>
    <p:sldId id="267" r:id="rId2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25" autoAdjust="0"/>
  </p:normalViewPr>
  <p:slideViewPr>
    <p:cSldViewPr snapToGrid="0">
      <p:cViewPr varScale="1">
        <p:scale>
          <a:sx n="81" d="100"/>
          <a:sy n="81" d="100"/>
        </p:scale>
        <p:origin x="40" y="4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584CF1-E996-4ED8-8379-4236BB47FB29}" type="datetimeFigureOut">
              <a:rPr lang="ko-KR" altLang="en-US" smtClean="0"/>
              <a:t>2024-07-24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1DEE6A-CE55-4E34-A123-7455901754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020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7F5A8-C999-96AA-83C8-D1FB8EDB97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274C92"/>
                </a:solidFill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F074DD9-A09E-85EA-ADFE-6231AFEADE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02D652-E551-7F60-6FB6-1978794A81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23130" y="5460207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fld id="{D8662992-F692-434D-88E2-565F8B3261B8}" type="datetime1">
              <a:rPr lang="ko-KR" altLang="en-US" smtClean="0"/>
              <a:t>2024-07-24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858968-C259-0919-9FA4-066E31710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7330" y="5965031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252020-3FA6-3D95-00AB-182ADC945BD1}"/>
              </a:ext>
            </a:extLst>
          </p:cNvPr>
          <p:cNvSpPr/>
          <p:nvPr userDrawn="1"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	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pic>
        <p:nvPicPr>
          <p:cNvPr id="8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BD5E8045-FD7C-FCE8-5EC1-DBC6DDB98C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E5C49649-1653-6811-1077-45C424DA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D6B4809-2B4D-E2FF-E41F-285F9C6153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C662BD96-E085-E804-0FA9-E9AAB26246D9}"/>
              </a:ext>
            </a:extLst>
          </p:cNvPr>
          <p:cNvCxnSpPr>
            <a:cxnSpLocks/>
          </p:cNvCxnSpPr>
          <p:nvPr userDrawn="1"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313761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B26A48F9-5C8F-76A1-82D8-DFFDAA529820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                sho5223@naver.com                   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4C3F41E-8D88-0259-E8F4-F58C38D96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125" y="325437"/>
            <a:ext cx="10515600" cy="790740"/>
          </a:xfrm>
        </p:spPr>
        <p:txBody>
          <a:bodyPr>
            <a:normAutofit/>
          </a:bodyPr>
          <a:lstStyle>
            <a:lvl1pPr>
              <a:defRPr sz="2400">
                <a:latin typeface="+mj-lt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F616CB-243D-DB29-A5A9-B51B20CED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>
                <a:latin typeface="+mj-lt"/>
              </a:defRPr>
            </a:lvl1pPr>
            <a:lvl2pPr>
              <a:defRPr sz="1400">
                <a:latin typeface="+mj-lt"/>
              </a:defRPr>
            </a:lvl2pPr>
            <a:lvl3pPr>
              <a:defRPr sz="1100">
                <a:latin typeface="+mj-lt"/>
              </a:defRPr>
            </a:lvl3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36667A-34CE-92A1-B512-ADD8DB6B4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2BF93BAD-88E7-F67B-A03B-01A185809E78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60E36177-B8C0-8174-C937-F1FB43DB478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17C8817-71D5-9E3B-6E69-B1D7278BBD31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92085F2A-E3B6-45E3-8A40-970C19631A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53102637-BBFC-4395-AADB-E220011C5B67}"/>
              </a:ext>
            </a:extLst>
          </p:cNvPr>
          <p:cNvCxnSpPr>
            <a:cxnSpLocks/>
          </p:cNvCxnSpPr>
          <p:nvPr/>
        </p:nvCxnSpPr>
        <p:spPr>
          <a:xfrm>
            <a:off x="0" y="294399"/>
            <a:ext cx="2272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139FE1BE-E53A-4F04-AA56-5AB08A63F9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7247" y="174515"/>
            <a:ext cx="7142060" cy="258334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latin typeface="+mj-lt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506947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DA40F44-2B89-4E24-B458-AEAF8F968DF5}"/>
              </a:ext>
            </a:extLst>
          </p:cNvPr>
          <p:cNvSpPr/>
          <p:nvPr/>
        </p:nvSpPr>
        <p:spPr>
          <a:xfrm>
            <a:off x="-1270" y="6532563"/>
            <a:ext cx="12192000" cy="343216"/>
          </a:xfrm>
          <a:prstGeom prst="rect">
            <a:avLst/>
          </a:prstGeom>
          <a:solidFill>
            <a:srgbClr val="274C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IBDP </a:t>
            </a:r>
            <a:r>
              <a:rPr lang="ko-KR" altLang="ko-KR" sz="1800" b="1" i="1" dirty="0" err="1">
                <a:solidFill>
                  <a:schemeClr val="bg1"/>
                </a:solidFill>
                <a:latin typeface="맑은 고딕" charset="0"/>
                <a:ea typeface="맑은 고딕" charset="0"/>
              </a:rPr>
              <a:t>Lab</a:t>
            </a:r>
            <a:r>
              <a:rPr lang="ko-KR" altLang="ko-KR" sz="1800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</a:t>
            </a:r>
            <a:r>
              <a:rPr lang="ko-KR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( https://sites.google.com/view/ibdp-lab/ )</a:t>
            </a:r>
            <a:r>
              <a:rPr lang="en-US" altLang="ko-KR" sz="1800" b="1" i="1" dirty="0">
                <a:solidFill>
                  <a:schemeClr val="bg1"/>
                </a:solidFill>
                <a:latin typeface="맑은 고딕" charset="0"/>
                <a:ea typeface="맑은 고딕" charset="0"/>
              </a:rPr>
              <a:t>                       	             sho5223@naver.com</a:t>
            </a:r>
            <a:endParaRPr lang="ko-KR" altLang="en-US" sz="1800" i="1" dirty="0">
              <a:solidFill>
                <a:schemeClr val="bg1"/>
              </a:solidFill>
              <a:latin typeface="맑은 고딕" charset="0"/>
              <a:ea typeface="맑은 고딕" charset="0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77209AB-84A3-46E8-B972-52FA582D728E}"/>
              </a:ext>
            </a:extLst>
          </p:cNvPr>
          <p:cNvSpPr txBox="1">
            <a:spLocks/>
          </p:cNvSpPr>
          <p:nvPr/>
        </p:nvSpPr>
        <p:spPr>
          <a:xfrm>
            <a:off x="365125" y="325437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r>
              <a:rPr lang="en-US" altLang="ko-KR" dirty="0"/>
              <a:t>Q&amp;A</a:t>
            </a:r>
            <a:endParaRPr lang="ko-KR" altLang="en-US" dirty="0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1EB4BA1-B44E-4F0D-874C-4ED2D475D58A}"/>
              </a:ext>
            </a:extLst>
          </p:cNvPr>
          <p:cNvCxnSpPr>
            <a:cxnSpLocks/>
          </p:cNvCxnSpPr>
          <p:nvPr/>
        </p:nvCxnSpPr>
        <p:spPr>
          <a:xfrm>
            <a:off x="0" y="942052"/>
            <a:ext cx="12192000" cy="0"/>
          </a:xfrm>
          <a:prstGeom prst="line">
            <a:avLst/>
          </a:prstGeom>
          <a:ln w="38100">
            <a:solidFill>
              <a:srgbClr val="274C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19" descr="C:/Users/USER/AppData/Roaming/PolarisOffice/ETemp/1604_13551552/fImage56966786500.png">
            <a:extLst>
              <a:ext uri="{FF2B5EF4-FFF2-40B4-BE49-F238E27FC236}">
                <a16:creationId xmlns:a16="http://schemas.microsoft.com/office/drawing/2014/main" id="{92686B94-703A-4016-ADC6-2A17D5F8095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0" y="6492875"/>
            <a:ext cx="368935" cy="382904"/>
          </a:xfrm>
          <a:prstGeom prst="rect">
            <a:avLst/>
          </a:prstGeom>
          <a:noFill/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684D4C4-C0AE-452D-AA04-DFDC8ECB11A3}"/>
              </a:ext>
            </a:extLst>
          </p:cNvPr>
          <p:cNvCxnSpPr>
            <a:cxnSpLocks/>
          </p:cNvCxnSpPr>
          <p:nvPr/>
        </p:nvCxnSpPr>
        <p:spPr>
          <a:xfrm>
            <a:off x="11764488" y="6514784"/>
            <a:ext cx="0" cy="343216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그림 11">
            <a:extLst>
              <a:ext uri="{FF2B5EF4-FFF2-40B4-BE49-F238E27FC236}">
                <a16:creationId xmlns:a16="http://schemas.microsoft.com/office/drawing/2014/main" id="{0591B738-5599-4692-A0B7-D45D2F620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2849" y="37875"/>
            <a:ext cx="847145" cy="881941"/>
          </a:xfrm>
          <a:prstGeom prst="rect">
            <a:avLst/>
          </a:prstGeom>
        </p:spPr>
      </p:pic>
      <p:sp>
        <p:nvSpPr>
          <p:cNvPr id="25" name="제목 1">
            <a:extLst>
              <a:ext uri="{FF2B5EF4-FFF2-40B4-BE49-F238E27FC236}">
                <a16:creationId xmlns:a16="http://schemas.microsoft.com/office/drawing/2014/main" id="{E41C8CFB-0D87-4D00-8590-3192384135ED}"/>
              </a:ext>
            </a:extLst>
          </p:cNvPr>
          <p:cNvSpPr txBox="1">
            <a:spLocks/>
          </p:cNvSpPr>
          <p:nvPr/>
        </p:nvSpPr>
        <p:spPr>
          <a:xfrm>
            <a:off x="1524000" y="23415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나눔고딕OTF" panose="020D0604000000000000" pitchFamily="34" charset="-127"/>
                <a:cs typeface="+mj-cs"/>
              </a:defRPr>
            </a:lvl1pPr>
          </a:lstStyle>
          <a:p>
            <a:pPr algn="ctr"/>
            <a:endParaRPr lang="ko-KR" altLang="en-US" sz="4000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D5763AD6-0B72-7607-A200-984DB4D98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04838" y="6521608"/>
            <a:ext cx="2743200" cy="365125"/>
          </a:xfrm>
        </p:spPr>
        <p:txBody>
          <a:bodyPr/>
          <a:lstStyle>
            <a:lvl1pPr marL="0" indent="0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fld id="{513237F5-BA6C-44EB-8611-BE9F046D20F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04979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621C316-90E1-B3FA-1D90-76439362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18" y="125483"/>
            <a:ext cx="10515600" cy="7907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6A861-75D0-5928-B0BC-309C7B2258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639" y="1080655"/>
            <a:ext cx="11253849" cy="50963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A6116F-5369-9AC0-886A-EB4C6ED8B6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4928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D2DA4A-7145-41F4-B5F6-06D0F27E03B9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584A51-2EED-E69B-5B50-6113017C45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2619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나눔고딕OTF" panose="020D0604000000000000" pitchFamily="34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나눔고딕OTF" panose="020D0604000000000000" pitchFamily="34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bit.ly/perch_csv_data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sv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99944C-5DB4-4B55-8E66-4FC130F842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특성공학과 규제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E8F877-8C6A-4253-949C-100C892D5A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서현우</a:t>
            </a:r>
          </a:p>
        </p:txBody>
      </p:sp>
      <p:sp>
        <p:nvSpPr>
          <p:cNvPr id="6" name="날짜 개체 틀 5">
            <a:extLst>
              <a:ext uri="{FF2B5EF4-FFF2-40B4-BE49-F238E27FC236}">
                <a16:creationId xmlns:a16="http://schemas.microsoft.com/office/drawing/2014/main" id="{27E4B46B-2022-0DC7-E8DF-4F6C5FE00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421E3-F023-4EF0-927C-33CC47FB618B}" type="datetime1">
              <a:rPr lang="ko-KR" altLang="en-US" smtClean="0"/>
              <a:t>2024-07-24</a:t>
            </a:fld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0AECDC2-B5DA-7B1C-A730-94CF29BE7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75569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45450D-6E2E-3DC7-6261-1149A664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3E9F0A-315B-FEA0-59F4-32AF863C8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다중회귀</a:t>
            </a:r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데이터 준비</a:t>
            </a:r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 err="1"/>
              <a:t>사이킷런의</a:t>
            </a:r>
            <a:r>
              <a:rPr lang="ko-KR" altLang="en-US" dirty="0"/>
              <a:t> 변환기</a:t>
            </a:r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다중회귀모델 훈련하기</a:t>
            </a:r>
            <a:endParaRPr lang="en-US" altLang="ko-KR" dirty="0"/>
          </a:p>
          <a:p>
            <a:r>
              <a:rPr lang="en-US" altLang="ko-KR" dirty="0"/>
              <a:t>5. </a:t>
            </a:r>
            <a:r>
              <a:rPr lang="ko-KR" altLang="en-US" dirty="0"/>
              <a:t>규제</a:t>
            </a:r>
            <a:endParaRPr lang="en-US" altLang="ko-KR" dirty="0"/>
          </a:p>
          <a:p>
            <a:r>
              <a:rPr lang="en-US" altLang="ko-KR" dirty="0"/>
              <a:t>6. </a:t>
            </a:r>
            <a:r>
              <a:rPr lang="ko-KR" altLang="en-US" dirty="0" err="1"/>
              <a:t>릿지</a:t>
            </a:r>
            <a:r>
              <a:rPr lang="ko-KR" altLang="en-US" dirty="0"/>
              <a:t> 회귀</a:t>
            </a:r>
            <a:endParaRPr lang="en-US" altLang="ko-KR" dirty="0"/>
          </a:p>
          <a:p>
            <a:r>
              <a:rPr lang="en-US" altLang="ko-KR" dirty="0"/>
              <a:t>7. </a:t>
            </a:r>
            <a:r>
              <a:rPr lang="ko-KR" altLang="en-US" dirty="0" err="1"/>
              <a:t>라쏘</a:t>
            </a:r>
            <a:r>
              <a:rPr lang="ko-KR" altLang="en-US" dirty="0"/>
              <a:t> 회귀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FA61D3-399B-4CDD-9F66-48CE6230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BEE6127-AA9D-1DF3-8910-7C62BE3771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83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0AA6B7-5556-F315-BDA9-513B11170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다중회귀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D69E6E-05D1-E978-62EB-8FF042810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기존의 회귀 </a:t>
            </a:r>
            <a:r>
              <a:rPr lang="en-US" altLang="ko-KR" dirty="0"/>
              <a:t>: </a:t>
            </a:r>
            <a:r>
              <a:rPr lang="ko-KR" altLang="en-US" dirty="0"/>
              <a:t>길이를 통한 무게 예측</a:t>
            </a:r>
            <a:endParaRPr lang="en-US" altLang="ko-KR" dirty="0"/>
          </a:p>
          <a:p>
            <a:r>
              <a:rPr lang="en-US" altLang="ko-KR" dirty="0"/>
              <a:t>But </a:t>
            </a:r>
            <a:r>
              <a:rPr lang="ko-KR" altLang="en-US" dirty="0"/>
              <a:t>농어의 특성은 높이</a:t>
            </a:r>
            <a:r>
              <a:rPr lang="en-US" altLang="ko-KR" dirty="0"/>
              <a:t>,</a:t>
            </a:r>
            <a:r>
              <a:rPr lang="ko-KR" altLang="en-US" dirty="0"/>
              <a:t>두께도 있음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특성 </a:t>
            </a:r>
            <a:r>
              <a:rPr lang="ko-KR" altLang="en-US" b="1" dirty="0"/>
              <a:t>종류 ↑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선형회귀 </a:t>
            </a:r>
            <a:r>
              <a:rPr lang="ko-KR" altLang="en-US" b="1" dirty="0"/>
              <a:t>성능 ↑</a:t>
            </a:r>
            <a:endParaRPr lang="en-US" altLang="ko-KR" b="1" dirty="0"/>
          </a:p>
          <a:p>
            <a:endParaRPr lang="en-US" altLang="ko-KR" dirty="0"/>
          </a:p>
          <a:p>
            <a:r>
              <a:rPr lang="ko-KR" altLang="en-US" b="1" dirty="0"/>
              <a:t>다중회귀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여러 개의 특성을 사용한 회귀</a:t>
            </a:r>
            <a:endParaRPr lang="en-US" altLang="ko-KR" dirty="0"/>
          </a:p>
          <a:p>
            <a:r>
              <a:rPr lang="en-US" altLang="ko-KR" dirty="0"/>
              <a:t>1</a:t>
            </a:r>
            <a:r>
              <a:rPr lang="ko-KR" altLang="en-US" dirty="0"/>
              <a:t>개의 특성 </a:t>
            </a:r>
            <a:r>
              <a:rPr lang="en-US" altLang="ko-KR" dirty="0"/>
              <a:t>: </a:t>
            </a:r>
            <a:r>
              <a:rPr lang="ko-KR" altLang="en-US" b="1" dirty="0"/>
              <a:t>직선</a:t>
            </a:r>
            <a:r>
              <a:rPr lang="ko-KR" altLang="en-US" dirty="0"/>
              <a:t>을 학습</a:t>
            </a:r>
            <a:endParaRPr lang="en-US" altLang="ko-KR" dirty="0"/>
          </a:p>
          <a:p>
            <a:r>
              <a:rPr lang="en-US" altLang="ko-KR" dirty="0"/>
              <a:t>2</a:t>
            </a:r>
            <a:r>
              <a:rPr lang="ko-KR" altLang="en-US" dirty="0"/>
              <a:t>개의 특성 </a:t>
            </a:r>
            <a:r>
              <a:rPr lang="en-US" altLang="ko-KR" dirty="0"/>
              <a:t>: </a:t>
            </a:r>
            <a:r>
              <a:rPr lang="ko-KR" altLang="en-US" b="1" dirty="0"/>
              <a:t>평면</a:t>
            </a:r>
            <a:r>
              <a:rPr lang="ko-KR" altLang="en-US" dirty="0"/>
              <a:t>을 학습</a:t>
            </a:r>
            <a:endParaRPr lang="en-US" altLang="ko-KR" dirty="0"/>
          </a:p>
          <a:p>
            <a:r>
              <a:rPr lang="en-US" altLang="ko-KR" dirty="0"/>
              <a:t>3</a:t>
            </a:r>
            <a:r>
              <a:rPr lang="ko-KR" altLang="en-US" dirty="0" err="1"/>
              <a:t>개이상</a:t>
            </a:r>
            <a:r>
              <a:rPr lang="en-US" altLang="ko-KR" dirty="0"/>
              <a:t>??  </a:t>
            </a:r>
            <a:r>
              <a:rPr lang="ko-KR" altLang="en-US" dirty="0"/>
              <a:t>고차원은 표현 불가</a:t>
            </a:r>
            <a:r>
              <a:rPr lang="en-US" altLang="ko-KR" dirty="0"/>
              <a:t>, </a:t>
            </a:r>
            <a:r>
              <a:rPr lang="ko-KR" altLang="en-US" dirty="0"/>
              <a:t>힘듦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/>
              <a:t>특성공학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기존의 특성을 사용해 </a:t>
            </a:r>
            <a:r>
              <a:rPr lang="ko-KR" altLang="en-US" b="1" dirty="0"/>
              <a:t>새로운 특성을 </a:t>
            </a:r>
            <a:r>
              <a:rPr lang="ko-KR" altLang="en-US" dirty="0" err="1"/>
              <a:t>뽑아냄</a:t>
            </a:r>
            <a:endParaRPr lang="en-US" altLang="ko-KR" dirty="0"/>
          </a:p>
          <a:p>
            <a:r>
              <a:rPr lang="en-US" altLang="ko-KR" dirty="0"/>
              <a:t>Ex)</a:t>
            </a:r>
            <a:r>
              <a:rPr lang="ko-KR" altLang="en-US" dirty="0"/>
              <a:t>길이</a:t>
            </a:r>
            <a:r>
              <a:rPr lang="en-US" altLang="ko-KR" dirty="0"/>
              <a:t>*</a:t>
            </a:r>
            <a:r>
              <a:rPr lang="ko-KR" altLang="en-US" dirty="0"/>
              <a:t>높이</a:t>
            </a:r>
            <a:r>
              <a:rPr lang="en-US" altLang="ko-KR" dirty="0"/>
              <a:t>=</a:t>
            </a:r>
            <a:r>
              <a:rPr lang="ko-KR" altLang="en-US" dirty="0" err="1"/>
              <a:t>새로운특성</a:t>
            </a:r>
            <a:endParaRPr lang="en-US" altLang="ko-KR" dirty="0"/>
          </a:p>
          <a:p>
            <a:r>
              <a:rPr lang="ko-KR" altLang="en-US" dirty="0" err="1"/>
              <a:t>사이킷런의</a:t>
            </a:r>
            <a:r>
              <a:rPr lang="ko-KR" altLang="en-US" dirty="0"/>
              <a:t> </a:t>
            </a:r>
            <a:r>
              <a:rPr lang="en-US" altLang="ko-KR" b="1" dirty="0" err="1"/>
              <a:t>PolynomialFeatures</a:t>
            </a:r>
            <a:r>
              <a:rPr lang="ko-KR" altLang="en-US" dirty="0"/>
              <a:t>클래스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ABD63A-7396-CB5C-B300-2A5B9AF9A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5726100-1CE9-EE4F-CC19-CF65A9E571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E35D568-B261-BFCE-8797-BBEEE820E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098" y="1116177"/>
            <a:ext cx="3252749" cy="173560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A9D8032-B4E7-9E9F-795A-EDABB9184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192" y="2851785"/>
            <a:ext cx="5523880" cy="184129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4B7FE97-CD52-EA7F-036B-03E4F4547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869" y="2857632"/>
            <a:ext cx="4048655" cy="475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95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36499B-1B5D-9DB1-6B04-B1EEAD64F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준비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58662B-59B7-DC63-E6CC-42AEEEB4A4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Pandas</a:t>
            </a:r>
            <a:r>
              <a:rPr lang="en-US" altLang="ko-KR" dirty="0"/>
              <a:t> :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분석 라이브러리</a:t>
            </a:r>
            <a:endParaRPr lang="en-US" altLang="ko-KR" dirty="0"/>
          </a:p>
          <a:p>
            <a:r>
              <a:rPr lang="ko-KR" altLang="en-US" b="1" dirty="0"/>
              <a:t>데이터 프레임 </a:t>
            </a:r>
            <a:r>
              <a:rPr lang="en-US" altLang="ko-KR" dirty="0"/>
              <a:t>: </a:t>
            </a:r>
            <a:r>
              <a:rPr lang="ko-KR" altLang="en-US" dirty="0" err="1"/>
              <a:t>판다스</a:t>
            </a:r>
            <a:r>
              <a:rPr lang="ko-KR" altLang="en-US" dirty="0"/>
              <a:t> 핵심 데이터구조</a:t>
            </a:r>
            <a:r>
              <a:rPr lang="en-US" altLang="ko-KR" dirty="0"/>
              <a:t>, 2</a:t>
            </a:r>
            <a:r>
              <a:rPr lang="ko-KR" altLang="en-US" dirty="0"/>
              <a:t>차원 테이블 형식</a:t>
            </a:r>
            <a:r>
              <a:rPr lang="en-US" altLang="ko-KR" dirty="0"/>
              <a:t>(</a:t>
            </a:r>
            <a:r>
              <a:rPr lang="ko-KR" altLang="en-US" dirty="0"/>
              <a:t>행과 열</a:t>
            </a:r>
            <a:r>
              <a:rPr lang="en-US" altLang="ko-KR" dirty="0"/>
              <a:t>), </a:t>
            </a:r>
            <a:r>
              <a:rPr lang="ko-KR" altLang="en-US" dirty="0" err="1"/>
              <a:t>넘파이배열로</a:t>
            </a:r>
            <a:r>
              <a:rPr lang="ko-KR" altLang="en-US" dirty="0"/>
              <a:t> 변환 가능</a:t>
            </a:r>
            <a:endParaRPr lang="en-US" altLang="ko-KR" dirty="0"/>
          </a:p>
          <a:p>
            <a:r>
              <a:rPr lang="en-US" altLang="ko-KR" dirty="0"/>
              <a:t>Csv : </a:t>
            </a:r>
            <a:r>
              <a:rPr lang="ko-KR" altLang="en-US" b="1" dirty="0"/>
              <a:t>콤마</a:t>
            </a:r>
            <a:r>
              <a:rPr lang="en-US" altLang="ko-KR" b="1" dirty="0"/>
              <a:t>(,)</a:t>
            </a:r>
            <a:r>
              <a:rPr lang="ko-KR" altLang="en-US" dirty="0"/>
              <a:t>로 구분된 파일 </a:t>
            </a:r>
            <a:endParaRPr lang="en-US" altLang="ko-KR" dirty="0"/>
          </a:p>
          <a:p>
            <a:r>
              <a:rPr lang="en-US" altLang="ko-KR" dirty="0" err="1"/>
              <a:t>Tsv</a:t>
            </a:r>
            <a:r>
              <a:rPr lang="ko-KR" altLang="en-US" dirty="0"/>
              <a:t> </a:t>
            </a:r>
            <a:r>
              <a:rPr lang="en-US" altLang="ko-KR" b="1" dirty="0"/>
              <a:t>:</a:t>
            </a:r>
            <a:r>
              <a:rPr lang="ko-KR" altLang="en-US" b="1" dirty="0"/>
              <a:t> </a:t>
            </a:r>
            <a:r>
              <a:rPr lang="en-US" altLang="ko-KR" b="1" dirty="0"/>
              <a:t>tab</a:t>
            </a:r>
            <a:r>
              <a:rPr lang="ko-KR" altLang="en-US" dirty="0"/>
              <a:t>으로 구분된 파일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D5374D-18AA-1F22-49F4-F0422A7C7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4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BDF1636-9974-1403-2CAB-C831F34DA33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A0AA1FA-7581-A3DE-9ADD-C5782D945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1484" y="3317368"/>
            <a:ext cx="2276793" cy="15146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DE1D50-2D36-9517-1F68-35347B48E7AE}"/>
              </a:ext>
            </a:extLst>
          </p:cNvPr>
          <p:cNvSpPr txBox="1"/>
          <p:nvPr/>
        </p:nvSpPr>
        <p:spPr>
          <a:xfrm>
            <a:off x="2148766" y="2972723"/>
            <a:ext cx="201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csv </a:t>
            </a:r>
            <a:r>
              <a:rPr lang="ko-KR" altLang="en-US" dirty="0"/>
              <a:t>예시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D75E4-5C7C-27E8-3BEC-224DE5C7290C}"/>
              </a:ext>
            </a:extLst>
          </p:cNvPr>
          <p:cNvSpPr txBox="1"/>
          <p:nvPr/>
        </p:nvSpPr>
        <p:spPr>
          <a:xfrm>
            <a:off x="7093884" y="2982478"/>
            <a:ext cx="2015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tsv</a:t>
            </a:r>
            <a:r>
              <a:rPr lang="en-US" altLang="ko-KR" dirty="0"/>
              <a:t> </a:t>
            </a:r>
            <a:r>
              <a:rPr lang="ko-KR" altLang="en-US" dirty="0"/>
              <a:t>예시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C9F0C83-9D8D-248C-5C09-ADB6C037E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317368"/>
            <a:ext cx="293410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81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B923AB-7C0C-4FA3-A073-7A90AA31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 준비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9D60D7-E9E6-640D-5613-9605BF4CD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E6DEC78-944E-5268-1656-DA7B30E3A18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B767FA28-C138-B064-518F-4AAF0D3404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read_csv</a:t>
            </a:r>
            <a:r>
              <a:rPr lang="en-US" altLang="ko-KR" dirty="0"/>
              <a:t>():</a:t>
            </a:r>
            <a:r>
              <a:rPr lang="ko-KR" altLang="en-US" dirty="0"/>
              <a:t>해당 주소의 </a:t>
            </a:r>
            <a:r>
              <a:rPr lang="en-US" altLang="ko-KR" dirty="0"/>
              <a:t>csv</a:t>
            </a:r>
            <a:r>
              <a:rPr lang="ko-KR" altLang="en-US" dirty="0"/>
              <a:t>를 </a:t>
            </a:r>
            <a:r>
              <a:rPr lang="ko-KR" altLang="en-US" dirty="0" err="1"/>
              <a:t>들고옴</a:t>
            </a:r>
            <a:endParaRPr lang="en-US" altLang="ko-KR" dirty="0"/>
          </a:p>
          <a:p>
            <a:r>
              <a:rPr lang="en-US" altLang="ko-KR" dirty="0">
                <a:hlinkClick r:id="rId2"/>
              </a:rPr>
              <a:t>https://bit.ly/perch_csv_data</a:t>
            </a:r>
            <a:endParaRPr lang="en-US" altLang="ko-KR" dirty="0"/>
          </a:p>
          <a:p>
            <a:r>
              <a:rPr lang="en-US" altLang="ko-KR" dirty="0" err="1"/>
              <a:t>to_numpy</a:t>
            </a:r>
            <a:r>
              <a:rPr lang="en-US" altLang="ko-KR" dirty="0"/>
              <a:t>():</a:t>
            </a:r>
            <a:r>
              <a:rPr lang="ko-KR" altLang="en-US" dirty="0" err="1"/>
              <a:t>넘파이</a:t>
            </a:r>
            <a:r>
              <a:rPr lang="ko-KR" altLang="en-US" dirty="0"/>
              <a:t> 배열로 바꿈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타깃데이터 준비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훈련세트와 테스트세트로 분리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490F2766-A5C2-A365-6BDA-7D7B47FF6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31" y="1267099"/>
            <a:ext cx="5687219" cy="119079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570D3C9-D475-74C7-8379-D92AFE87C5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361" y="1267099"/>
            <a:ext cx="2343477" cy="184810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AF0FE61-A2BA-4BC8-82D0-DD38E45703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361" y="3115207"/>
            <a:ext cx="2343477" cy="140989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C3F7D0F7-D19C-7194-F116-3CC485CBE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85641" y="2371455"/>
            <a:ext cx="5438394" cy="264445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9CACB537-8291-7D9D-7402-A169D1CE35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3355" y="5241270"/>
            <a:ext cx="10605290" cy="84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1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25D7DB-68F0-1B0E-4C38-8D21BFDDC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사이킷런의</a:t>
            </a:r>
            <a:r>
              <a:rPr lang="ko-KR" altLang="en-US" dirty="0"/>
              <a:t> 변환기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78BF5F-A0A1-4ED2-55F5-38033F15B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b="1" dirty="0"/>
              <a:t>변환기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특성을 만들거나 전처리하기 위한 다양한 클래스</a:t>
            </a:r>
            <a:endParaRPr lang="en-US" altLang="ko-KR" dirty="0"/>
          </a:p>
          <a:p>
            <a:r>
              <a:rPr lang="en-US" altLang="ko-KR" b="1" dirty="0"/>
              <a:t>fit(), transform() </a:t>
            </a:r>
            <a:r>
              <a:rPr lang="ko-KR" altLang="en-US" dirty="0"/>
              <a:t>메소드 제공 </a:t>
            </a:r>
            <a:r>
              <a:rPr lang="en-US" altLang="ko-KR" dirty="0"/>
              <a:t>	</a:t>
            </a:r>
          </a:p>
          <a:p>
            <a:r>
              <a:rPr lang="en-US" altLang="ko-KR" dirty="0"/>
              <a:t>*fit(</a:t>
            </a:r>
            <a:r>
              <a:rPr lang="ko-KR" altLang="en-US" dirty="0"/>
              <a:t>훈련</a:t>
            </a:r>
            <a:r>
              <a:rPr lang="en-US" altLang="ko-KR" dirty="0"/>
              <a:t>)</a:t>
            </a:r>
            <a:r>
              <a:rPr lang="ko-KR" altLang="en-US" dirty="0"/>
              <a:t>을 해야 </a:t>
            </a:r>
            <a:r>
              <a:rPr lang="en-US" altLang="ko-KR" dirty="0"/>
              <a:t>transform(</a:t>
            </a:r>
            <a:r>
              <a:rPr lang="ko-KR" altLang="en-US" dirty="0"/>
              <a:t>변환</a:t>
            </a:r>
            <a:r>
              <a:rPr lang="en-US" altLang="ko-KR" dirty="0"/>
              <a:t>)</a:t>
            </a:r>
            <a:r>
              <a:rPr lang="ko-KR" altLang="en-US" dirty="0"/>
              <a:t>이 가능 </a:t>
            </a:r>
            <a:r>
              <a:rPr lang="en-US" altLang="ko-KR" dirty="0"/>
              <a:t>&gt; </a:t>
            </a:r>
            <a:r>
              <a:rPr lang="ko-KR" altLang="en-US" dirty="0"/>
              <a:t>데이터의 통계적 특성으로 변환규칙을 설정하기 위함</a:t>
            </a:r>
            <a:endParaRPr lang="en-US" altLang="ko-KR" dirty="0"/>
          </a:p>
          <a:p>
            <a:r>
              <a:rPr lang="en-US" altLang="ko-KR" b="1" dirty="0" err="1"/>
              <a:t>PolynomialFeatures</a:t>
            </a:r>
            <a:r>
              <a:rPr lang="ko-KR" altLang="en-US" dirty="0"/>
              <a:t>클래스는 제곱</a:t>
            </a:r>
            <a:r>
              <a:rPr lang="en-US" altLang="ko-KR" dirty="0"/>
              <a:t>, </a:t>
            </a:r>
            <a:r>
              <a:rPr lang="ko-KR" altLang="en-US" dirty="0"/>
              <a:t>특성끼리 곱한 값을 추가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113FA-D387-6D6E-F827-8702A5129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7044C168-24A3-0FC3-D612-41A71C41082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2EE08B-CC2A-41F1-5A08-40B7626A8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613" y="2603437"/>
            <a:ext cx="6582694" cy="2086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F9596D-9E18-485B-4D49-5C040027430B}"/>
              </a:ext>
            </a:extLst>
          </p:cNvPr>
          <p:cNvSpPr txBox="1"/>
          <p:nvPr/>
        </p:nvSpPr>
        <p:spPr>
          <a:xfrm>
            <a:off x="786613" y="4787001"/>
            <a:ext cx="47243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1(</a:t>
            </a:r>
            <a:r>
              <a:rPr lang="ko-KR" altLang="en-US" dirty="0"/>
              <a:t>절편의 계수</a:t>
            </a:r>
            <a:r>
              <a:rPr lang="en-US" altLang="ko-KR" dirty="0"/>
              <a:t>), 2,3, 4(2</a:t>
            </a:r>
            <a:r>
              <a:rPr lang="ko-KR" altLang="en-US" dirty="0"/>
              <a:t>제곱</a:t>
            </a:r>
            <a:r>
              <a:rPr lang="en-US" altLang="ko-KR" dirty="0"/>
              <a:t>), 6(2*3), 9(3</a:t>
            </a:r>
            <a:r>
              <a:rPr lang="ko-KR" altLang="en-US" dirty="0"/>
              <a:t>제곱</a:t>
            </a:r>
            <a:r>
              <a:rPr lang="en-US" altLang="ko-KR" dirty="0"/>
              <a:t>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610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15C77C-F6E4-6570-A317-8601245D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사이킷런의</a:t>
            </a:r>
            <a:r>
              <a:rPr lang="ko-KR" altLang="en-US" dirty="0"/>
              <a:t> 변환기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7F9565-0E67-DD67-7392-CE908524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231034AB-490B-EE59-48F8-BA1F8374F00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8FFF5E19-24EF-29EB-29B4-7FB4B5C4F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Train_input</a:t>
            </a:r>
            <a:r>
              <a:rPr lang="ko-KR" altLang="en-US" dirty="0"/>
              <a:t>에 적용 </a:t>
            </a:r>
            <a:r>
              <a:rPr lang="en-US" altLang="ko-KR" dirty="0"/>
              <a:t>: </a:t>
            </a:r>
            <a:r>
              <a:rPr lang="en-US" altLang="ko-KR" b="1" dirty="0"/>
              <a:t>9</a:t>
            </a:r>
            <a:r>
              <a:rPr lang="ko-KR" altLang="en-US" b="1" dirty="0"/>
              <a:t>개</a:t>
            </a:r>
            <a:r>
              <a:rPr lang="ko-KR" altLang="en-US" dirty="0"/>
              <a:t>의 특성이 만들어짐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9</a:t>
            </a:r>
            <a:r>
              <a:rPr lang="ko-KR" altLang="en-US" dirty="0"/>
              <a:t>개의 특성이 어떻게 만들어졌는지 체크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테스트 세트도 변환</a:t>
            </a:r>
            <a:endParaRPr lang="en-US" altLang="ko-KR" dirty="0"/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ADC8A00A-13FF-C88E-3B3D-A68273508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810" y="1417283"/>
            <a:ext cx="5569612" cy="224819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D8C62AD-81EB-0DE9-CEF4-CC1DABEBB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95" y="4538005"/>
            <a:ext cx="5283188" cy="434331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63C844E-3487-40F4-D14B-FB9ED8602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204" y="4029823"/>
            <a:ext cx="3534268" cy="49536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61FC19-EAE5-337F-3546-65DFB98F8E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810" y="5568922"/>
            <a:ext cx="4544059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19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A340EB-3B4D-C33D-5E2E-75F758E41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회귀모델 훈련하기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052291-16BA-6645-CED8-C2EE1F8A6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선형회귀 모델을 훈련하는 것과 동일</a:t>
            </a:r>
            <a:endParaRPr lang="en-US" altLang="ko-KR" dirty="0"/>
          </a:p>
          <a:p>
            <a:r>
              <a:rPr lang="en-US" altLang="ko-KR" dirty="0"/>
              <a:t>But</a:t>
            </a:r>
            <a:r>
              <a:rPr lang="ko-KR" altLang="en-US" b="1" dirty="0"/>
              <a:t>여러 개의 특성을 </a:t>
            </a:r>
            <a:r>
              <a:rPr lang="ko-KR" altLang="en-US" dirty="0"/>
              <a:t>사용하여 선형회귀 수행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특성이 늘어나니 회귀의 능력이 </a:t>
            </a:r>
            <a:r>
              <a:rPr lang="ko-KR" altLang="en-US" b="1" dirty="0" err="1"/>
              <a:t>강해짐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테스트세트의 점수는 </a:t>
            </a:r>
            <a:r>
              <a:rPr lang="ko-KR" altLang="en-US" dirty="0" err="1"/>
              <a:t>높지않지만</a:t>
            </a:r>
            <a:r>
              <a:rPr lang="ko-KR" altLang="en-US" dirty="0"/>
              <a:t> 과소적합문제는 해결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B7D1D0-4060-5072-DAE8-7938C0525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AB56BE8-68C4-B7B8-D163-2A363968142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00ED2D5-312C-9C55-7092-9FFE34B73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444" y="1831981"/>
            <a:ext cx="5588233" cy="21330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1254B79-757A-8712-AFE7-FC7E8C952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444" y="4379432"/>
            <a:ext cx="4428232" cy="113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429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96F53-E3AE-FA9A-0CB6-62C327AD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회귀모델 훈련하기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C79E6-797A-3D17-3BBE-5F4131F66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특성을 더 많이 추가한다면</a:t>
            </a:r>
            <a:r>
              <a:rPr lang="en-US" altLang="ko-KR" dirty="0"/>
              <a:t>?</a:t>
            </a:r>
          </a:p>
          <a:p>
            <a:r>
              <a:rPr lang="en-US" altLang="ko-KR" dirty="0" err="1"/>
              <a:t>PolynomialFeatures</a:t>
            </a:r>
            <a:r>
              <a:rPr lang="ko-KR" altLang="en-US" dirty="0"/>
              <a:t>클래스의 </a:t>
            </a:r>
            <a:r>
              <a:rPr lang="en-US" altLang="ko-KR" b="1" dirty="0"/>
              <a:t>degree</a:t>
            </a:r>
            <a:r>
              <a:rPr lang="ko-KR" altLang="en-US" dirty="0"/>
              <a:t>매개변수 </a:t>
            </a:r>
            <a:r>
              <a:rPr lang="en-US" altLang="ko-KR" dirty="0"/>
              <a:t>: </a:t>
            </a:r>
            <a:r>
              <a:rPr lang="ko-KR" altLang="en-US" dirty="0" err="1"/>
              <a:t>고차항</a:t>
            </a:r>
            <a:r>
              <a:rPr lang="ko-KR" altLang="en-US" dirty="0"/>
              <a:t> </a:t>
            </a:r>
            <a:r>
              <a:rPr lang="ko-KR" altLang="en-US" b="1" dirty="0" err="1"/>
              <a:t>최대차수</a:t>
            </a:r>
            <a:r>
              <a:rPr lang="ko-KR" altLang="en-US" b="1" dirty="0"/>
              <a:t> </a:t>
            </a:r>
            <a:r>
              <a:rPr lang="ko-KR" altLang="en-US" dirty="0"/>
              <a:t>지정가능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5</a:t>
            </a:r>
            <a:r>
              <a:rPr lang="ko-KR" altLang="en-US" dirty="0"/>
              <a:t>제곱까지 특성 생성</a:t>
            </a:r>
            <a:r>
              <a:rPr lang="en-US" altLang="ko-KR" dirty="0"/>
              <a:t>, </a:t>
            </a:r>
            <a:r>
              <a:rPr lang="ko-KR" altLang="en-US" dirty="0"/>
              <a:t>특성의 개수 </a:t>
            </a:r>
            <a:r>
              <a:rPr lang="en-US" altLang="ko-KR" b="1" dirty="0"/>
              <a:t>55</a:t>
            </a:r>
            <a:r>
              <a:rPr lang="ko-KR" altLang="en-US" b="1" dirty="0"/>
              <a:t>개</a:t>
            </a:r>
            <a:r>
              <a:rPr lang="ko-KR" altLang="en-US" dirty="0"/>
              <a:t>가 됨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해당특성으로 학습 </a:t>
            </a:r>
            <a:r>
              <a:rPr lang="en-US" altLang="ko-KR" dirty="0"/>
              <a:t>: </a:t>
            </a:r>
            <a:r>
              <a:rPr lang="ko-KR" altLang="en-US" dirty="0"/>
              <a:t>점수가 완벽에 가까움</a:t>
            </a:r>
            <a:r>
              <a:rPr lang="en-US" altLang="ko-KR" dirty="0"/>
              <a:t>(</a:t>
            </a:r>
            <a:r>
              <a:rPr lang="ko-KR" altLang="en-US" dirty="0"/>
              <a:t>훈련세트</a:t>
            </a:r>
            <a:r>
              <a:rPr lang="en-US" altLang="ko-KR" dirty="0"/>
              <a:t>) But </a:t>
            </a:r>
            <a:r>
              <a:rPr lang="ko-KR" altLang="en-US" dirty="0"/>
              <a:t>테스트세트에는 형편없음 </a:t>
            </a:r>
            <a:r>
              <a:rPr lang="en-US" altLang="ko-KR" dirty="0"/>
              <a:t>(</a:t>
            </a:r>
            <a:r>
              <a:rPr lang="ko-KR" altLang="en-US" b="1" dirty="0"/>
              <a:t>과대적합</a:t>
            </a:r>
            <a:r>
              <a:rPr lang="en-US" altLang="ko-KR" dirty="0"/>
              <a:t>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FC1FC8-1A87-2D75-E8EA-AFF233554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pic>
        <p:nvPicPr>
          <p:cNvPr id="17" name="내용 개체 틀 16" descr="참새 윤곽선">
            <a:extLst>
              <a:ext uri="{FF2B5EF4-FFF2-40B4-BE49-F238E27FC236}">
                <a16:creationId xmlns:a16="http://schemas.microsoft.com/office/drawing/2014/main" id="{0EBDDBF9-9844-5284-1A90-CD8833E71149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21360" y="2278692"/>
            <a:ext cx="1205487" cy="1205487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EFC6432-A311-3F61-FE15-1BD011E82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613" y="1871396"/>
            <a:ext cx="5653601" cy="215998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4D7D53B-0B61-4673-B4D0-288CB05A9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613" y="4384099"/>
            <a:ext cx="3935159" cy="109853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2181BEA-2301-8092-0BDC-03C1A36BFD7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376028"/>
            <a:ext cx="4140587" cy="1106606"/>
          </a:xfrm>
          <a:prstGeom prst="rect">
            <a:avLst/>
          </a:prstGeom>
        </p:spPr>
      </p:pic>
      <p:pic>
        <p:nvPicPr>
          <p:cNvPr id="19" name="그래픽 18" descr="과녁 단색으로 채워진">
            <a:extLst>
              <a:ext uri="{FF2B5EF4-FFF2-40B4-BE49-F238E27FC236}">
                <a16:creationId xmlns:a16="http://schemas.microsoft.com/office/drawing/2014/main" id="{417AB475-5D26-763A-26DD-173829ED95A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70040" y="2424235"/>
            <a:ext cx="914400" cy="9144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BE5C40A-F091-BC7F-54A5-4DEFE683B6DC}"/>
              </a:ext>
            </a:extLst>
          </p:cNvPr>
          <p:cNvSpPr txBox="1"/>
          <p:nvPr/>
        </p:nvSpPr>
        <p:spPr>
          <a:xfrm>
            <a:off x="8169409" y="2696769"/>
            <a:ext cx="1100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X42</a:t>
            </a:r>
            <a:r>
              <a:rPr lang="ko-KR" altLang="en-US" dirty="0"/>
              <a:t>마리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53848C5-83B6-21B9-F784-62A3E6C4D8BE}"/>
              </a:ext>
            </a:extLst>
          </p:cNvPr>
          <p:cNvSpPr txBox="1"/>
          <p:nvPr/>
        </p:nvSpPr>
        <p:spPr>
          <a:xfrm>
            <a:off x="10095291" y="2696769"/>
            <a:ext cx="10323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X55</a:t>
            </a:r>
            <a:r>
              <a:rPr lang="ko-KR" altLang="en-US" dirty="0"/>
              <a:t>발</a:t>
            </a:r>
          </a:p>
        </p:txBody>
      </p:sp>
    </p:spTree>
    <p:extLst>
      <p:ext uri="{BB962C8B-B14F-4D97-AF65-F5344CB8AC3E}">
        <p14:creationId xmlns:p14="http://schemas.microsoft.com/office/powerpoint/2010/main" val="344881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B0A53D-D39D-EFD3-79C8-1A504B340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B32D6E-B6D8-0ECE-69A7-EB31C258A5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규제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모델이 훈련세트를 과도하게 학습하지 못하도록 </a:t>
            </a:r>
            <a:r>
              <a:rPr lang="ko-KR" altLang="en-US" b="1" dirty="0"/>
              <a:t>훼방</a:t>
            </a:r>
            <a:r>
              <a:rPr lang="ko-KR" altLang="en-US" dirty="0"/>
              <a:t>하는 것</a:t>
            </a:r>
            <a:r>
              <a:rPr lang="en-US" altLang="ko-KR" dirty="0"/>
              <a:t>, </a:t>
            </a:r>
            <a:r>
              <a:rPr lang="ko-KR" altLang="en-US" dirty="0" err="1"/>
              <a:t>과대적합되지</a:t>
            </a:r>
            <a:r>
              <a:rPr lang="ko-KR" altLang="en-US" dirty="0"/>
              <a:t> 않도록 만듦</a:t>
            </a:r>
            <a:endParaRPr lang="en-US" altLang="ko-KR" dirty="0"/>
          </a:p>
          <a:p>
            <a:r>
              <a:rPr lang="ko-KR" altLang="en-US" dirty="0"/>
              <a:t>선형회귀의 경우 특성에 곱해지는 계수</a:t>
            </a:r>
            <a:r>
              <a:rPr lang="en-US" altLang="ko-KR" dirty="0"/>
              <a:t>(</a:t>
            </a:r>
            <a:r>
              <a:rPr lang="ko-KR" altLang="en-US" dirty="0"/>
              <a:t>기울기</a:t>
            </a:r>
            <a:r>
              <a:rPr lang="en-US" altLang="ko-KR" dirty="0"/>
              <a:t>)</a:t>
            </a:r>
            <a:r>
              <a:rPr lang="ko-KR" altLang="en-US" dirty="0"/>
              <a:t>의 크기를 작게 만드는 것 </a:t>
            </a:r>
            <a:endParaRPr lang="en-US" altLang="ko-KR" dirty="0"/>
          </a:p>
          <a:p>
            <a:r>
              <a:rPr lang="ko-KR" altLang="en-US" dirty="0"/>
              <a:t>선형회귀 모델에 규제를 추가 </a:t>
            </a:r>
            <a:r>
              <a:rPr lang="en-US" altLang="ko-KR" dirty="0"/>
              <a:t>: </a:t>
            </a:r>
            <a:r>
              <a:rPr lang="ko-KR" altLang="en-US" b="1" dirty="0" err="1"/>
              <a:t>릿지</a:t>
            </a:r>
            <a:r>
              <a:rPr lang="ko-KR" altLang="en-US" dirty="0" err="1"/>
              <a:t>와</a:t>
            </a:r>
            <a:r>
              <a:rPr lang="ko-KR" altLang="en-US" dirty="0"/>
              <a:t> </a:t>
            </a:r>
            <a:r>
              <a:rPr lang="ko-KR" altLang="en-US" b="1" dirty="0" err="1"/>
              <a:t>라쏘</a:t>
            </a:r>
            <a:endParaRPr lang="en-US" altLang="ko-KR" b="1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보다 보편적인 패턴을 학습하게 됨</a:t>
            </a:r>
            <a:r>
              <a:rPr lang="en-US" altLang="ko-KR" dirty="0"/>
              <a:t>, </a:t>
            </a:r>
            <a:r>
              <a:rPr lang="ko-KR" altLang="en-US" b="1" dirty="0"/>
              <a:t>일반화</a:t>
            </a:r>
            <a:r>
              <a:rPr lang="ko-KR" altLang="en-US" dirty="0"/>
              <a:t> 성능 향상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62B9C7-2608-46A6-5DDA-382CD43ED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401742F-F18D-3A4E-41CF-9DC2298A051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422B7F5A-3791-C764-1626-4CBC34C0179D}"/>
              </a:ext>
            </a:extLst>
          </p:cNvPr>
          <p:cNvGrpSpPr/>
          <p:nvPr/>
        </p:nvGrpSpPr>
        <p:grpSpPr>
          <a:xfrm>
            <a:off x="1025139" y="2378616"/>
            <a:ext cx="3094553" cy="2878378"/>
            <a:chOff x="720259" y="3464422"/>
            <a:chExt cx="3562737" cy="2847390"/>
          </a:xfrm>
        </p:grpSpPr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61278E84-BB83-98F3-9AD8-6188208D0F77}"/>
                </a:ext>
              </a:extLst>
            </p:cNvPr>
            <p:cNvSpPr txBox="1"/>
            <p:nvPr/>
          </p:nvSpPr>
          <p:spPr>
            <a:xfrm>
              <a:off x="3348423" y="5612926"/>
              <a:ext cx="934573" cy="30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dirty="0"/>
                <a:t>특성</a:t>
              </a: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D988843E-C8F6-7795-C65E-276C0204DD33}"/>
                </a:ext>
              </a:extLst>
            </p:cNvPr>
            <p:cNvCxnSpPr/>
            <p:nvPr/>
          </p:nvCxnSpPr>
          <p:spPr>
            <a:xfrm>
              <a:off x="1187546" y="3800815"/>
              <a:ext cx="0" cy="251099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52B3121C-24B6-B755-704B-51AD8FBEFD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4711" y="5766879"/>
              <a:ext cx="2809041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AD140D9-5879-D6EC-D958-2C3DB4F3F812}"/>
                </a:ext>
              </a:extLst>
            </p:cNvPr>
            <p:cNvSpPr/>
            <p:nvPr/>
          </p:nvSpPr>
          <p:spPr>
            <a:xfrm>
              <a:off x="1529364" y="5189011"/>
              <a:ext cx="73038" cy="82817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3281DE7A-702A-4E0B-95DD-5AF4F108F52E}"/>
                </a:ext>
              </a:extLst>
            </p:cNvPr>
            <p:cNvSpPr/>
            <p:nvPr/>
          </p:nvSpPr>
          <p:spPr>
            <a:xfrm>
              <a:off x="2017615" y="5077765"/>
              <a:ext cx="73038" cy="82817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2CA428D3-1EDF-958D-0254-3B9609BE2FE5}"/>
                </a:ext>
              </a:extLst>
            </p:cNvPr>
            <p:cNvSpPr/>
            <p:nvPr/>
          </p:nvSpPr>
          <p:spPr>
            <a:xfrm>
              <a:off x="2194947" y="4624094"/>
              <a:ext cx="73038" cy="82817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FDA27132-EE15-DEA1-A615-65610F66700A}"/>
                </a:ext>
              </a:extLst>
            </p:cNvPr>
            <p:cNvSpPr/>
            <p:nvPr/>
          </p:nvSpPr>
          <p:spPr>
            <a:xfrm>
              <a:off x="2977926" y="4119711"/>
              <a:ext cx="73038" cy="82817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D567F67-6CD0-661B-895F-3CAC5A41C4E7}"/>
                </a:ext>
              </a:extLst>
            </p:cNvPr>
            <p:cNvSpPr/>
            <p:nvPr/>
          </p:nvSpPr>
          <p:spPr>
            <a:xfrm>
              <a:off x="2716668" y="4616147"/>
              <a:ext cx="73038" cy="82817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B675FAAA-3517-C631-544C-477AD6305575}"/>
                </a:ext>
              </a:extLst>
            </p:cNvPr>
            <p:cNvSpPr/>
            <p:nvPr/>
          </p:nvSpPr>
          <p:spPr>
            <a:xfrm>
              <a:off x="3470714" y="4239847"/>
              <a:ext cx="73038" cy="82817"/>
            </a:xfrm>
            <a:prstGeom prst="ellipse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  <p:sp>
          <p:nvSpPr>
            <p:cNvPr id="16" name="TextBox 29">
              <a:extLst>
                <a:ext uri="{FF2B5EF4-FFF2-40B4-BE49-F238E27FC236}">
                  <a16:creationId xmlns:a16="http://schemas.microsoft.com/office/drawing/2014/main" id="{24457737-7DA1-A52C-C7C2-0EAE99DD6687}"/>
                </a:ext>
              </a:extLst>
            </p:cNvPr>
            <p:cNvSpPr txBox="1"/>
            <p:nvPr/>
          </p:nvSpPr>
          <p:spPr>
            <a:xfrm>
              <a:off x="720259" y="3464422"/>
              <a:ext cx="934573" cy="30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/>
                <a:t>타깃</a:t>
              </a:r>
              <a:endParaRPr lang="ko-KR" altLang="en-US" dirty="0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12633B7D-7D7E-B490-025B-326C58C5D07B}"/>
                </a:ext>
              </a:extLst>
            </p:cNvPr>
            <p:cNvSpPr/>
            <p:nvPr/>
          </p:nvSpPr>
          <p:spPr>
            <a:xfrm>
              <a:off x="1419264" y="4144488"/>
              <a:ext cx="2256386" cy="1401288"/>
            </a:xfrm>
            <a:custGeom>
              <a:avLst/>
              <a:gdLst>
                <a:gd name="connsiteX0" fmla="*/ 4033 w 2256386"/>
                <a:gd name="connsiteY0" fmla="*/ 1401288 h 1401288"/>
                <a:gd name="connsiteX1" fmla="*/ 75 w 2256386"/>
                <a:gd name="connsiteY1" fmla="*/ 1306286 h 1401288"/>
                <a:gd name="connsiteX2" fmla="*/ 19867 w 2256386"/>
                <a:gd name="connsiteY2" fmla="*/ 1163782 h 1401288"/>
                <a:gd name="connsiteX3" fmla="*/ 31742 w 2256386"/>
                <a:gd name="connsiteY3" fmla="*/ 1143990 h 1401288"/>
                <a:gd name="connsiteX4" fmla="*/ 43617 w 2256386"/>
                <a:gd name="connsiteY4" fmla="*/ 1136073 h 1401288"/>
                <a:gd name="connsiteX5" fmla="*/ 99036 w 2256386"/>
                <a:gd name="connsiteY5" fmla="*/ 1108364 h 1401288"/>
                <a:gd name="connsiteX6" fmla="*/ 134662 w 2256386"/>
                <a:gd name="connsiteY6" fmla="*/ 1084613 h 1401288"/>
                <a:gd name="connsiteX7" fmla="*/ 174246 w 2256386"/>
                <a:gd name="connsiteY7" fmla="*/ 1045029 h 1401288"/>
                <a:gd name="connsiteX8" fmla="*/ 190080 w 2256386"/>
                <a:gd name="connsiteY8" fmla="*/ 1037112 h 1401288"/>
                <a:gd name="connsiteX9" fmla="*/ 316750 w 2256386"/>
                <a:gd name="connsiteY9" fmla="*/ 1013361 h 1401288"/>
                <a:gd name="connsiteX10" fmla="*/ 344459 w 2256386"/>
                <a:gd name="connsiteY10" fmla="*/ 1005444 h 1401288"/>
                <a:gd name="connsiteX11" fmla="*/ 427586 w 2256386"/>
                <a:gd name="connsiteY11" fmla="*/ 1001486 h 1401288"/>
                <a:gd name="connsiteX12" fmla="*/ 459254 w 2256386"/>
                <a:gd name="connsiteY12" fmla="*/ 997527 h 1401288"/>
                <a:gd name="connsiteX13" fmla="*/ 506755 w 2256386"/>
                <a:gd name="connsiteY13" fmla="*/ 981693 h 1401288"/>
                <a:gd name="connsiteX14" fmla="*/ 526547 w 2256386"/>
                <a:gd name="connsiteY14" fmla="*/ 973777 h 1401288"/>
                <a:gd name="connsiteX15" fmla="*/ 550298 w 2256386"/>
                <a:gd name="connsiteY15" fmla="*/ 969818 h 1401288"/>
                <a:gd name="connsiteX16" fmla="*/ 578007 w 2256386"/>
                <a:gd name="connsiteY16" fmla="*/ 953984 h 1401288"/>
                <a:gd name="connsiteX17" fmla="*/ 589882 w 2256386"/>
                <a:gd name="connsiteY17" fmla="*/ 946067 h 1401288"/>
                <a:gd name="connsiteX18" fmla="*/ 609675 w 2256386"/>
                <a:gd name="connsiteY18" fmla="*/ 938151 h 1401288"/>
                <a:gd name="connsiteX19" fmla="*/ 704677 w 2256386"/>
                <a:gd name="connsiteY19" fmla="*/ 870857 h 1401288"/>
                <a:gd name="connsiteX20" fmla="*/ 724469 w 2256386"/>
                <a:gd name="connsiteY20" fmla="*/ 843148 h 1401288"/>
                <a:gd name="connsiteX21" fmla="*/ 795721 w 2256386"/>
                <a:gd name="connsiteY21" fmla="*/ 767938 h 1401288"/>
                <a:gd name="connsiteX22" fmla="*/ 807597 w 2256386"/>
                <a:gd name="connsiteY22" fmla="*/ 744187 h 1401288"/>
                <a:gd name="connsiteX23" fmla="*/ 843223 w 2256386"/>
                <a:gd name="connsiteY23" fmla="*/ 641267 h 1401288"/>
                <a:gd name="connsiteX24" fmla="*/ 863015 w 2256386"/>
                <a:gd name="connsiteY24" fmla="*/ 589808 h 1401288"/>
                <a:gd name="connsiteX25" fmla="*/ 870932 w 2256386"/>
                <a:gd name="connsiteY25" fmla="*/ 538348 h 1401288"/>
                <a:gd name="connsiteX26" fmla="*/ 886766 w 2256386"/>
                <a:gd name="connsiteY26" fmla="*/ 514597 h 1401288"/>
                <a:gd name="connsiteX27" fmla="*/ 898641 w 2256386"/>
                <a:gd name="connsiteY27" fmla="*/ 494805 h 1401288"/>
                <a:gd name="connsiteX28" fmla="*/ 918433 w 2256386"/>
                <a:gd name="connsiteY28" fmla="*/ 486888 h 1401288"/>
                <a:gd name="connsiteX29" fmla="*/ 938225 w 2256386"/>
                <a:gd name="connsiteY29" fmla="*/ 471055 h 1401288"/>
                <a:gd name="connsiteX30" fmla="*/ 954059 w 2256386"/>
                <a:gd name="connsiteY30" fmla="*/ 467096 h 1401288"/>
                <a:gd name="connsiteX31" fmla="*/ 989685 w 2256386"/>
                <a:gd name="connsiteY31" fmla="*/ 455221 h 1401288"/>
                <a:gd name="connsiteX32" fmla="*/ 1088646 w 2256386"/>
                <a:gd name="connsiteY32" fmla="*/ 415636 h 1401288"/>
                <a:gd name="connsiteX33" fmla="*/ 1282610 w 2256386"/>
                <a:gd name="connsiteY33" fmla="*/ 419595 h 1401288"/>
                <a:gd name="connsiteX34" fmla="*/ 1314277 w 2256386"/>
                <a:gd name="connsiteY34" fmla="*/ 427512 h 1401288"/>
                <a:gd name="connsiteX35" fmla="*/ 1405321 w 2256386"/>
                <a:gd name="connsiteY35" fmla="*/ 419595 h 1401288"/>
                <a:gd name="connsiteX36" fmla="*/ 1460740 w 2256386"/>
                <a:gd name="connsiteY36" fmla="*/ 391886 h 1401288"/>
                <a:gd name="connsiteX37" fmla="*/ 1528033 w 2256386"/>
                <a:gd name="connsiteY37" fmla="*/ 332509 h 1401288"/>
                <a:gd name="connsiteX38" fmla="*/ 1559701 w 2256386"/>
                <a:gd name="connsiteY38" fmla="*/ 300842 h 1401288"/>
                <a:gd name="connsiteX39" fmla="*/ 1626994 w 2256386"/>
                <a:gd name="connsiteY39" fmla="*/ 237506 h 1401288"/>
                <a:gd name="connsiteX40" fmla="*/ 1646786 w 2256386"/>
                <a:gd name="connsiteY40" fmla="*/ 178130 h 1401288"/>
                <a:gd name="connsiteX41" fmla="*/ 1666578 w 2256386"/>
                <a:gd name="connsiteY41" fmla="*/ 146462 h 1401288"/>
                <a:gd name="connsiteX42" fmla="*/ 1678454 w 2256386"/>
                <a:gd name="connsiteY42" fmla="*/ 75210 h 1401288"/>
                <a:gd name="connsiteX43" fmla="*/ 1682412 w 2256386"/>
                <a:gd name="connsiteY43" fmla="*/ 59377 h 1401288"/>
                <a:gd name="connsiteX44" fmla="*/ 1694288 w 2256386"/>
                <a:gd name="connsiteY44" fmla="*/ 51460 h 1401288"/>
                <a:gd name="connsiteX45" fmla="*/ 1729914 w 2256386"/>
                <a:gd name="connsiteY45" fmla="*/ 23751 h 1401288"/>
                <a:gd name="connsiteX46" fmla="*/ 1749706 w 2256386"/>
                <a:gd name="connsiteY46" fmla="*/ 7917 h 1401288"/>
                <a:gd name="connsiteX47" fmla="*/ 1773456 w 2256386"/>
                <a:gd name="connsiteY47" fmla="*/ 3958 h 1401288"/>
                <a:gd name="connsiteX48" fmla="*/ 1805124 w 2256386"/>
                <a:gd name="connsiteY48" fmla="*/ 0 h 1401288"/>
                <a:gd name="connsiteX49" fmla="*/ 2034714 w 2256386"/>
                <a:gd name="connsiteY49" fmla="*/ 11875 h 1401288"/>
                <a:gd name="connsiteX50" fmla="*/ 2078256 w 2256386"/>
                <a:gd name="connsiteY50" fmla="*/ 15834 h 1401288"/>
                <a:gd name="connsiteX51" fmla="*/ 2090132 w 2256386"/>
                <a:gd name="connsiteY51" fmla="*/ 19792 h 1401288"/>
                <a:gd name="connsiteX52" fmla="*/ 2256386 w 2256386"/>
                <a:gd name="connsiteY52" fmla="*/ 27709 h 14012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256386" h="1401288">
                  <a:moveTo>
                    <a:pt x="4033" y="1401288"/>
                  </a:moveTo>
                  <a:cubicBezTo>
                    <a:pt x="2714" y="1369621"/>
                    <a:pt x="-534" y="1337975"/>
                    <a:pt x="75" y="1306286"/>
                  </a:cubicBezTo>
                  <a:cubicBezTo>
                    <a:pt x="1326" y="1241251"/>
                    <a:pt x="-2742" y="1212767"/>
                    <a:pt x="19867" y="1163782"/>
                  </a:cubicBezTo>
                  <a:cubicBezTo>
                    <a:pt x="23091" y="1156796"/>
                    <a:pt x="26735" y="1149832"/>
                    <a:pt x="31742" y="1143990"/>
                  </a:cubicBezTo>
                  <a:cubicBezTo>
                    <a:pt x="34838" y="1140378"/>
                    <a:pt x="39583" y="1138594"/>
                    <a:pt x="43617" y="1136073"/>
                  </a:cubicBezTo>
                  <a:cubicBezTo>
                    <a:pt x="103820" y="1098445"/>
                    <a:pt x="6948" y="1159523"/>
                    <a:pt x="99036" y="1108364"/>
                  </a:cubicBezTo>
                  <a:cubicBezTo>
                    <a:pt x="111512" y="1101433"/>
                    <a:pt x="123745" y="1093806"/>
                    <a:pt x="134662" y="1084613"/>
                  </a:cubicBezTo>
                  <a:cubicBezTo>
                    <a:pt x="148935" y="1072593"/>
                    <a:pt x="157556" y="1053374"/>
                    <a:pt x="174246" y="1045029"/>
                  </a:cubicBezTo>
                  <a:cubicBezTo>
                    <a:pt x="179524" y="1042390"/>
                    <a:pt x="184453" y="1038889"/>
                    <a:pt x="190080" y="1037112"/>
                  </a:cubicBezTo>
                  <a:cubicBezTo>
                    <a:pt x="251149" y="1017827"/>
                    <a:pt x="251309" y="1021060"/>
                    <a:pt x="316750" y="1013361"/>
                  </a:cubicBezTo>
                  <a:cubicBezTo>
                    <a:pt x="325986" y="1010722"/>
                    <a:pt x="334908" y="1006467"/>
                    <a:pt x="344459" y="1005444"/>
                  </a:cubicBezTo>
                  <a:cubicBezTo>
                    <a:pt x="372042" y="1002489"/>
                    <a:pt x="399911" y="1003395"/>
                    <a:pt x="427586" y="1001486"/>
                  </a:cubicBezTo>
                  <a:cubicBezTo>
                    <a:pt x="438199" y="1000754"/>
                    <a:pt x="448698" y="998847"/>
                    <a:pt x="459254" y="997527"/>
                  </a:cubicBezTo>
                  <a:lnTo>
                    <a:pt x="506755" y="981693"/>
                  </a:lnTo>
                  <a:cubicBezTo>
                    <a:pt x="513455" y="979328"/>
                    <a:pt x="519692" y="975647"/>
                    <a:pt x="526547" y="973777"/>
                  </a:cubicBezTo>
                  <a:cubicBezTo>
                    <a:pt x="534290" y="971665"/>
                    <a:pt x="542381" y="971138"/>
                    <a:pt x="550298" y="969818"/>
                  </a:cubicBezTo>
                  <a:cubicBezTo>
                    <a:pt x="564637" y="948310"/>
                    <a:pt x="549745" y="964583"/>
                    <a:pt x="578007" y="953984"/>
                  </a:cubicBezTo>
                  <a:cubicBezTo>
                    <a:pt x="582461" y="952313"/>
                    <a:pt x="585627" y="948194"/>
                    <a:pt x="589882" y="946067"/>
                  </a:cubicBezTo>
                  <a:cubicBezTo>
                    <a:pt x="596238" y="942889"/>
                    <a:pt x="603077" y="940790"/>
                    <a:pt x="609675" y="938151"/>
                  </a:cubicBezTo>
                  <a:cubicBezTo>
                    <a:pt x="674770" y="888076"/>
                    <a:pt x="642876" y="910184"/>
                    <a:pt x="704677" y="870857"/>
                  </a:cubicBezTo>
                  <a:cubicBezTo>
                    <a:pt x="711274" y="861621"/>
                    <a:pt x="716928" y="851632"/>
                    <a:pt x="724469" y="843148"/>
                  </a:cubicBezTo>
                  <a:cubicBezTo>
                    <a:pt x="745816" y="819133"/>
                    <a:pt x="776439" y="794932"/>
                    <a:pt x="795721" y="767938"/>
                  </a:cubicBezTo>
                  <a:cubicBezTo>
                    <a:pt x="800866" y="760735"/>
                    <a:pt x="804489" y="752475"/>
                    <a:pt x="807597" y="744187"/>
                  </a:cubicBezTo>
                  <a:cubicBezTo>
                    <a:pt x="820344" y="710195"/>
                    <a:pt x="830957" y="675436"/>
                    <a:pt x="843223" y="641267"/>
                  </a:cubicBezTo>
                  <a:cubicBezTo>
                    <a:pt x="849432" y="623970"/>
                    <a:pt x="863015" y="589808"/>
                    <a:pt x="863015" y="589808"/>
                  </a:cubicBezTo>
                  <a:cubicBezTo>
                    <a:pt x="865654" y="572655"/>
                    <a:pt x="865706" y="554898"/>
                    <a:pt x="870932" y="538348"/>
                  </a:cubicBezTo>
                  <a:cubicBezTo>
                    <a:pt x="873797" y="529275"/>
                    <a:pt x="881871" y="522756"/>
                    <a:pt x="886766" y="514597"/>
                  </a:cubicBezTo>
                  <a:cubicBezTo>
                    <a:pt x="890724" y="508000"/>
                    <a:pt x="892851" y="499871"/>
                    <a:pt x="898641" y="494805"/>
                  </a:cubicBezTo>
                  <a:cubicBezTo>
                    <a:pt x="903988" y="490126"/>
                    <a:pt x="912340" y="490544"/>
                    <a:pt x="918433" y="486888"/>
                  </a:cubicBezTo>
                  <a:cubicBezTo>
                    <a:pt x="925678" y="482541"/>
                    <a:pt x="930840" y="475158"/>
                    <a:pt x="938225" y="471055"/>
                  </a:cubicBezTo>
                  <a:cubicBezTo>
                    <a:pt x="942981" y="468413"/>
                    <a:pt x="948859" y="468696"/>
                    <a:pt x="954059" y="467096"/>
                  </a:cubicBezTo>
                  <a:cubicBezTo>
                    <a:pt x="966023" y="463415"/>
                    <a:pt x="978118" y="460007"/>
                    <a:pt x="989685" y="455221"/>
                  </a:cubicBezTo>
                  <a:cubicBezTo>
                    <a:pt x="1089439" y="413944"/>
                    <a:pt x="1037118" y="425943"/>
                    <a:pt x="1088646" y="415636"/>
                  </a:cubicBezTo>
                  <a:cubicBezTo>
                    <a:pt x="1153301" y="416956"/>
                    <a:pt x="1218031" y="416196"/>
                    <a:pt x="1282610" y="419595"/>
                  </a:cubicBezTo>
                  <a:cubicBezTo>
                    <a:pt x="1293476" y="420167"/>
                    <a:pt x="1303396" y="427512"/>
                    <a:pt x="1314277" y="427512"/>
                  </a:cubicBezTo>
                  <a:cubicBezTo>
                    <a:pt x="1344740" y="427512"/>
                    <a:pt x="1374973" y="422234"/>
                    <a:pt x="1405321" y="419595"/>
                  </a:cubicBezTo>
                  <a:cubicBezTo>
                    <a:pt x="1423794" y="410359"/>
                    <a:pt x="1445253" y="405551"/>
                    <a:pt x="1460740" y="391886"/>
                  </a:cubicBezTo>
                  <a:cubicBezTo>
                    <a:pt x="1483171" y="372094"/>
                    <a:pt x="1506018" y="352763"/>
                    <a:pt x="1528033" y="332509"/>
                  </a:cubicBezTo>
                  <a:cubicBezTo>
                    <a:pt x="1539019" y="322402"/>
                    <a:pt x="1548576" y="310796"/>
                    <a:pt x="1559701" y="300842"/>
                  </a:cubicBezTo>
                  <a:cubicBezTo>
                    <a:pt x="1627562" y="240124"/>
                    <a:pt x="1581370" y="290734"/>
                    <a:pt x="1626994" y="237506"/>
                  </a:cubicBezTo>
                  <a:cubicBezTo>
                    <a:pt x="1632293" y="211013"/>
                    <a:pt x="1631511" y="208681"/>
                    <a:pt x="1646786" y="178130"/>
                  </a:cubicBezTo>
                  <a:cubicBezTo>
                    <a:pt x="1652353" y="166996"/>
                    <a:pt x="1659981" y="157018"/>
                    <a:pt x="1666578" y="146462"/>
                  </a:cubicBezTo>
                  <a:cubicBezTo>
                    <a:pt x="1671415" y="107769"/>
                    <a:pt x="1669451" y="117224"/>
                    <a:pt x="1678454" y="75210"/>
                  </a:cubicBezTo>
                  <a:cubicBezTo>
                    <a:pt x="1679594" y="69891"/>
                    <a:pt x="1679394" y="63903"/>
                    <a:pt x="1682412" y="59377"/>
                  </a:cubicBezTo>
                  <a:cubicBezTo>
                    <a:pt x="1685051" y="55418"/>
                    <a:pt x="1690708" y="54593"/>
                    <a:pt x="1694288" y="51460"/>
                  </a:cubicBezTo>
                  <a:cubicBezTo>
                    <a:pt x="1763221" y="-8858"/>
                    <a:pt x="1677294" y="58830"/>
                    <a:pt x="1729914" y="23751"/>
                  </a:cubicBezTo>
                  <a:cubicBezTo>
                    <a:pt x="1736944" y="19065"/>
                    <a:pt x="1742015" y="11413"/>
                    <a:pt x="1749706" y="7917"/>
                  </a:cubicBezTo>
                  <a:cubicBezTo>
                    <a:pt x="1757012" y="4596"/>
                    <a:pt x="1765511" y="5093"/>
                    <a:pt x="1773456" y="3958"/>
                  </a:cubicBezTo>
                  <a:cubicBezTo>
                    <a:pt x="1783987" y="2454"/>
                    <a:pt x="1794568" y="1319"/>
                    <a:pt x="1805124" y="0"/>
                  </a:cubicBezTo>
                  <a:cubicBezTo>
                    <a:pt x="1906379" y="12656"/>
                    <a:pt x="1800899" y="375"/>
                    <a:pt x="2034714" y="11875"/>
                  </a:cubicBezTo>
                  <a:cubicBezTo>
                    <a:pt x="2049270" y="12591"/>
                    <a:pt x="2063742" y="14514"/>
                    <a:pt x="2078256" y="15834"/>
                  </a:cubicBezTo>
                  <a:cubicBezTo>
                    <a:pt x="2082215" y="17153"/>
                    <a:pt x="2085969" y="19514"/>
                    <a:pt x="2090132" y="19792"/>
                  </a:cubicBezTo>
                  <a:cubicBezTo>
                    <a:pt x="2145490" y="23482"/>
                    <a:pt x="2256386" y="27709"/>
                    <a:pt x="2256386" y="27709"/>
                  </a:cubicBezTo>
                </a:path>
              </a:pathLst>
            </a:cu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ko-KR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7ADE6E55-99CC-3D0D-1E3F-ADA0E4467358}"/>
              </a:ext>
            </a:extLst>
          </p:cNvPr>
          <p:cNvGrpSpPr/>
          <p:nvPr/>
        </p:nvGrpSpPr>
        <p:grpSpPr>
          <a:xfrm>
            <a:off x="6300647" y="2400694"/>
            <a:ext cx="3068817" cy="2747315"/>
            <a:chOff x="8097149" y="3412605"/>
            <a:chExt cx="3562737" cy="2847390"/>
          </a:xfrm>
        </p:grpSpPr>
        <p:sp>
          <p:nvSpPr>
            <p:cNvPr id="19" name="TextBox 33">
              <a:extLst>
                <a:ext uri="{FF2B5EF4-FFF2-40B4-BE49-F238E27FC236}">
                  <a16:creationId xmlns:a16="http://schemas.microsoft.com/office/drawing/2014/main" id="{5F36FF7B-7196-18CC-944A-4B86BA3B0F5B}"/>
                </a:ext>
              </a:extLst>
            </p:cNvPr>
            <p:cNvSpPr txBox="1"/>
            <p:nvPr/>
          </p:nvSpPr>
          <p:spPr>
            <a:xfrm>
              <a:off x="10725313" y="5561109"/>
              <a:ext cx="934573" cy="3090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dirty="0"/>
                <a:t>특성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32D642D-03C1-5F90-3801-9F7ED67D7177}"/>
                </a:ext>
              </a:extLst>
            </p:cNvPr>
            <p:cNvGrpSpPr/>
            <p:nvPr/>
          </p:nvGrpSpPr>
          <p:grpSpPr>
            <a:xfrm>
              <a:off x="8097149" y="3412605"/>
              <a:ext cx="2939925" cy="2847390"/>
              <a:chOff x="8097149" y="3412605"/>
              <a:chExt cx="2939925" cy="2847390"/>
            </a:xfrm>
          </p:grpSpPr>
          <p:cxnSp>
            <p:nvCxnSpPr>
              <p:cNvPr id="21" name="직선 연결선 20">
                <a:extLst>
                  <a:ext uri="{FF2B5EF4-FFF2-40B4-BE49-F238E27FC236}">
                    <a16:creationId xmlns:a16="http://schemas.microsoft.com/office/drawing/2014/main" id="{1332FAF5-B2E2-6B14-B167-DBD73A6938D5}"/>
                  </a:ext>
                </a:extLst>
              </p:cNvPr>
              <p:cNvCxnSpPr/>
              <p:nvPr/>
            </p:nvCxnSpPr>
            <p:spPr>
              <a:xfrm>
                <a:off x="8564436" y="3748998"/>
                <a:ext cx="0" cy="2510997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>
                <a:extLst>
                  <a:ext uri="{FF2B5EF4-FFF2-40B4-BE49-F238E27FC236}">
                    <a16:creationId xmlns:a16="http://schemas.microsoft.com/office/drawing/2014/main" id="{5D7FA99F-016F-1745-348D-A73CB5EFD38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111601" y="5715062"/>
                <a:ext cx="2809041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타원 22">
                <a:extLst>
                  <a:ext uri="{FF2B5EF4-FFF2-40B4-BE49-F238E27FC236}">
                    <a16:creationId xmlns:a16="http://schemas.microsoft.com/office/drawing/2014/main" id="{EE861A3F-9CF2-E53C-5DBF-AF4AB8587885}"/>
                  </a:ext>
                </a:extLst>
              </p:cNvPr>
              <p:cNvSpPr/>
              <p:nvPr/>
            </p:nvSpPr>
            <p:spPr>
              <a:xfrm>
                <a:off x="8906254" y="5137194"/>
                <a:ext cx="73038" cy="8281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4" name="타원 23">
                <a:extLst>
                  <a:ext uri="{FF2B5EF4-FFF2-40B4-BE49-F238E27FC236}">
                    <a16:creationId xmlns:a16="http://schemas.microsoft.com/office/drawing/2014/main" id="{C751BF06-9624-1E76-AD21-A12FECB4AF85}"/>
                  </a:ext>
                </a:extLst>
              </p:cNvPr>
              <p:cNvSpPr/>
              <p:nvPr/>
            </p:nvSpPr>
            <p:spPr>
              <a:xfrm>
                <a:off x="9394505" y="5025948"/>
                <a:ext cx="73038" cy="8281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27408C42-A584-0C98-D697-9567605B7BB3}"/>
                  </a:ext>
                </a:extLst>
              </p:cNvPr>
              <p:cNvSpPr/>
              <p:nvPr/>
            </p:nvSpPr>
            <p:spPr>
              <a:xfrm>
                <a:off x="9571837" y="4572277"/>
                <a:ext cx="73038" cy="8281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6" name="타원 25">
                <a:extLst>
                  <a:ext uri="{FF2B5EF4-FFF2-40B4-BE49-F238E27FC236}">
                    <a16:creationId xmlns:a16="http://schemas.microsoft.com/office/drawing/2014/main" id="{E067FA33-8920-F101-7CA5-A616D3F6BDA8}"/>
                  </a:ext>
                </a:extLst>
              </p:cNvPr>
              <p:cNvSpPr/>
              <p:nvPr/>
            </p:nvSpPr>
            <p:spPr>
              <a:xfrm>
                <a:off x="10354816" y="4067894"/>
                <a:ext cx="73038" cy="8281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7" name="타원 26">
                <a:extLst>
                  <a:ext uri="{FF2B5EF4-FFF2-40B4-BE49-F238E27FC236}">
                    <a16:creationId xmlns:a16="http://schemas.microsoft.com/office/drawing/2014/main" id="{8D316476-C058-7097-6709-43A74F49CBEB}"/>
                  </a:ext>
                </a:extLst>
              </p:cNvPr>
              <p:cNvSpPr/>
              <p:nvPr/>
            </p:nvSpPr>
            <p:spPr>
              <a:xfrm>
                <a:off x="10093558" y="4564330"/>
                <a:ext cx="73038" cy="8281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8" name="타원 27">
                <a:extLst>
                  <a:ext uri="{FF2B5EF4-FFF2-40B4-BE49-F238E27FC236}">
                    <a16:creationId xmlns:a16="http://schemas.microsoft.com/office/drawing/2014/main" id="{66E7F87E-8351-052F-CA5A-89BB91770C5C}"/>
                  </a:ext>
                </a:extLst>
              </p:cNvPr>
              <p:cNvSpPr/>
              <p:nvPr/>
            </p:nvSpPr>
            <p:spPr>
              <a:xfrm>
                <a:off x="10847604" y="4188030"/>
                <a:ext cx="73038" cy="82817"/>
              </a:xfrm>
              <a:prstGeom prst="ellipse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  <p:sp>
            <p:nvSpPr>
              <p:cNvPr id="29" name="TextBox 42">
                <a:extLst>
                  <a:ext uri="{FF2B5EF4-FFF2-40B4-BE49-F238E27FC236}">
                    <a16:creationId xmlns:a16="http://schemas.microsoft.com/office/drawing/2014/main" id="{4B7EF35D-4329-AFF3-9836-BD193EC7845A}"/>
                  </a:ext>
                </a:extLst>
              </p:cNvPr>
              <p:cNvSpPr txBox="1"/>
              <p:nvPr/>
            </p:nvSpPr>
            <p:spPr>
              <a:xfrm>
                <a:off x="8097149" y="3412605"/>
                <a:ext cx="934573" cy="3090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ko-KR" altLang="en-US"/>
                  <a:t>타깃</a:t>
                </a:r>
                <a:endParaRPr lang="ko-KR" altLang="en-US" dirty="0"/>
              </a:p>
            </p:txBody>
          </p:sp>
          <p:sp>
            <p:nvSpPr>
              <p:cNvPr id="30" name="자유형: 도형 29">
                <a:extLst>
                  <a:ext uri="{FF2B5EF4-FFF2-40B4-BE49-F238E27FC236}">
                    <a16:creationId xmlns:a16="http://schemas.microsoft.com/office/drawing/2014/main" id="{39BD0C0C-6014-63CE-FF72-B73EB953FE08}"/>
                  </a:ext>
                </a:extLst>
              </p:cNvPr>
              <p:cNvSpPr/>
              <p:nvPr/>
            </p:nvSpPr>
            <p:spPr>
              <a:xfrm>
                <a:off x="8836181" y="3911609"/>
                <a:ext cx="2200893" cy="1488374"/>
              </a:xfrm>
              <a:custGeom>
                <a:avLst/>
                <a:gdLst>
                  <a:gd name="connsiteX0" fmla="*/ 0 w 2200893"/>
                  <a:gd name="connsiteY0" fmla="*/ 1488374 h 1488374"/>
                  <a:gd name="connsiteX1" fmla="*/ 67293 w 2200893"/>
                  <a:gd name="connsiteY1" fmla="*/ 1436914 h 1488374"/>
                  <a:gd name="connsiteX2" fmla="*/ 102919 w 2200893"/>
                  <a:gd name="connsiteY2" fmla="*/ 1385455 h 1488374"/>
                  <a:gd name="connsiteX3" fmla="*/ 114794 w 2200893"/>
                  <a:gd name="connsiteY3" fmla="*/ 1377538 h 1488374"/>
                  <a:gd name="connsiteX4" fmla="*/ 138545 w 2200893"/>
                  <a:gd name="connsiteY4" fmla="*/ 1345870 h 1488374"/>
                  <a:gd name="connsiteX5" fmla="*/ 178130 w 2200893"/>
                  <a:gd name="connsiteY5" fmla="*/ 1306286 h 1488374"/>
                  <a:gd name="connsiteX6" fmla="*/ 197922 w 2200893"/>
                  <a:gd name="connsiteY6" fmla="*/ 1290452 h 1488374"/>
                  <a:gd name="connsiteX7" fmla="*/ 249382 w 2200893"/>
                  <a:gd name="connsiteY7" fmla="*/ 1242951 h 1488374"/>
                  <a:gd name="connsiteX8" fmla="*/ 269174 w 2200893"/>
                  <a:gd name="connsiteY8" fmla="*/ 1227117 h 1488374"/>
                  <a:gd name="connsiteX9" fmla="*/ 348343 w 2200893"/>
                  <a:gd name="connsiteY9" fmla="*/ 1151906 h 1488374"/>
                  <a:gd name="connsiteX10" fmla="*/ 368135 w 2200893"/>
                  <a:gd name="connsiteY10" fmla="*/ 1143990 h 1488374"/>
                  <a:gd name="connsiteX11" fmla="*/ 383969 w 2200893"/>
                  <a:gd name="connsiteY11" fmla="*/ 1124197 h 1488374"/>
                  <a:gd name="connsiteX12" fmla="*/ 399802 w 2200893"/>
                  <a:gd name="connsiteY12" fmla="*/ 1112322 h 1488374"/>
                  <a:gd name="connsiteX13" fmla="*/ 427511 w 2200893"/>
                  <a:gd name="connsiteY13" fmla="*/ 1088571 h 1488374"/>
                  <a:gd name="connsiteX14" fmla="*/ 463137 w 2200893"/>
                  <a:gd name="connsiteY14" fmla="*/ 1052945 h 1488374"/>
                  <a:gd name="connsiteX15" fmla="*/ 478971 w 2200893"/>
                  <a:gd name="connsiteY15" fmla="*/ 1045029 h 1488374"/>
                  <a:gd name="connsiteX16" fmla="*/ 546265 w 2200893"/>
                  <a:gd name="connsiteY16" fmla="*/ 1021278 h 1488374"/>
                  <a:gd name="connsiteX17" fmla="*/ 601683 w 2200893"/>
                  <a:gd name="connsiteY17" fmla="*/ 977735 h 1488374"/>
                  <a:gd name="connsiteX18" fmla="*/ 621475 w 2200893"/>
                  <a:gd name="connsiteY18" fmla="*/ 969818 h 1488374"/>
                  <a:gd name="connsiteX19" fmla="*/ 661059 w 2200893"/>
                  <a:gd name="connsiteY19" fmla="*/ 950026 h 1488374"/>
                  <a:gd name="connsiteX20" fmla="*/ 688769 w 2200893"/>
                  <a:gd name="connsiteY20" fmla="*/ 926275 h 1488374"/>
                  <a:gd name="connsiteX21" fmla="*/ 724394 w 2200893"/>
                  <a:gd name="connsiteY21" fmla="*/ 902525 h 1488374"/>
                  <a:gd name="connsiteX22" fmla="*/ 787730 w 2200893"/>
                  <a:gd name="connsiteY22" fmla="*/ 870857 h 1488374"/>
                  <a:gd name="connsiteX23" fmla="*/ 851065 w 2200893"/>
                  <a:gd name="connsiteY23" fmla="*/ 827314 h 1488374"/>
                  <a:gd name="connsiteX24" fmla="*/ 878774 w 2200893"/>
                  <a:gd name="connsiteY24" fmla="*/ 795647 h 1488374"/>
                  <a:gd name="connsiteX25" fmla="*/ 914400 w 2200893"/>
                  <a:gd name="connsiteY25" fmla="*/ 760021 h 1488374"/>
                  <a:gd name="connsiteX26" fmla="*/ 953984 w 2200893"/>
                  <a:gd name="connsiteY26" fmla="*/ 708561 h 1488374"/>
                  <a:gd name="connsiteX27" fmla="*/ 973776 w 2200893"/>
                  <a:gd name="connsiteY27" fmla="*/ 700644 h 1488374"/>
                  <a:gd name="connsiteX28" fmla="*/ 997527 w 2200893"/>
                  <a:gd name="connsiteY28" fmla="*/ 676894 h 1488374"/>
                  <a:gd name="connsiteX29" fmla="*/ 1009402 w 2200893"/>
                  <a:gd name="connsiteY29" fmla="*/ 657101 h 1488374"/>
                  <a:gd name="connsiteX30" fmla="*/ 1064820 w 2200893"/>
                  <a:gd name="connsiteY30" fmla="*/ 625434 h 1488374"/>
                  <a:gd name="connsiteX31" fmla="*/ 1120239 w 2200893"/>
                  <a:gd name="connsiteY31" fmla="*/ 593766 h 1488374"/>
                  <a:gd name="connsiteX32" fmla="*/ 1215241 w 2200893"/>
                  <a:gd name="connsiteY32" fmla="*/ 562099 h 1488374"/>
                  <a:gd name="connsiteX33" fmla="*/ 1274618 w 2200893"/>
                  <a:gd name="connsiteY33" fmla="*/ 530431 h 1488374"/>
                  <a:gd name="connsiteX34" fmla="*/ 1377537 w 2200893"/>
                  <a:gd name="connsiteY34" fmla="*/ 490847 h 1488374"/>
                  <a:gd name="connsiteX35" fmla="*/ 1417122 w 2200893"/>
                  <a:gd name="connsiteY35" fmla="*/ 482930 h 1488374"/>
                  <a:gd name="connsiteX36" fmla="*/ 1448789 w 2200893"/>
                  <a:gd name="connsiteY36" fmla="*/ 467096 h 1488374"/>
                  <a:gd name="connsiteX37" fmla="*/ 1476498 w 2200893"/>
                  <a:gd name="connsiteY37" fmla="*/ 443345 h 1488374"/>
                  <a:gd name="connsiteX38" fmla="*/ 1500249 w 2200893"/>
                  <a:gd name="connsiteY38" fmla="*/ 431470 h 1488374"/>
                  <a:gd name="connsiteX39" fmla="*/ 1531917 w 2200893"/>
                  <a:gd name="connsiteY39" fmla="*/ 411678 h 1488374"/>
                  <a:gd name="connsiteX40" fmla="*/ 1646711 w 2200893"/>
                  <a:gd name="connsiteY40" fmla="*/ 360218 h 1488374"/>
                  <a:gd name="connsiteX41" fmla="*/ 1682337 w 2200893"/>
                  <a:gd name="connsiteY41" fmla="*/ 336468 h 1488374"/>
                  <a:gd name="connsiteX42" fmla="*/ 1702130 w 2200893"/>
                  <a:gd name="connsiteY42" fmla="*/ 328551 h 1488374"/>
                  <a:gd name="connsiteX43" fmla="*/ 1749631 w 2200893"/>
                  <a:gd name="connsiteY43" fmla="*/ 292925 h 1488374"/>
                  <a:gd name="connsiteX44" fmla="*/ 1757548 w 2200893"/>
                  <a:gd name="connsiteY44" fmla="*/ 277091 h 1488374"/>
                  <a:gd name="connsiteX45" fmla="*/ 1836717 w 2200893"/>
                  <a:gd name="connsiteY45" fmla="*/ 213756 h 1488374"/>
                  <a:gd name="connsiteX46" fmla="*/ 1864426 w 2200893"/>
                  <a:gd name="connsiteY46" fmla="*/ 178130 h 1488374"/>
                  <a:gd name="connsiteX47" fmla="*/ 1931719 w 2200893"/>
                  <a:gd name="connsiteY47" fmla="*/ 138545 h 1488374"/>
                  <a:gd name="connsiteX48" fmla="*/ 1939636 w 2200893"/>
                  <a:gd name="connsiteY48" fmla="*/ 126670 h 1488374"/>
                  <a:gd name="connsiteX49" fmla="*/ 1995054 w 2200893"/>
                  <a:gd name="connsiteY49" fmla="*/ 98961 h 1488374"/>
                  <a:gd name="connsiteX50" fmla="*/ 2006930 w 2200893"/>
                  <a:gd name="connsiteY50" fmla="*/ 91044 h 1488374"/>
                  <a:gd name="connsiteX51" fmla="*/ 2066306 w 2200893"/>
                  <a:gd name="connsiteY51" fmla="*/ 71252 h 1488374"/>
                  <a:gd name="connsiteX52" fmla="*/ 2094015 w 2200893"/>
                  <a:gd name="connsiteY52" fmla="*/ 55418 h 1488374"/>
                  <a:gd name="connsiteX53" fmla="*/ 2117766 w 2200893"/>
                  <a:gd name="connsiteY53" fmla="*/ 43543 h 1488374"/>
                  <a:gd name="connsiteX54" fmla="*/ 2129641 w 2200893"/>
                  <a:gd name="connsiteY54" fmla="*/ 35626 h 1488374"/>
                  <a:gd name="connsiteX55" fmla="*/ 2200893 w 2200893"/>
                  <a:gd name="connsiteY55" fmla="*/ 0 h 14883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</a:cxnLst>
                <a:rect l="l" t="t" r="r" b="b"/>
                <a:pathLst>
                  <a:path w="2200893" h="1488374">
                    <a:moveTo>
                      <a:pt x="0" y="1488374"/>
                    </a:moveTo>
                    <a:cubicBezTo>
                      <a:pt x="26923" y="1472221"/>
                      <a:pt x="42126" y="1464478"/>
                      <a:pt x="67293" y="1436914"/>
                    </a:cubicBezTo>
                    <a:cubicBezTo>
                      <a:pt x="81360" y="1421507"/>
                      <a:pt x="85560" y="1397028"/>
                      <a:pt x="102919" y="1385455"/>
                    </a:cubicBezTo>
                    <a:cubicBezTo>
                      <a:pt x="106877" y="1382816"/>
                      <a:pt x="111612" y="1381074"/>
                      <a:pt x="114794" y="1377538"/>
                    </a:cubicBezTo>
                    <a:cubicBezTo>
                      <a:pt x="123621" y="1367730"/>
                      <a:pt x="129779" y="1355732"/>
                      <a:pt x="138545" y="1345870"/>
                    </a:cubicBezTo>
                    <a:cubicBezTo>
                      <a:pt x="150942" y="1331923"/>
                      <a:pt x="165473" y="1319998"/>
                      <a:pt x="178130" y="1306286"/>
                    </a:cubicBezTo>
                    <a:cubicBezTo>
                      <a:pt x="194047" y="1289043"/>
                      <a:pt x="176545" y="1297576"/>
                      <a:pt x="197922" y="1290452"/>
                    </a:cubicBezTo>
                    <a:cubicBezTo>
                      <a:pt x="266757" y="1238824"/>
                      <a:pt x="198551" y="1293781"/>
                      <a:pt x="249382" y="1242951"/>
                    </a:cubicBezTo>
                    <a:cubicBezTo>
                      <a:pt x="255356" y="1236977"/>
                      <a:pt x="263041" y="1232928"/>
                      <a:pt x="269174" y="1227117"/>
                    </a:cubicBezTo>
                    <a:cubicBezTo>
                      <a:pt x="272132" y="1224315"/>
                      <a:pt x="328093" y="1164792"/>
                      <a:pt x="348343" y="1151906"/>
                    </a:cubicBezTo>
                    <a:cubicBezTo>
                      <a:pt x="354338" y="1148091"/>
                      <a:pt x="361538" y="1146629"/>
                      <a:pt x="368135" y="1143990"/>
                    </a:cubicBezTo>
                    <a:cubicBezTo>
                      <a:pt x="373413" y="1137392"/>
                      <a:pt x="377995" y="1130171"/>
                      <a:pt x="383969" y="1124197"/>
                    </a:cubicBezTo>
                    <a:cubicBezTo>
                      <a:pt x="388634" y="1119532"/>
                      <a:pt x="394696" y="1116500"/>
                      <a:pt x="399802" y="1112322"/>
                    </a:cubicBezTo>
                    <a:cubicBezTo>
                      <a:pt x="409217" y="1104619"/>
                      <a:pt x="418636" y="1096891"/>
                      <a:pt x="427511" y="1088571"/>
                    </a:cubicBezTo>
                    <a:cubicBezTo>
                      <a:pt x="439763" y="1077085"/>
                      <a:pt x="450316" y="1063793"/>
                      <a:pt x="463137" y="1052945"/>
                    </a:cubicBezTo>
                    <a:cubicBezTo>
                      <a:pt x="467642" y="1049133"/>
                      <a:pt x="473524" y="1047299"/>
                      <a:pt x="478971" y="1045029"/>
                    </a:cubicBezTo>
                    <a:cubicBezTo>
                      <a:pt x="500679" y="1035984"/>
                      <a:pt x="524016" y="1028694"/>
                      <a:pt x="546265" y="1021278"/>
                    </a:cubicBezTo>
                    <a:cubicBezTo>
                      <a:pt x="564738" y="1006764"/>
                      <a:pt x="582294" y="991001"/>
                      <a:pt x="601683" y="977735"/>
                    </a:cubicBezTo>
                    <a:cubicBezTo>
                      <a:pt x="607547" y="973723"/>
                      <a:pt x="615036" y="972823"/>
                      <a:pt x="621475" y="969818"/>
                    </a:cubicBezTo>
                    <a:cubicBezTo>
                      <a:pt x="634843" y="963580"/>
                      <a:pt x="647864" y="956623"/>
                      <a:pt x="661059" y="950026"/>
                    </a:cubicBezTo>
                    <a:cubicBezTo>
                      <a:pt x="680381" y="924264"/>
                      <a:pt x="663541" y="941800"/>
                      <a:pt x="688769" y="926275"/>
                    </a:cubicBezTo>
                    <a:cubicBezTo>
                      <a:pt x="700924" y="918795"/>
                      <a:pt x="712519" y="910442"/>
                      <a:pt x="724394" y="902525"/>
                    </a:cubicBezTo>
                    <a:cubicBezTo>
                      <a:pt x="744034" y="889432"/>
                      <a:pt x="767434" y="882908"/>
                      <a:pt x="787730" y="870857"/>
                    </a:cubicBezTo>
                    <a:cubicBezTo>
                      <a:pt x="809759" y="857777"/>
                      <a:pt x="834194" y="846595"/>
                      <a:pt x="851065" y="827314"/>
                    </a:cubicBezTo>
                    <a:cubicBezTo>
                      <a:pt x="860301" y="816758"/>
                      <a:pt x="869161" y="805861"/>
                      <a:pt x="878774" y="795647"/>
                    </a:cubicBezTo>
                    <a:cubicBezTo>
                      <a:pt x="890284" y="783417"/>
                      <a:pt x="905085" y="773995"/>
                      <a:pt x="914400" y="760021"/>
                    </a:cubicBezTo>
                    <a:cubicBezTo>
                      <a:pt x="925013" y="744101"/>
                      <a:pt x="939342" y="720541"/>
                      <a:pt x="953984" y="708561"/>
                    </a:cubicBezTo>
                    <a:cubicBezTo>
                      <a:pt x="959483" y="704061"/>
                      <a:pt x="967179" y="703283"/>
                      <a:pt x="973776" y="700644"/>
                    </a:cubicBezTo>
                    <a:cubicBezTo>
                      <a:pt x="981693" y="692727"/>
                      <a:pt x="990437" y="685559"/>
                      <a:pt x="997527" y="676894"/>
                    </a:cubicBezTo>
                    <a:cubicBezTo>
                      <a:pt x="1002399" y="670939"/>
                      <a:pt x="1003529" y="662071"/>
                      <a:pt x="1009402" y="657101"/>
                    </a:cubicBezTo>
                    <a:cubicBezTo>
                      <a:pt x="1045006" y="626975"/>
                      <a:pt x="1038691" y="641514"/>
                      <a:pt x="1064820" y="625434"/>
                    </a:cubicBezTo>
                    <a:cubicBezTo>
                      <a:pt x="1098226" y="604876"/>
                      <a:pt x="1091243" y="603431"/>
                      <a:pt x="1120239" y="593766"/>
                    </a:cubicBezTo>
                    <a:cubicBezTo>
                      <a:pt x="1146085" y="585151"/>
                      <a:pt x="1189576" y="573944"/>
                      <a:pt x="1215241" y="562099"/>
                    </a:cubicBezTo>
                    <a:cubicBezTo>
                      <a:pt x="1235608" y="552699"/>
                      <a:pt x="1254079" y="539448"/>
                      <a:pt x="1274618" y="530431"/>
                    </a:cubicBezTo>
                    <a:cubicBezTo>
                      <a:pt x="1308274" y="515655"/>
                      <a:pt x="1341495" y="498055"/>
                      <a:pt x="1377537" y="490847"/>
                    </a:cubicBezTo>
                    <a:lnTo>
                      <a:pt x="1417122" y="482930"/>
                    </a:lnTo>
                    <a:cubicBezTo>
                      <a:pt x="1453107" y="446945"/>
                      <a:pt x="1400248" y="495413"/>
                      <a:pt x="1448789" y="467096"/>
                    </a:cubicBezTo>
                    <a:cubicBezTo>
                      <a:pt x="1459297" y="460966"/>
                      <a:pt x="1466496" y="450269"/>
                      <a:pt x="1476498" y="443345"/>
                    </a:cubicBezTo>
                    <a:cubicBezTo>
                      <a:pt x="1483776" y="438307"/>
                      <a:pt x="1492564" y="435861"/>
                      <a:pt x="1500249" y="431470"/>
                    </a:cubicBezTo>
                    <a:cubicBezTo>
                      <a:pt x="1511057" y="425294"/>
                      <a:pt x="1520723" y="417124"/>
                      <a:pt x="1531917" y="411678"/>
                    </a:cubicBezTo>
                    <a:cubicBezTo>
                      <a:pt x="1569625" y="393333"/>
                      <a:pt x="1611820" y="383478"/>
                      <a:pt x="1646711" y="360218"/>
                    </a:cubicBezTo>
                    <a:cubicBezTo>
                      <a:pt x="1658586" y="352301"/>
                      <a:pt x="1669086" y="341768"/>
                      <a:pt x="1682337" y="336468"/>
                    </a:cubicBezTo>
                    <a:cubicBezTo>
                      <a:pt x="1688935" y="333829"/>
                      <a:pt x="1695992" y="332131"/>
                      <a:pt x="1702130" y="328551"/>
                    </a:cubicBezTo>
                    <a:cubicBezTo>
                      <a:pt x="1715804" y="320574"/>
                      <a:pt x="1736539" y="303398"/>
                      <a:pt x="1749631" y="292925"/>
                    </a:cubicBezTo>
                    <a:cubicBezTo>
                      <a:pt x="1752270" y="287647"/>
                      <a:pt x="1753561" y="281441"/>
                      <a:pt x="1757548" y="277091"/>
                    </a:cubicBezTo>
                    <a:cubicBezTo>
                      <a:pt x="1812976" y="216623"/>
                      <a:pt x="1773108" y="273831"/>
                      <a:pt x="1836717" y="213756"/>
                    </a:cubicBezTo>
                    <a:cubicBezTo>
                      <a:pt x="1847655" y="203426"/>
                      <a:pt x="1853182" y="188125"/>
                      <a:pt x="1864426" y="178130"/>
                    </a:cubicBezTo>
                    <a:cubicBezTo>
                      <a:pt x="1882309" y="162234"/>
                      <a:pt x="1909625" y="149593"/>
                      <a:pt x="1931719" y="138545"/>
                    </a:cubicBezTo>
                    <a:cubicBezTo>
                      <a:pt x="1934358" y="134587"/>
                      <a:pt x="1935602" y="129191"/>
                      <a:pt x="1939636" y="126670"/>
                    </a:cubicBezTo>
                    <a:cubicBezTo>
                      <a:pt x="1957150" y="115724"/>
                      <a:pt x="1977869" y="110417"/>
                      <a:pt x="1995054" y="98961"/>
                    </a:cubicBezTo>
                    <a:cubicBezTo>
                      <a:pt x="1999013" y="96322"/>
                      <a:pt x="2002496" y="92768"/>
                      <a:pt x="2006930" y="91044"/>
                    </a:cubicBezTo>
                    <a:cubicBezTo>
                      <a:pt x="2026374" y="83482"/>
                      <a:pt x="2046514" y="77849"/>
                      <a:pt x="2066306" y="71252"/>
                    </a:cubicBezTo>
                    <a:cubicBezTo>
                      <a:pt x="2080445" y="50044"/>
                      <a:pt x="2066037" y="65592"/>
                      <a:pt x="2094015" y="55418"/>
                    </a:cubicBezTo>
                    <a:cubicBezTo>
                      <a:pt x="2102333" y="52393"/>
                      <a:pt x="2110028" y="47842"/>
                      <a:pt x="2117766" y="43543"/>
                    </a:cubicBezTo>
                    <a:cubicBezTo>
                      <a:pt x="2121925" y="41233"/>
                      <a:pt x="2125294" y="37558"/>
                      <a:pt x="2129641" y="35626"/>
                    </a:cubicBezTo>
                    <a:cubicBezTo>
                      <a:pt x="2199382" y="4630"/>
                      <a:pt x="2172588" y="28305"/>
                      <a:pt x="2200893" y="0"/>
                    </a:cubicBezTo>
                  </a:path>
                </a:pathLst>
              </a:cu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/>
              </a:p>
            </p:txBody>
          </p:sp>
        </p:grp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AF37941D-3A09-8907-B604-B78F8799DDEC}"/>
              </a:ext>
            </a:extLst>
          </p:cNvPr>
          <p:cNvSpPr txBox="1"/>
          <p:nvPr/>
        </p:nvSpPr>
        <p:spPr>
          <a:xfrm>
            <a:off x="4653432" y="3479940"/>
            <a:ext cx="11764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규제 →</a:t>
            </a:r>
          </a:p>
        </p:txBody>
      </p:sp>
    </p:spTree>
    <p:extLst>
      <p:ext uri="{BB962C8B-B14F-4D97-AF65-F5344CB8AC3E}">
        <p14:creationId xmlns:p14="http://schemas.microsoft.com/office/powerpoint/2010/main" val="1000805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B8D26-27A7-8362-F0AB-0F7FEB800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EC0126-63FA-5812-BE33-F7E6A65A3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62D35DDA-8C43-8B55-92F1-E8CB990AC5B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A4C2A2DC-D5E6-36CD-4066-FB644463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규제적용 전 특성의 스케일을 정규화 함</a:t>
            </a:r>
            <a:endParaRPr lang="en-US" altLang="ko-KR" dirty="0"/>
          </a:p>
          <a:p>
            <a:r>
              <a:rPr lang="en-US" altLang="ko-KR" b="1" dirty="0" err="1"/>
              <a:t>StandardScaler</a:t>
            </a:r>
            <a:r>
              <a:rPr lang="ko-KR" altLang="en-US" dirty="0"/>
              <a:t>클래스 </a:t>
            </a:r>
            <a:r>
              <a:rPr lang="en-US" altLang="ko-KR" dirty="0"/>
              <a:t>: </a:t>
            </a:r>
            <a:r>
              <a:rPr lang="ko-KR" altLang="en-US" dirty="0"/>
              <a:t>변환기의 일종</a:t>
            </a:r>
            <a:r>
              <a:rPr lang="en-US" altLang="ko-KR" dirty="0"/>
              <a:t>, </a:t>
            </a:r>
            <a:r>
              <a:rPr lang="ko-KR" altLang="en-US" dirty="0"/>
              <a:t>데이터를 표준화 함</a:t>
            </a:r>
            <a:endParaRPr lang="en-US" altLang="ko-KR" dirty="0"/>
          </a:p>
          <a:p>
            <a:r>
              <a:rPr lang="en-US" altLang="ko-KR" dirty="0"/>
              <a:t>Fit()</a:t>
            </a:r>
            <a:r>
              <a:rPr lang="ko-KR" altLang="en-US" dirty="0"/>
              <a:t>과 </a:t>
            </a:r>
            <a:r>
              <a:rPr lang="en-US" altLang="ko-KR" dirty="0"/>
              <a:t>transform()</a:t>
            </a:r>
            <a:r>
              <a:rPr lang="ko-KR" altLang="en-US" dirty="0"/>
              <a:t>진행 </a:t>
            </a:r>
            <a:r>
              <a:rPr lang="en-US" altLang="ko-KR" dirty="0"/>
              <a:t>&gt; </a:t>
            </a:r>
            <a:r>
              <a:rPr lang="ko-KR" altLang="en-US" dirty="0"/>
              <a:t>평균이 </a:t>
            </a:r>
            <a:r>
              <a:rPr lang="en-US" altLang="ko-KR" dirty="0"/>
              <a:t>0, </a:t>
            </a:r>
            <a:r>
              <a:rPr lang="ko-KR" altLang="en-US" dirty="0"/>
              <a:t>표준편차가 </a:t>
            </a:r>
            <a:r>
              <a:rPr lang="en-US" altLang="ko-KR" dirty="0"/>
              <a:t>1</a:t>
            </a:r>
            <a:r>
              <a:rPr lang="ko-KR" altLang="en-US" dirty="0"/>
              <a:t>이 되게 만듦</a:t>
            </a:r>
            <a:endParaRPr lang="en-US" altLang="ko-KR" dirty="0"/>
          </a:p>
          <a:p>
            <a:r>
              <a:rPr lang="ko-KR" altLang="en-US" dirty="0"/>
              <a:t>특정특성에 치우치지 않고 </a:t>
            </a:r>
            <a:r>
              <a:rPr lang="ko-KR" altLang="en-US" b="1" dirty="0"/>
              <a:t>공정</a:t>
            </a:r>
            <a:r>
              <a:rPr lang="ko-KR" altLang="en-US" dirty="0"/>
              <a:t>하게 학습</a:t>
            </a:r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E140E8ED-EEB9-0457-AC73-9E700D538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73" y="2585217"/>
            <a:ext cx="5906324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932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DB2D9-45AE-8647-1B37-8DF3712C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F5C72-E037-0C5D-4618-B37B5894C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800" b="1" dirty="0" err="1"/>
              <a:t>릿지</a:t>
            </a:r>
            <a:endParaRPr lang="en-US" altLang="ko-KR" b="1" dirty="0"/>
          </a:p>
          <a:p>
            <a:r>
              <a:rPr lang="en-US" altLang="ko-KR" dirty="0"/>
              <a:t>L2</a:t>
            </a:r>
            <a:r>
              <a:rPr lang="ko-KR" altLang="en-US" dirty="0"/>
              <a:t>규제</a:t>
            </a:r>
            <a:r>
              <a:rPr lang="en-US" altLang="ko-KR" dirty="0"/>
              <a:t>, L2</a:t>
            </a:r>
            <a:r>
              <a:rPr lang="ko-KR" altLang="en-US" dirty="0"/>
              <a:t>정규화</a:t>
            </a:r>
            <a:r>
              <a:rPr lang="en-US" altLang="ko-KR" dirty="0"/>
              <a:t>, L2</a:t>
            </a:r>
            <a:r>
              <a:rPr lang="ko-KR" altLang="en-US" dirty="0"/>
              <a:t>회귀</a:t>
            </a:r>
            <a:endParaRPr lang="en-US" altLang="ko-KR" dirty="0"/>
          </a:p>
          <a:p>
            <a:r>
              <a:rPr lang="ko-KR" altLang="en-US" dirty="0"/>
              <a:t>계수를 </a:t>
            </a:r>
            <a:r>
              <a:rPr lang="ko-KR" altLang="en-US" b="1" dirty="0"/>
              <a:t>제곱한 값</a:t>
            </a:r>
            <a:r>
              <a:rPr lang="ko-KR" altLang="en-US" dirty="0"/>
              <a:t>을 기준으로 규제적용</a:t>
            </a:r>
            <a:endParaRPr lang="en-US" altLang="ko-KR" dirty="0"/>
          </a:p>
          <a:p>
            <a:r>
              <a:rPr lang="ko-KR" altLang="en-US" dirty="0"/>
              <a:t>가중치의 </a:t>
            </a:r>
            <a:r>
              <a:rPr lang="ko-KR" altLang="en-US" b="1" dirty="0"/>
              <a:t>제곱들의 합</a:t>
            </a:r>
            <a:r>
              <a:rPr lang="ko-KR" altLang="en-US" dirty="0"/>
              <a:t>이 </a:t>
            </a:r>
            <a:r>
              <a:rPr lang="ko-KR" altLang="en-US" dirty="0" err="1"/>
              <a:t>특정값</a:t>
            </a:r>
            <a:r>
              <a:rPr lang="ko-KR" altLang="en-US" dirty="0"/>
              <a:t> 이하가 되도록 규제</a:t>
            </a:r>
            <a:r>
              <a:rPr lang="en-US" altLang="ko-KR" dirty="0"/>
              <a:t>, </a:t>
            </a:r>
            <a:r>
              <a:rPr lang="ko-KR" altLang="en-US" dirty="0"/>
              <a:t>일반적으로 선호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2800" b="1" dirty="0" err="1"/>
              <a:t>라쏘</a:t>
            </a:r>
            <a:endParaRPr lang="en-US" altLang="ko-KR" sz="2800" b="1" dirty="0"/>
          </a:p>
          <a:p>
            <a:r>
              <a:rPr lang="en-US" altLang="ko-KR" dirty="0"/>
              <a:t>L1</a:t>
            </a:r>
            <a:r>
              <a:rPr lang="ko-KR" altLang="en-US" dirty="0"/>
              <a:t>규제</a:t>
            </a:r>
            <a:r>
              <a:rPr lang="en-US" altLang="ko-KR" dirty="0"/>
              <a:t>, L1</a:t>
            </a:r>
            <a:r>
              <a:rPr lang="ko-KR" altLang="en-US" dirty="0"/>
              <a:t>정규화</a:t>
            </a:r>
            <a:r>
              <a:rPr lang="en-US" altLang="ko-KR" dirty="0"/>
              <a:t>, L1</a:t>
            </a:r>
            <a:r>
              <a:rPr lang="ko-KR" altLang="en-US" dirty="0"/>
              <a:t>회귀</a:t>
            </a:r>
            <a:endParaRPr lang="en-US" altLang="ko-KR" dirty="0"/>
          </a:p>
          <a:p>
            <a:r>
              <a:rPr lang="ko-KR" altLang="en-US" dirty="0"/>
              <a:t>계수의 </a:t>
            </a:r>
            <a:r>
              <a:rPr lang="ko-KR" altLang="en-US" b="1" dirty="0"/>
              <a:t>절댓값</a:t>
            </a:r>
            <a:r>
              <a:rPr lang="ko-KR" altLang="en-US" dirty="0"/>
              <a:t>을 기준으로 규제를 적용</a:t>
            </a:r>
            <a:r>
              <a:rPr lang="en-US" altLang="ko-KR" dirty="0"/>
              <a:t>, </a:t>
            </a:r>
            <a:r>
              <a:rPr lang="ko-KR" altLang="en-US" dirty="0"/>
              <a:t>아예 </a:t>
            </a:r>
            <a:r>
              <a:rPr lang="en-US" altLang="ko-KR" dirty="0"/>
              <a:t>0</a:t>
            </a:r>
            <a:r>
              <a:rPr lang="ko-KR" altLang="en-US" dirty="0"/>
              <a:t>으로 만들 수 있음</a:t>
            </a:r>
            <a:endParaRPr lang="en-US" altLang="ko-KR" dirty="0"/>
          </a:p>
          <a:p>
            <a:r>
              <a:rPr lang="ko-KR" altLang="en-US" dirty="0"/>
              <a:t>가중치의 </a:t>
            </a:r>
            <a:r>
              <a:rPr lang="ko-KR" altLang="en-US" b="1" dirty="0"/>
              <a:t>절댓값들의 합</a:t>
            </a:r>
            <a:r>
              <a:rPr lang="ko-KR" altLang="en-US" dirty="0"/>
              <a:t>이 </a:t>
            </a:r>
            <a:r>
              <a:rPr lang="ko-KR" altLang="en-US" dirty="0" err="1"/>
              <a:t>특정값</a:t>
            </a:r>
            <a:r>
              <a:rPr lang="ko-KR" altLang="en-US" dirty="0"/>
              <a:t> 이하가 되도록 규제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2B1008-6755-2301-57EE-E3038F78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737B4D9-482E-E9AA-E5B9-148BC2984F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6" name="AutoShape 2" descr="Untitled">
            <a:extLst>
              <a:ext uri="{FF2B5EF4-FFF2-40B4-BE49-F238E27FC236}">
                <a16:creationId xmlns:a16="http://schemas.microsoft.com/office/drawing/2014/main" id="{3C985C0A-69B4-E266-0AF7-C5B6516BC0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8B704573-03F5-6473-6D88-6B2A101D64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0FDCAC-A541-00A7-2FED-D0ED80CCD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45" y="2634497"/>
            <a:ext cx="5029166" cy="6861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8CDA189-F675-7078-E903-ADF7E894C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645" y="5079468"/>
            <a:ext cx="5290355" cy="69787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228EFDA-4178-F37C-A2C6-9CF714A2C994}"/>
              </a:ext>
            </a:extLst>
          </p:cNvPr>
          <p:cNvSpPr txBox="1"/>
          <p:nvPr/>
        </p:nvSpPr>
        <p:spPr>
          <a:xfrm>
            <a:off x="7472855" y="4177862"/>
            <a:ext cx="3913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88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DB2D9-45AE-8647-1B37-8DF3712C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8F5C72-E037-0C5D-4618-B37B5894C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800" b="1" dirty="0" err="1"/>
              <a:t>릿지</a:t>
            </a:r>
            <a:endParaRPr lang="en-US" altLang="ko-KR" b="1" dirty="0"/>
          </a:p>
          <a:p>
            <a:r>
              <a:rPr lang="ko-KR" altLang="en-US" dirty="0"/>
              <a:t>가중치의 제곱들의 합이 </a:t>
            </a:r>
            <a:r>
              <a:rPr lang="ko-KR" altLang="en-US" dirty="0" err="1"/>
              <a:t>특정값</a:t>
            </a:r>
            <a:r>
              <a:rPr lang="ko-KR" altLang="en-US" dirty="0"/>
              <a:t> 이하가 되도록 규제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첫째 항 </a:t>
            </a:r>
            <a:r>
              <a:rPr lang="en-US" altLang="ko-KR" dirty="0"/>
              <a:t>: </a:t>
            </a:r>
            <a:r>
              <a:rPr lang="ko-KR" altLang="en-US" dirty="0" err="1"/>
              <a:t>잔차제곱합</a:t>
            </a:r>
            <a:r>
              <a:rPr lang="en-US" altLang="ko-KR" dirty="0"/>
              <a:t>(</a:t>
            </a:r>
            <a:r>
              <a:rPr lang="en-US" altLang="ko-KR" dirty="0" err="1"/>
              <a:t>rss</a:t>
            </a:r>
            <a:r>
              <a:rPr lang="en-US" altLang="ko-KR" dirty="0"/>
              <a:t>), </a:t>
            </a:r>
            <a:r>
              <a:rPr lang="ko-KR" altLang="en-US" dirty="0"/>
              <a:t>모델의 예측오류를 나타냄</a:t>
            </a:r>
            <a:endParaRPr lang="en-US" altLang="ko-KR" dirty="0"/>
          </a:p>
          <a:p>
            <a:r>
              <a:rPr lang="ko-KR" altLang="en-US" dirty="0"/>
              <a:t>둘째 항 </a:t>
            </a:r>
            <a:r>
              <a:rPr lang="en-US" altLang="ko-KR" dirty="0"/>
              <a:t>: </a:t>
            </a:r>
            <a:r>
              <a:rPr lang="ko-KR" altLang="en-US" dirty="0" err="1"/>
              <a:t>규제항</a:t>
            </a:r>
            <a:r>
              <a:rPr lang="en-US" altLang="ko-KR" dirty="0"/>
              <a:t>, </a:t>
            </a:r>
            <a:r>
              <a:rPr lang="ko-KR" altLang="en-US" b="1" dirty="0"/>
              <a:t>회귀계수</a:t>
            </a:r>
            <a:r>
              <a:rPr lang="ko-KR" altLang="en-US" dirty="0"/>
              <a:t>의 </a:t>
            </a:r>
            <a:r>
              <a:rPr lang="ko-KR" altLang="en-US" b="1" dirty="0"/>
              <a:t>제곱 합</a:t>
            </a:r>
            <a:r>
              <a:rPr lang="ko-KR" altLang="en-US" dirty="0"/>
              <a:t>을 제어</a:t>
            </a:r>
            <a:endParaRPr lang="en-US" altLang="ko-KR" dirty="0"/>
          </a:p>
          <a:p>
            <a:r>
              <a:rPr lang="ko-KR" altLang="en-US" sz="2800" b="1" dirty="0" err="1"/>
              <a:t>라쏘</a:t>
            </a:r>
            <a:endParaRPr lang="en-US" altLang="ko-KR" sz="2800" b="1" dirty="0"/>
          </a:p>
          <a:p>
            <a:r>
              <a:rPr lang="ko-KR" altLang="en-US" dirty="0"/>
              <a:t>가중치의 절댓값들의 합이 </a:t>
            </a:r>
            <a:r>
              <a:rPr lang="ko-KR" altLang="en-US" dirty="0" err="1"/>
              <a:t>특정값</a:t>
            </a:r>
            <a:r>
              <a:rPr lang="ko-KR" altLang="en-US" dirty="0"/>
              <a:t> 이하가 되도록 규제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첫째 항 </a:t>
            </a:r>
            <a:r>
              <a:rPr lang="en-US" altLang="ko-KR" dirty="0"/>
              <a:t>: </a:t>
            </a:r>
            <a:r>
              <a:rPr lang="ko-KR" altLang="en-US" dirty="0" err="1"/>
              <a:t>잔차제곱합</a:t>
            </a:r>
            <a:r>
              <a:rPr lang="en-US" altLang="ko-KR" dirty="0"/>
              <a:t>(</a:t>
            </a:r>
            <a:r>
              <a:rPr lang="en-US" altLang="ko-KR" dirty="0" err="1"/>
              <a:t>rss</a:t>
            </a:r>
            <a:r>
              <a:rPr lang="en-US" altLang="ko-KR" dirty="0"/>
              <a:t>), </a:t>
            </a:r>
            <a:r>
              <a:rPr lang="ko-KR" altLang="en-US" dirty="0"/>
              <a:t>모델의 예측오류를 나타냄</a:t>
            </a:r>
            <a:endParaRPr lang="en-US" altLang="ko-KR" dirty="0"/>
          </a:p>
          <a:p>
            <a:r>
              <a:rPr lang="ko-KR" altLang="en-US" dirty="0"/>
              <a:t>둘째 항 </a:t>
            </a:r>
            <a:r>
              <a:rPr lang="en-US" altLang="ko-KR" dirty="0"/>
              <a:t>: </a:t>
            </a:r>
            <a:r>
              <a:rPr lang="ko-KR" altLang="en-US" dirty="0" err="1"/>
              <a:t>규제항</a:t>
            </a:r>
            <a:r>
              <a:rPr lang="en-US" altLang="ko-KR" dirty="0"/>
              <a:t>, </a:t>
            </a:r>
            <a:r>
              <a:rPr lang="ko-KR" altLang="en-US" b="1" dirty="0"/>
              <a:t>회귀계수</a:t>
            </a:r>
            <a:r>
              <a:rPr lang="ko-KR" altLang="en-US" dirty="0"/>
              <a:t>의 </a:t>
            </a:r>
            <a:r>
              <a:rPr lang="ko-KR" altLang="en-US" b="1" dirty="0"/>
              <a:t>절댓값 합</a:t>
            </a:r>
            <a:r>
              <a:rPr lang="ko-KR" altLang="en-US" dirty="0"/>
              <a:t>을 제어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82B1008-6755-2301-57EE-E3038F784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A737B4D9-482E-E9AA-E5B9-148BC2984F3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6" name="AutoShape 2" descr="Untitled">
            <a:extLst>
              <a:ext uri="{FF2B5EF4-FFF2-40B4-BE49-F238E27FC236}">
                <a16:creationId xmlns:a16="http://schemas.microsoft.com/office/drawing/2014/main" id="{3C985C0A-69B4-E266-0AF7-C5B6516BC07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AutoShape 4">
            <a:extLst>
              <a:ext uri="{FF2B5EF4-FFF2-40B4-BE49-F238E27FC236}">
                <a16:creationId xmlns:a16="http://schemas.microsoft.com/office/drawing/2014/main" id="{8B704573-03F5-6473-6D88-6B2A101D643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20FDCAC-A541-00A7-2FED-D0ED80CCD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208" y="1973234"/>
            <a:ext cx="4318148" cy="58912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8CDA189-F675-7078-E903-ADF7E894C5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08" y="4295643"/>
            <a:ext cx="5033330" cy="66397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2880AE41-B57B-4E7E-4076-5AF856822E6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55" b="16558"/>
          <a:stretch/>
        </p:blipFill>
        <p:spPr>
          <a:xfrm>
            <a:off x="7422066" y="2196116"/>
            <a:ext cx="3400962" cy="227341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44D6DA6-293E-2194-5286-A9E27CCA7C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864" y="3428076"/>
            <a:ext cx="151270" cy="19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823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1A7131-9E9E-D8DD-9578-1EF7A852B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규제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D70F06-5AB8-9EF3-C900-1279375804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릿지와</a:t>
            </a:r>
            <a:r>
              <a:rPr lang="ko-KR" altLang="en-US" dirty="0"/>
              <a:t> </a:t>
            </a:r>
            <a:r>
              <a:rPr lang="ko-KR" altLang="en-US" dirty="0" err="1"/>
              <a:t>라쏘</a:t>
            </a:r>
            <a:r>
              <a:rPr lang="ko-KR" altLang="en-US" dirty="0"/>
              <a:t> </a:t>
            </a:r>
            <a:r>
              <a:rPr lang="en-US" altLang="ko-KR" b="1" dirty="0"/>
              <a:t>: </a:t>
            </a:r>
            <a:r>
              <a:rPr lang="en-US" altLang="ko-KR" b="1" dirty="0" err="1"/>
              <a:t>linear_model</a:t>
            </a:r>
            <a:r>
              <a:rPr lang="en-US" altLang="ko-KR" b="1" dirty="0"/>
              <a:t> </a:t>
            </a:r>
            <a:r>
              <a:rPr lang="ko-KR" altLang="en-US" dirty="0"/>
              <a:t>패키지 안에 있음</a:t>
            </a:r>
            <a:endParaRPr lang="en-US" altLang="ko-KR" dirty="0"/>
          </a:p>
          <a:p>
            <a:r>
              <a:rPr lang="en-US" altLang="ko-KR" b="1" dirty="0"/>
              <a:t>Alpha</a:t>
            </a:r>
            <a:r>
              <a:rPr lang="ko-KR" altLang="en-US" dirty="0"/>
              <a:t>매개변수로 규제의 강도를 조절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b="1" dirty="0" err="1"/>
              <a:t>하이퍼</a:t>
            </a:r>
            <a:r>
              <a:rPr lang="ko-KR" altLang="en-US" b="1" dirty="0"/>
              <a:t> 파라미터 </a:t>
            </a:r>
            <a:r>
              <a:rPr lang="en-US" altLang="ko-KR" dirty="0"/>
              <a:t>: </a:t>
            </a:r>
            <a:r>
              <a:rPr lang="ko-KR" altLang="en-US" dirty="0" err="1"/>
              <a:t>머신러닝</a:t>
            </a:r>
            <a:r>
              <a:rPr lang="ko-KR" altLang="en-US" dirty="0"/>
              <a:t> 모델이 학습 불가</a:t>
            </a:r>
            <a:r>
              <a:rPr lang="en-US" altLang="ko-KR" dirty="0"/>
              <a:t>, </a:t>
            </a:r>
            <a:r>
              <a:rPr lang="ko-KR" altLang="en-US" dirty="0"/>
              <a:t>사람이 알려주는 파라미터 </a:t>
            </a:r>
            <a:endParaRPr lang="en-US" altLang="ko-KR" dirty="0"/>
          </a:p>
          <a:p>
            <a:r>
              <a:rPr lang="en-US" altLang="ko-KR" dirty="0"/>
              <a:t>Ex)alpha</a:t>
            </a:r>
            <a:r>
              <a:rPr lang="ko-KR" altLang="en-US" dirty="0"/>
              <a:t>매개 변수 등</a:t>
            </a:r>
            <a:r>
              <a:rPr lang="en-US" altLang="ko-KR" dirty="0"/>
              <a:t> (</a:t>
            </a:r>
            <a:r>
              <a:rPr lang="ko-KR" altLang="en-US" dirty="0"/>
              <a:t>기본값은 </a:t>
            </a:r>
            <a:r>
              <a:rPr lang="en-US" altLang="ko-KR" dirty="0"/>
              <a:t>1)</a:t>
            </a:r>
          </a:p>
          <a:p>
            <a:endParaRPr lang="en-US" altLang="ko-KR" dirty="0"/>
          </a:p>
          <a:p>
            <a:r>
              <a:rPr lang="ko-KR" altLang="en-US" dirty="0"/>
              <a:t>적절한 </a:t>
            </a:r>
            <a:r>
              <a:rPr lang="en-US" altLang="ko-KR" dirty="0"/>
              <a:t>alpha</a:t>
            </a:r>
            <a:r>
              <a:rPr lang="ko-KR" altLang="en-US" dirty="0"/>
              <a:t>를 </a:t>
            </a:r>
            <a:r>
              <a:rPr lang="ko-KR" altLang="en-US" dirty="0" err="1"/>
              <a:t>찾는방법</a:t>
            </a:r>
            <a:r>
              <a:rPr lang="en-US" altLang="ko-KR" dirty="0"/>
              <a:t>? : </a:t>
            </a:r>
            <a:r>
              <a:rPr lang="ko-KR" altLang="en-US" dirty="0"/>
              <a:t>여러 </a:t>
            </a:r>
            <a:r>
              <a:rPr lang="en-US" altLang="ko-KR" dirty="0"/>
              <a:t>alpha</a:t>
            </a:r>
            <a:r>
              <a:rPr lang="ko-KR" altLang="en-US" dirty="0"/>
              <a:t>값에 대한 결정계수 </a:t>
            </a:r>
            <a:r>
              <a:rPr lang="ko-KR" altLang="en-US" b="1" dirty="0"/>
              <a:t>그래프</a:t>
            </a:r>
            <a:r>
              <a:rPr lang="ko-KR" altLang="en-US" dirty="0"/>
              <a:t>를 그리자</a:t>
            </a:r>
            <a:endParaRPr lang="en-US" altLang="ko-KR" dirty="0"/>
          </a:p>
          <a:p>
            <a:r>
              <a:rPr lang="ko-KR" altLang="en-US" dirty="0"/>
              <a:t>그 중 두그래프가 가장 가깝고 성능이 가장 좋은 </a:t>
            </a:r>
            <a:r>
              <a:rPr lang="en-US" altLang="ko-KR" dirty="0"/>
              <a:t>alpha</a:t>
            </a:r>
            <a:r>
              <a:rPr lang="ko-KR" altLang="en-US" dirty="0"/>
              <a:t>값을 선택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45427B-0FDF-E1CC-3DF2-A54AB548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9214339B-2E98-AFFA-8543-2474E3D38BDF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924740978"/>
              </p:ext>
            </p:extLst>
          </p:nvPr>
        </p:nvGraphicFramePr>
        <p:xfrm>
          <a:off x="772835" y="1940938"/>
          <a:ext cx="7142162" cy="14833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571081">
                  <a:extLst>
                    <a:ext uri="{9D8B030D-6E8A-4147-A177-3AD203B41FA5}">
                      <a16:colId xmlns:a16="http://schemas.microsoft.com/office/drawing/2014/main" val="4199152797"/>
                    </a:ext>
                  </a:extLst>
                </a:gridCol>
                <a:gridCol w="3571081">
                  <a:extLst>
                    <a:ext uri="{9D8B030D-6E8A-4147-A177-3AD203B41FA5}">
                      <a16:colId xmlns:a16="http://schemas.microsoft.com/office/drawing/2014/main" val="1924014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Alpha</a:t>
                      </a:r>
                      <a:r>
                        <a:rPr lang="ko-KR" altLang="en-US" dirty="0"/>
                        <a:t>값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Alpha</a:t>
                      </a:r>
                      <a:r>
                        <a:rPr lang="ko-KR" altLang="en-US" dirty="0"/>
                        <a:t>값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5420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규제강도 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규제강도 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246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계수 값을 줄임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계수조절의 역할↓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8218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과소적합 유도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과대적합 가능성 ↑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4674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709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C9D12F-0A2A-9CD0-7540-FF05CABF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릿지회귀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59505B-32D3-0A58-637F-3B8901AD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90461E8F-B107-416B-4A43-CC90A17D29B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9CFDC63F-36D7-296F-813C-65D5C9547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릿지모델을</a:t>
            </a:r>
            <a:r>
              <a:rPr lang="ko-KR" altLang="en-US" dirty="0"/>
              <a:t> 훈련 및 평가 </a:t>
            </a:r>
            <a:r>
              <a:rPr lang="en-US" altLang="ko-KR" dirty="0"/>
              <a:t>: </a:t>
            </a:r>
            <a:r>
              <a:rPr lang="ko-KR" altLang="en-US" dirty="0"/>
              <a:t>완벽에 가깝던 점수가 낮아짐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테스트</a:t>
            </a:r>
            <a:r>
              <a:rPr lang="en-US" altLang="ko-KR" dirty="0"/>
              <a:t>? &gt; </a:t>
            </a:r>
            <a:r>
              <a:rPr lang="ko-KR" altLang="en-US" dirty="0"/>
              <a:t>점수가 정상으로 돌아옴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규제의 효과로 많은 특성을 사용함에도 과대적합 되지 않음</a:t>
            </a:r>
          </a:p>
        </p:txBody>
      </p:sp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7BB3BA96-E47F-F79B-8D74-3C63076BA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88" y="1445419"/>
            <a:ext cx="5290511" cy="181812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D0E47018-EAA9-7B67-9EFF-003BCD7F6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489" y="3690344"/>
            <a:ext cx="5439534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5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C78222-5921-E0A9-0CD2-C170E293F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릿지회귀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0206A2-E6FC-58C0-791F-E0FCFBFE98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적절한 </a:t>
            </a:r>
            <a:r>
              <a:rPr lang="en-US" altLang="ko-KR" dirty="0"/>
              <a:t>alpha</a:t>
            </a:r>
            <a:r>
              <a:rPr lang="ko-KR" altLang="en-US" dirty="0"/>
              <a:t>를 찾아보자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상용로그로 </a:t>
            </a:r>
            <a:r>
              <a:rPr lang="en-US" altLang="ko-KR" dirty="0"/>
              <a:t>alpha</a:t>
            </a:r>
            <a:r>
              <a:rPr lang="ko-KR" altLang="en-US" dirty="0"/>
              <a:t>의 값을 표현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F1C4857-EDF4-FD3B-A9CD-AF91DE609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39EB54A0-9AD7-AE83-C7EC-7037A4AA91B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349A449-4576-AF73-F5AE-6D7BD2E20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93" y="1428167"/>
            <a:ext cx="5618290" cy="256839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0145227-5F82-10E4-5EC3-142CDB33D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93" y="4405628"/>
            <a:ext cx="4867954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336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6EB739-6938-B5F5-B796-8793A80E5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릿지회귀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0F3B77-B3C4-311F-AF10-7FA092682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D9B9703-3E28-4577-FF8A-D233F4A9C64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E1C788DD-A21E-3255-F5C3-698EB458B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적절한 </a:t>
                </a:r>
                <a:r>
                  <a:rPr lang="en-US" altLang="ko-KR" dirty="0"/>
                  <a:t>alpha</a:t>
                </a:r>
                <a:r>
                  <a:rPr lang="ko-KR" altLang="en-US" dirty="0"/>
                  <a:t>값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두 그래프가 가장 </a:t>
                </a:r>
                <a:r>
                  <a:rPr lang="ko-KR" altLang="en-US" b="1" dirty="0"/>
                  <a:t>가깝고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성능이 가장 </a:t>
                </a:r>
                <a:r>
                  <a:rPr lang="ko-KR" altLang="en-US" b="1" dirty="0"/>
                  <a:t>좋은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-1 </a:t>
                </a:r>
                <a:r>
                  <a:rPr lang="ko-KR" altLang="en-US" dirty="0"/>
                  <a:t>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</a:t>
                </a:r>
                <a:r>
                  <a:rPr lang="en-US" altLang="ko-KR" b="1" dirty="0"/>
                  <a:t>0.1</a:t>
                </a:r>
                <a:r>
                  <a:rPr lang="ko-KR" altLang="en-US" dirty="0"/>
                  <a:t>이 됨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en-US" altLang="ko-KR" dirty="0"/>
                  <a:t>0.1</a:t>
                </a:r>
                <a:r>
                  <a:rPr lang="ko-KR" altLang="en-US" dirty="0"/>
                  <a:t>로 재훈련 </a:t>
                </a:r>
                <a:r>
                  <a:rPr lang="en-US" altLang="ko-KR" dirty="0"/>
                  <a:t>&gt; </a:t>
                </a:r>
                <a:r>
                  <a:rPr lang="ko-KR" altLang="en-US" dirty="0"/>
                  <a:t>성능 좋게 훈련됨</a:t>
                </a:r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>
          <p:sp>
            <p:nvSpPr>
              <p:cNvPr id="7" name="내용 개체 틀 6">
                <a:extLst>
                  <a:ext uri="{FF2B5EF4-FFF2-40B4-BE49-F238E27FC236}">
                    <a16:creationId xmlns:a16="http://schemas.microsoft.com/office/drawing/2014/main" id="{E1C788DD-A21E-3255-F5C3-698EB458B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9" t="-11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그룹 9">
            <a:extLst>
              <a:ext uri="{FF2B5EF4-FFF2-40B4-BE49-F238E27FC236}">
                <a16:creationId xmlns:a16="http://schemas.microsoft.com/office/drawing/2014/main" id="{EBAA77B1-EFAF-FED4-52E6-A4CEBE8388C7}"/>
              </a:ext>
            </a:extLst>
          </p:cNvPr>
          <p:cNvGrpSpPr/>
          <p:nvPr/>
        </p:nvGrpSpPr>
        <p:grpSpPr>
          <a:xfrm>
            <a:off x="846892" y="1459460"/>
            <a:ext cx="5514493" cy="3538209"/>
            <a:chOff x="846892" y="1459460"/>
            <a:chExt cx="5514493" cy="3538209"/>
          </a:xfrm>
        </p:grpSpPr>
        <p:pic>
          <p:nvPicPr>
            <p:cNvPr id="8" name="내용 개체 틀 10">
              <a:extLst>
                <a:ext uri="{FF2B5EF4-FFF2-40B4-BE49-F238E27FC236}">
                  <a16:creationId xmlns:a16="http://schemas.microsoft.com/office/drawing/2014/main" id="{F20218E2-2944-FD6F-7149-AC24F5EDD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46892" y="1459460"/>
              <a:ext cx="4776033" cy="3538209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9CCFA35-CBD1-7CC5-5173-0E164595D2AD}"/>
                </a:ext>
              </a:extLst>
            </p:cNvPr>
            <p:cNvSpPr txBox="1"/>
            <p:nvPr/>
          </p:nvSpPr>
          <p:spPr>
            <a:xfrm>
              <a:off x="4030607" y="2270744"/>
              <a:ext cx="23307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dirty="0">
                  <a:solidFill>
                    <a:srgbClr val="00B0F0"/>
                  </a:solidFill>
                </a:rPr>
                <a:t>파란색</a:t>
              </a:r>
              <a:r>
                <a:rPr lang="en-US" altLang="ko-KR" sz="1200" dirty="0">
                  <a:solidFill>
                    <a:srgbClr val="00B0F0"/>
                  </a:solidFill>
                </a:rPr>
                <a:t>:</a:t>
              </a:r>
              <a:r>
                <a:rPr lang="ko-KR" altLang="en-US" sz="1200" dirty="0">
                  <a:solidFill>
                    <a:srgbClr val="00B0F0"/>
                  </a:solidFill>
                </a:rPr>
                <a:t>훈련세트</a:t>
              </a:r>
              <a:br>
                <a:rPr lang="en-US" altLang="ko-KR" sz="1200" dirty="0"/>
              </a:br>
              <a:r>
                <a:rPr lang="ko-KR" altLang="en-US" sz="1200" dirty="0">
                  <a:solidFill>
                    <a:schemeClr val="accent2"/>
                  </a:solidFill>
                </a:rPr>
                <a:t>주황색</a:t>
              </a:r>
              <a:r>
                <a:rPr lang="en-US" altLang="ko-KR" sz="1200" dirty="0">
                  <a:solidFill>
                    <a:schemeClr val="accent2"/>
                  </a:solidFill>
                </a:rPr>
                <a:t>:</a:t>
              </a:r>
              <a:r>
                <a:rPr lang="ko-KR" altLang="en-US" sz="1200" dirty="0">
                  <a:solidFill>
                    <a:schemeClr val="accent2"/>
                  </a:solidFill>
                </a:rPr>
                <a:t>테스트세트</a:t>
              </a:r>
            </a:p>
          </p:txBody>
        </p:sp>
      </p:grpSp>
      <p:pic>
        <p:nvPicPr>
          <p:cNvPr id="13" name="그림 12">
            <a:extLst>
              <a:ext uri="{FF2B5EF4-FFF2-40B4-BE49-F238E27FC236}">
                <a16:creationId xmlns:a16="http://schemas.microsoft.com/office/drawing/2014/main" id="{1A7780AD-A7A9-B4E0-C146-5E3A1FF2E5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319" y="1857758"/>
            <a:ext cx="5515745" cy="2486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80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A81928-A399-E8DC-EC32-11A748883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라쏘</a:t>
            </a:r>
            <a:r>
              <a:rPr lang="ko-KR" altLang="en-US" dirty="0"/>
              <a:t> 회귀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D75482-9820-2646-AC3A-4251CBDE7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E5D7D91D-5FF5-904D-AA5C-5D1FD65AC57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sp>
        <p:nvSpPr>
          <p:cNvPr id="11" name="내용 개체 틀 10">
            <a:extLst>
              <a:ext uri="{FF2B5EF4-FFF2-40B4-BE49-F238E27FC236}">
                <a16:creationId xmlns:a16="http://schemas.microsoft.com/office/drawing/2014/main" id="{74EC3462-C5EC-BEE7-C25E-827998E587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라쏘</a:t>
            </a:r>
            <a:r>
              <a:rPr lang="ko-KR" altLang="en-US" dirty="0"/>
              <a:t> 또한 훈련</a:t>
            </a:r>
            <a:r>
              <a:rPr lang="en-US" altLang="ko-KR" dirty="0"/>
              <a:t>, </a:t>
            </a:r>
            <a:r>
              <a:rPr lang="ko-KR" altLang="en-US" dirty="0"/>
              <a:t>테스트의 성능이 좋음</a:t>
            </a:r>
          </a:p>
        </p:txBody>
      </p:sp>
      <p:pic>
        <p:nvPicPr>
          <p:cNvPr id="12" name="내용 개체 틀 6">
            <a:extLst>
              <a:ext uri="{FF2B5EF4-FFF2-40B4-BE49-F238E27FC236}">
                <a16:creationId xmlns:a16="http://schemas.microsoft.com/office/drawing/2014/main" id="{471E791D-1C97-5A02-1B7D-90491792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59" y="1464790"/>
            <a:ext cx="5820587" cy="29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656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E9AC36-667B-1D7D-2BBA-8C14269D8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라쏘회귀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462A4-D3FD-F910-98A3-663A4967DD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최적의 </a:t>
            </a:r>
            <a:r>
              <a:rPr lang="en-US" altLang="ko-KR" dirty="0"/>
              <a:t>alpha</a:t>
            </a:r>
            <a:r>
              <a:rPr lang="ko-KR" altLang="en-US" dirty="0"/>
              <a:t>값을 찾아보자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D68D69-9983-B2B5-2569-0CB4B6DEA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833A2A88-D4F1-51C5-0DF2-3BB77EE283D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79427A5-B14F-22AE-EE08-47D03F411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583" y="1444939"/>
            <a:ext cx="6022122" cy="273520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C67C4234-664E-B286-A0D7-70DBF2C3A5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583" y="4211365"/>
            <a:ext cx="5087060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4857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DD5209-3641-92BA-6516-0DF864499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라쏘회귀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897138-4846-6F78-F6E8-7552E745A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ED019FC-7D08-745A-6C6D-8FE5289D1C2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2339E9D6-D282-C837-BE07-4F54994B80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적절한 </a:t>
                </a:r>
                <a:r>
                  <a:rPr lang="en-US" altLang="ko-KR" dirty="0"/>
                  <a:t>alpha</a:t>
                </a:r>
                <a:r>
                  <a:rPr lang="ko-KR" altLang="en-US" dirty="0"/>
                  <a:t>값 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두 그래프가 가장 </a:t>
                </a:r>
                <a:r>
                  <a:rPr lang="ko-KR" altLang="en-US" b="1" dirty="0"/>
                  <a:t>가깝고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성능이 가장 </a:t>
                </a:r>
                <a:r>
                  <a:rPr lang="ko-KR" altLang="en-US" b="1" dirty="0"/>
                  <a:t>좋은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1 </a:t>
                </a:r>
                <a:r>
                  <a:rPr lang="ko-KR" altLang="en-US" dirty="0"/>
                  <a:t>즉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</a:t>
                </a:r>
                <a:r>
                  <a:rPr lang="en-US" altLang="ko-KR" b="1" dirty="0"/>
                  <a:t>10</a:t>
                </a:r>
                <a:r>
                  <a:rPr lang="ko-KR" altLang="en-US" dirty="0"/>
                  <a:t>이 됨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10</a:t>
                </a:r>
                <a:r>
                  <a:rPr lang="ko-KR" altLang="en-US" dirty="0"/>
                  <a:t>으로 재훈련 </a:t>
                </a:r>
                <a:r>
                  <a:rPr lang="en-US" altLang="ko-KR" dirty="0"/>
                  <a:t>&gt; </a:t>
                </a:r>
                <a:r>
                  <a:rPr lang="ko-KR" altLang="en-US" dirty="0"/>
                  <a:t>성능이 높아짐</a:t>
                </a:r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>
          <p:sp>
            <p:nvSpPr>
              <p:cNvPr id="9" name="내용 개체 틀 8">
                <a:extLst>
                  <a:ext uri="{FF2B5EF4-FFF2-40B4-BE49-F238E27FC236}">
                    <a16:creationId xmlns:a16="http://schemas.microsoft.com/office/drawing/2014/main" id="{2339E9D6-D282-C837-BE07-4F54994B80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79" t="-11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내용 개체 틀 6">
            <a:extLst>
              <a:ext uri="{FF2B5EF4-FFF2-40B4-BE49-F238E27FC236}">
                <a16:creationId xmlns:a16="http://schemas.microsoft.com/office/drawing/2014/main" id="{EC329217-AA32-1920-E655-AAADC5D33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300" y="1485855"/>
            <a:ext cx="4716395" cy="352368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A0F71007-4C08-F726-7AFC-1F3AD7B47C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300" y="2116344"/>
            <a:ext cx="5534797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901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B7EE35-7E26-E25C-7DC0-3574196BC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라쏘회귀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0EB6EF-3684-80B4-E287-DDF1F3AF7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라쏘는</a:t>
            </a:r>
            <a:r>
              <a:rPr lang="ko-KR" altLang="en-US" dirty="0"/>
              <a:t> </a:t>
            </a:r>
            <a:r>
              <a:rPr lang="ko-KR" altLang="en-US" dirty="0" err="1"/>
              <a:t>계수값을</a:t>
            </a:r>
            <a:r>
              <a:rPr lang="ko-KR" altLang="en-US" dirty="0"/>
              <a:t> </a:t>
            </a:r>
            <a:r>
              <a:rPr lang="en-US" altLang="ko-KR" dirty="0"/>
              <a:t>0</a:t>
            </a:r>
            <a:r>
              <a:rPr lang="ko-KR" altLang="en-US" dirty="0"/>
              <a:t>으로 만들 수 있음 </a:t>
            </a:r>
            <a:r>
              <a:rPr lang="en-US" altLang="ko-KR" dirty="0"/>
              <a:t>: </a:t>
            </a:r>
            <a:r>
              <a:rPr lang="en-US" altLang="ko-KR" dirty="0" err="1"/>
              <a:t>coef</a:t>
            </a:r>
            <a:r>
              <a:rPr lang="en-US" altLang="ko-KR" dirty="0"/>
              <a:t>_</a:t>
            </a:r>
            <a:r>
              <a:rPr lang="ko-KR" altLang="en-US" dirty="0"/>
              <a:t>속성으로 확인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40</a:t>
            </a:r>
            <a:r>
              <a:rPr lang="ko-KR" altLang="en-US" dirty="0"/>
              <a:t>개의 특성이 </a:t>
            </a:r>
            <a:r>
              <a:rPr lang="en-US" altLang="ko-KR" dirty="0"/>
              <a:t>0,</a:t>
            </a:r>
            <a:r>
              <a:rPr lang="ko-KR" altLang="en-US" dirty="0"/>
              <a:t> 사용한 계수는 </a:t>
            </a:r>
            <a:r>
              <a:rPr lang="en-US" altLang="ko-KR" dirty="0"/>
              <a:t>15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 err="1"/>
              <a:t>라쏘는</a:t>
            </a:r>
            <a:r>
              <a:rPr lang="ko-KR" altLang="en-US" dirty="0"/>
              <a:t> 유용한 특성을 골라내는 용도로도 사용 가능</a:t>
            </a:r>
            <a:endParaRPr lang="en-US" altLang="ko-KR" dirty="0"/>
          </a:p>
          <a:p>
            <a:r>
              <a:rPr lang="en-US" altLang="ko-KR" dirty="0"/>
              <a:t>How?</a:t>
            </a:r>
          </a:p>
          <a:p>
            <a:r>
              <a:rPr lang="ko-KR" altLang="en-US" dirty="0"/>
              <a:t>회귀 계수를 업데이트 하는 과정에서 특정 </a:t>
            </a:r>
            <a:r>
              <a:rPr lang="ko-KR" altLang="en-US" dirty="0" err="1"/>
              <a:t>임계값</a:t>
            </a:r>
            <a:r>
              <a:rPr lang="ko-KR" altLang="en-US" dirty="0"/>
              <a:t> 이하라면 </a:t>
            </a:r>
            <a:r>
              <a:rPr lang="en-US" altLang="ko-KR" dirty="0"/>
              <a:t>0</a:t>
            </a:r>
            <a:r>
              <a:rPr lang="ko-KR" altLang="en-US" dirty="0"/>
              <a:t>으로 설정</a:t>
            </a:r>
            <a:endParaRPr lang="en-US" altLang="ko-KR" dirty="0"/>
          </a:p>
          <a:p>
            <a:r>
              <a:rPr lang="ko-KR" altLang="en-US" dirty="0"/>
              <a:t>특정 </a:t>
            </a:r>
            <a:r>
              <a:rPr lang="ko-KR" altLang="en-US" dirty="0" err="1"/>
              <a:t>임계값</a:t>
            </a:r>
            <a:r>
              <a:rPr lang="ko-KR" altLang="en-US" dirty="0"/>
              <a:t> </a:t>
            </a:r>
            <a:r>
              <a:rPr lang="en-US" altLang="ko-KR" dirty="0"/>
              <a:t>: alpha</a:t>
            </a:r>
            <a:r>
              <a:rPr lang="ko-KR" altLang="en-US" dirty="0"/>
              <a:t>값이 기준이 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638C44-5966-9BB9-592B-626048894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F46E155-5378-8ED3-4037-F9B8E1701EF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A65A05D-84EC-82DE-8CB0-8D5F05364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2063" y="1513897"/>
            <a:ext cx="4372089" cy="122889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CC2EDE4-8AC3-2CBD-3331-DB2904FD58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6933" y="3153104"/>
            <a:ext cx="3714428" cy="2050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76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710DFA-2EE5-D901-CABE-C9F4A04F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3237F5-BA6C-44EB-8611-BE9F046D20F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5D8D8-739F-C9F9-3D63-AEC852A60034}"/>
              </a:ext>
            </a:extLst>
          </p:cNvPr>
          <p:cNvSpPr/>
          <p:nvPr/>
        </p:nvSpPr>
        <p:spPr>
          <a:xfrm>
            <a:off x="284202" y="1147001"/>
            <a:ext cx="477406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o-KR" alt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감사합니다</a:t>
            </a:r>
            <a:r>
              <a:rPr lang="en-US" altLang="ko-KR" sz="5400" b="0" i="0" dirty="0">
                <a:solidFill>
                  <a:srgbClr val="000000"/>
                </a:solidFill>
                <a:effectLst/>
                <a:latin typeface="se-nanumgothic"/>
              </a:rPr>
              <a:t>´._.`</a:t>
            </a:r>
            <a:endParaRPr lang="en-US" altLang="ko-KR" sz="54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70AD47">
                  <a:tint val="1000"/>
                </a:srgb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2637763"/>
      </p:ext>
    </p:extLst>
  </p:cSld>
  <p:clrMapOvr>
    <a:masterClrMapping/>
  </p:clrMapOvr>
</p:sld>
</file>

<file path=ppt/theme/theme1.xml><?xml version="1.0" encoding="utf-8"?>
<a:theme xmlns:a="http://schemas.openxmlformats.org/drawingml/2006/main" name="세미나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">
      <a:majorFont>
        <a:latin typeface="Times New Roman"/>
        <a:ea typeface="맑은 고딕"/>
        <a:cs typeface=""/>
      </a:majorFont>
      <a:minorFont>
        <a:latin typeface="Times New Roman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세미나테마" id="{F0B14E78-0364-4296-861A-629154498883}" vid="{07BE5619-E2A8-4325-BCB2-DEE69878C6E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fe23552-e412-49a4-9529-4c360febdc1a">
      <Terms xmlns="http://schemas.microsoft.com/office/infopath/2007/PartnerControls"/>
    </lcf76f155ced4ddcb4097134ff3c332f>
    <TaxCatchAll xmlns="ff4cacbd-dc2f-41c0-9cbc-53de60920d4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9795455B19719479947D270077BE608" ma:contentTypeVersion="13" ma:contentTypeDescription="새 문서를 만듭니다." ma:contentTypeScope="" ma:versionID="2a3d95f513f07d4a27156af80b291b6a">
  <xsd:schema xmlns:xsd="http://www.w3.org/2001/XMLSchema" xmlns:xs="http://www.w3.org/2001/XMLSchema" xmlns:p="http://schemas.microsoft.com/office/2006/metadata/properties" xmlns:ns2="bfe23552-e412-49a4-9529-4c360febdc1a" xmlns:ns3="ff4cacbd-dc2f-41c0-9cbc-53de60920d42" targetNamespace="http://schemas.microsoft.com/office/2006/metadata/properties" ma:root="true" ma:fieldsID="36356acdaffcccd3927915d39ab9f653" ns2:_="" ns3:_="">
    <xsd:import namespace="bfe23552-e412-49a4-9529-4c360febdc1a"/>
    <xsd:import namespace="ff4cacbd-dc2f-41c0-9cbc-53de60920d4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e23552-e412-49a4-9529-4c360febdc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이미지 태그" ma:readOnly="false" ma:fieldId="{5cf76f15-5ced-4ddc-b409-7134ff3c332f}" ma:taxonomyMulti="true" ma:sspId="ac1c61d9-a430-48ff-9169-afa47b8afb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f4cacbd-dc2f-41c0-9cbc-53de60920d42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eca0473b-6864-4c06-b0b5-fee83201fdb6}" ma:internalName="TaxCatchAll" ma:showField="CatchAllData" ma:web="ff4cacbd-dc2f-41c0-9cbc-53de60920d4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EF38A23-AD59-484B-B618-59293A578294}">
  <ds:schemaRefs>
    <ds:schemaRef ds:uri="http://schemas.microsoft.com/office/2006/metadata/properties"/>
    <ds:schemaRef ds:uri="http://schemas.microsoft.com/office/infopath/2007/PartnerControls"/>
    <ds:schemaRef ds:uri="bfe23552-e412-49a4-9529-4c360febdc1a"/>
    <ds:schemaRef ds:uri="ff4cacbd-dc2f-41c0-9cbc-53de60920d42"/>
  </ds:schemaRefs>
</ds:datastoreItem>
</file>

<file path=customXml/itemProps2.xml><?xml version="1.0" encoding="utf-8"?>
<ds:datastoreItem xmlns:ds="http://schemas.openxmlformats.org/officeDocument/2006/customXml" ds:itemID="{D091B1CB-BB26-440C-B1CB-98A3D89C1B3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338EDC-521E-42B0-8BC3-462B969739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fe23552-e412-49a4-9529-4c360febdc1a"/>
    <ds:schemaRef ds:uri="ff4cacbd-dc2f-41c0-9cbc-53de60920d4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세미나테마</Template>
  <TotalTime>6676</TotalTime>
  <Words>781</Words>
  <Application>Microsoft Office PowerPoint</Application>
  <PresentationFormat>와이드스크린</PresentationFormat>
  <Paragraphs>256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se-nanumgothic</vt:lpstr>
      <vt:lpstr>맑은 고딕</vt:lpstr>
      <vt:lpstr>Arial</vt:lpstr>
      <vt:lpstr>Cambria Math</vt:lpstr>
      <vt:lpstr>Times New Roman</vt:lpstr>
      <vt:lpstr>세미나테마</vt:lpstr>
      <vt:lpstr>특성공학과 규제</vt:lpstr>
      <vt:lpstr>목차</vt:lpstr>
      <vt:lpstr>다중회귀</vt:lpstr>
      <vt:lpstr>데이터 준비</vt:lpstr>
      <vt:lpstr>데이터 준비</vt:lpstr>
      <vt:lpstr>사이킷런의 변환기</vt:lpstr>
      <vt:lpstr>사이킷런의 변환기</vt:lpstr>
      <vt:lpstr>다중 회귀모델 훈련하기</vt:lpstr>
      <vt:lpstr>다중 회귀모델 훈련하기</vt:lpstr>
      <vt:lpstr>규제</vt:lpstr>
      <vt:lpstr>규제</vt:lpstr>
      <vt:lpstr>규제</vt:lpstr>
      <vt:lpstr>규제</vt:lpstr>
      <vt:lpstr>규제</vt:lpstr>
      <vt:lpstr>릿지회귀</vt:lpstr>
      <vt:lpstr>릿지회귀</vt:lpstr>
      <vt:lpstr>릿지회귀</vt:lpstr>
      <vt:lpstr>라쏘 회귀</vt:lpstr>
      <vt:lpstr>라쏘회귀</vt:lpstr>
      <vt:lpstr>라쏘회귀</vt:lpstr>
      <vt:lpstr>라쏘회귀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그래프 이론과 개념</dc:title>
  <dc:creator>박진우</dc:creator>
  <cp:lastModifiedBy>서현우</cp:lastModifiedBy>
  <cp:revision>42</cp:revision>
  <dcterms:created xsi:type="dcterms:W3CDTF">2023-07-06T03:52:26Z</dcterms:created>
  <dcterms:modified xsi:type="dcterms:W3CDTF">2024-07-25T04:56:15Z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0x010100C9795455B19719479947D270077BE608</vt:lpwstr>
  </property>
</Properties>
</file>