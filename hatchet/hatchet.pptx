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258" r:id="rId6"/>
    <p:sldId id="272" r:id="rId7"/>
    <p:sldId id="283" r:id="rId8"/>
    <p:sldId id="284" r:id="rId9"/>
    <p:sldId id="285" r:id="rId10"/>
    <p:sldId id="286" r:id="rId11"/>
    <p:sldId id="287" r:id="rId12"/>
    <p:sldId id="279" r:id="rId13"/>
    <p:sldId id="278" r:id="rId14"/>
    <p:sldId id="281" r:id="rId15"/>
    <p:sldId id="280" r:id="rId16"/>
    <p:sldId id="282" r:id="rId17"/>
    <p:sldId id="268" r:id="rId18"/>
    <p:sldId id="269" r:id="rId19"/>
    <p:sldId id="270" r:id="rId20"/>
    <p:sldId id="271" r:id="rId21"/>
    <p:sldId id="273" r:id="rId22"/>
    <p:sldId id="274" r:id="rId23"/>
    <p:sldId id="275" r:id="rId24"/>
    <p:sldId id="276" r:id="rId25"/>
    <p:sldId id="277" r:id="rId26"/>
    <p:sldId id="267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5" autoAdjust="0"/>
  </p:normalViewPr>
  <p:slideViewPr>
    <p:cSldViewPr snapToGrid="0">
      <p:cViewPr varScale="1">
        <p:scale>
          <a:sx n="149" d="100"/>
          <a:sy n="149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7T16:09:37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1841 1363 24575,'-12'1'0,"0"1"0,-22 6 0,6-2 0,-157 35 0,-96 19 0,234-53 0,-95 2 0,-47-14 0,81-5 0,-184-40 0,238 36 0,-72-31 0,41 14 0,77 29 0,-1-1 0,1-1 0,0 1 0,-1-1 0,2-1 0,-1 0 0,0 0 0,1 0 0,0-1 0,0 0 0,1 0 0,0-1 0,0 1 0,0-2 0,1 1 0,0 0 0,0-1 0,1 0 0,0 0 0,-3-9 0,-16-48 0,2 0 0,4-1 0,2-1 0,3-1 0,-5-128 0,16 156 0,4-76 0,-2 103 0,1 0 0,0 0 0,2 0 0,-1 0 0,1 1 0,11-22 0,-2 10 0,1 0 0,1 0 0,1 2 0,1-1 0,1 2 0,1 1 0,1 0 0,0 1 0,2 2 0,0 0 0,1 1 0,0 1 0,35-16 0,-12 10 0,1 1 0,1 3 0,1 2 0,0 2 0,1 2 0,0 2 0,52-2 0,44 4 0,202 15 0,-333-7 0,0 0 0,-1 2 0,0-1 0,1 2 0,-1 0 0,0 0 0,-1 1 0,1 1 0,-1 1 0,0 0 0,-1 0 0,13 10 0,5 5 0,39 24 0,-37-27 0,39 32 0,-58-37 0,0 0 0,-1 0 0,0 1 0,-2 1 0,15 26 0,-10-17 0,148 300 0,-121-233 0,-39-86 0,2 5 0,1 0 0,-2 0 0,1 0 0,-1 0 0,-1 1 0,0 0 0,-1-1 0,0 1 0,0 22 0,-3-1 0,2-17 0,-2 0 0,0 0 0,-1 0 0,0 0 0,-1 0 0,-6 18 0,-19 51 0,20-55 0,-2-1 0,-1 0 0,-1-1 0,-22 39 0,24-53 17,-1-1 0,0 0 1,-1 0-1,0-1 0,-1 0 0,-18 12 0,-2-2-760,-57 28 1,80-45-6084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7T16:09:46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2579 1631 24575,'-104'57'0,"79"-44"0,-2-2 0,1-1 0,-1-1 0,-50 10 0,50-13 0,-749 134 0,411-120 0,0-22 0,224 1 0,104 0 0,-1-1 0,-38-7 0,60 6 0,0-1 0,1 0 0,0-1 0,0-1 0,0-1 0,1 0 0,-19-12 0,3-1 0,1-2 0,1-1 0,1-1 0,-41-47 0,53 52 0,1 0 0,0-1 0,2 0 0,1-1 0,0 0 0,1-1 0,2 0 0,-8-28 0,4-2 0,3-1 0,2 0 0,2 0 0,3-1 0,6-73 0,-1 106 0,0 0 0,2 0 0,1 1 0,0 0 0,1 0 0,1 1 0,1 0 0,1 0 0,21-30 0,10-5 0,77-81 0,-38 51 0,153-123 0,-187 172 0,2 2 0,1 3 0,2 1 0,0 3 0,79-29 0,205-61 0,-301 105 0,0 1 0,0 2 0,0 2 0,1 1 0,0 1 0,38 2 0,12 2 0,195 3 0,-270-2 0,-1 1 0,1 1 0,0-1 0,-1 1 0,1 1 0,-1 0 0,0 0 0,0 1 0,-1 0 0,13 10 0,2 0 0,39 25 0,-2 3 0,59 55 0,-100-80 0,-2 2 0,19 26 0,6 7 0,148 188 0,-157-198 0,-23-30 0,2 0 0,16 14 0,-18-19 0,-1 1 0,1 1 0,-2 0 0,1 0 0,7 13 0,95 190 0,-101-195 0,1 0 0,-2 1 0,-1 1 0,0 0 0,-1 0 0,-2 0 0,0 1 0,-1-1 0,3 40 0,-6-24 0,-2 0 0,-6 42 0,5-64 0,-1 0 0,-1 0 0,0 0 0,-1 0 0,0 0 0,-1-1 0,-1 0 0,-10 15 0,-2-2 0,-1 0 0,-1-1 0,-28 25 0,33-36 0,-1-1 0,-1-1 0,0 0 0,-1-1 0,-22 9 0,-103 34 0,68-32-455,-1-4 0,-139 13 0,204-29-6371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7T16:09:54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1 24575,'5'154'0,"44"284"0,-39-381 0,-2-1 0,2 94 0,-8-147 0,2-7 0,8-15 0,-9 15 0,14-23 0,2 1 0,1 0 0,1 2 0,1 0 0,1 2 0,1 0 0,0 1 0,2 2 0,1 1 0,0 1 0,1 1 0,1 1 0,0 2 0,1 1 0,41-11 0,-65 21 0,0 1 0,-1 1 0,1-1 0,0 1 0,-1 0 0,1 1 0,0-1 0,0 1 0,-1 0 0,1 0 0,-1 1 0,1 0 0,-1 0 0,6 3 0,4 3 0,1 2 0,-1 0 0,15 13 0,2 2 0,-23-18 0,-1 1 0,1 0 0,-1 1 0,-1-1 0,1 1 0,-2 1 0,1-1 0,-1 1 0,-1 1 0,0-1 0,0 1 0,-1-1 0,0 1 0,-1 1 0,3 19 0,-2-3 0,-1 0 0,-2 1 0,-1 0 0,-1-1 0,-6 37 0,-1-26 0,-1 0 0,-2-1 0,-2-1 0,-2 0 0,-29 55 0,43-89 0,-1 1 0,0-1 0,0 0 0,0 0 0,-1 1 0,1-1 0,-1-1 0,1 1 0,-1 0 0,0-1 0,0 1 0,-1-1 0,-5 4 0,3-5 0,1 1 0,-1-1 0,1 0 0,-1 0 0,0 0 0,1-1 0,-1 0 0,-10-1 0,-185-3 0,127 5 0,0-3 0,-137-22 0,187 19 0,0-1 0,0-1 0,1-2 0,-35-16 0,55 23 0,-1-1 0,1 1 0,0-1 0,1 0 0,-1 1 0,0-1 0,1-1 0,0 1 0,-1 0 0,1 0 0,1-1 0,-1 1 0,0-1 0,1 0 0,-2-6 0,-1-7 0,1 1 0,-2-25 0,2 12 0,-7-57-1365,10 75-5461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7T16:09:55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24575,'266'11'0,"436"-11"-1365,-689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7T16:09:58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998 1 24575,'-5'5'0,"-1"-1"0,0 1 0,0-1 0,-1 0 0,1-1 0,-1 1 0,-8 2 0,-10 6 0,-31 18 0,2 2 0,1 2 0,-63 55 0,-252 212 0,363-297 0,-26 18 0,-26 28 0,47-40 0,1 0 0,0 0 0,1 1 0,1 0 0,-1 0 0,-7 19 0,-13 36 0,-34 127 0,56-166 0,1 1 0,1-1 0,0 29 0,5 85 0,1-60 0,-2-77 0,1-1 0,-1 1 0,1-1 0,0 0 0,0 1 0,0-1 0,0 0 0,0 0 0,1 0 0,-1 1 0,1-2 0,0 1 0,0 0 0,0 0 0,0-1 0,1 1 0,-1-1 0,1 1 0,-1-1 0,1 0 0,0 0 0,4 2 0,6 3 0,1 0 0,0-1 0,26 7 0,-29-10 0,35 13 0,0-3 0,1-2 0,0-2 0,80 5 0,-120-14 0,0-1 0,0 0 0,0 0 0,-1-1 0,1 0 0,-1 0 0,1 0 0,-1-1 0,0 0 0,7-4 0,9-7 0,25-21 0,-32 23 0,0 0 0,-1 0 0,-1-1 0,0-1 0,-1-1 0,0 0 0,15-26 0,-9 9 0,-1-1 0,17-49 0,-31 70 0,1 0 0,-2-1 0,0 1 0,0-1 0,0-20 0,-8-63 0,4 78 0,-2 0 0,0 0 0,-1 0 0,0 1 0,-2-1 0,0 1 0,-11-18 0,-9-9 0,-40-53 0,60 87 0,0 1 0,-1 1 0,-1-1 0,1 1 0,-1 1 0,-1-1 0,1 2 0,-1-1 0,0 1 0,-20-8 0,14 8 0,-1 1 0,0 1 0,0 0 0,-1 1 0,1 1 0,-29 0 0,30 2 0,-183 2 0,188-1-227,0 0-1,0 1 1,0 0-1,1 1 1,-17 6-1,13-3-6598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 err="1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쓰루풋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 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: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단위시간당 처리된 데이터의 양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DEE6A-CE55-4E34-A123-74559017542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239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hatchet.run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docs.docker.com/" TargetMode="External"/><Relationship Id="rId7" Type="http://schemas.openxmlformats.org/officeDocument/2006/relationships/image" Target="../media/image19.png"/><Relationship Id="rId2" Type="http://schemas.openxmlformats.org/officeDocument/2006/relationships/hyperlink" Target="https://github.com/hatchet-dev/hatche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hyperlink" Target="https://docs.hatchet.run/self-hosting/docker-compose" TargetMode="External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7.png"/><Relationship Id="rId3" Type="http://schemas.openxmlformats.org/officeDocument/2006/relationships/hyperlink" Target="mailto:admin@example.com" TargetMode="External"/><Relationship Id="rId7" Type="http://schemas.openxmlformats.org/officeDocument/2006/relationships/image" Target="../media/image24.png"/><Relationship Id="rId12" Type="http://schemas.openxmlformats.org/officeDocument/2006/relationships/customXml" Target="../ink/ink4.xml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5" Type="http://schemas.openxmlformats.org/officeDocument/2006/relationships/image" Target="../media/image28.png"/><Relationship Id="rId10" Type="http://schemas.openxmlformats.org/officeDocument/2006/relationships/customXml" Target="../ink/ink3.xml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14" Type="http://schemas.openxmlformats.org/officeDocument/2006/relationships/customXml" Target="../ink/ink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5.png"/><Relationship Id="rId2" Type="http://schemas.openxmlformats.org/officeDocument/2006/relationships/hyperlink" Target="https://nodejs.org/en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Hatchet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서현우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2024-04-08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5" name="Picture 2" descr="Hatchet Logo">
            <a:extLst>
              <a:ext uri="{FF2B5EF4-FFF2-40B4-BE49-F238E27FC236}">
                <a16:creationId xmlns:a16="http://schemas.microsoft.com/office/drawing/2014/main" id="{1FC27DD0-E62E-35B8-E090-F056148534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719" b="-2057"/>
          <a:stretch/>
        </p:blipFill>
        <p:spPr bwMode="auto">
          <a:xfrm>
            <a:off x="4444228" y="2835813"/>
            <a:ext cx="557804" cy="56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5450D-6E2E-3DC7-6261-1149A664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E9F0A-315B-FEA0-59F4-32AF863C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Hatchet?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설치 및 실행</a:t>
            </a:r>
            <a:endParaRPr lang="en-US" altLang="ko-KR" dirty="0"/>
          </a:p>
          <a:p>
            <a:r>
              <a:rPr lang="en-US" altLang="ko-KR" dirty="0"/>
              <a:t>3. Simple Examples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A61D3-399B-4CDD-9F66-48CE6230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EE6127-AA9D-1DF3-8910-7C62BE3771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8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ub/Sub Messaging: What Is It? | Knowledge Base | Dashbird">
            <a:extLst>
              <a:ext uri="{FF2B5EF4-FFF2-40B4-BE49-F238E27FC236}">
                <a16:creationId xmlns:a16="http://schemas.microsoft.com/office/drawing/2014/main" id="{1BEE9A7F-3BAE-92CA-3681-4ED4C2529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6592" y="1080655"/>
            <a:ext cx="5456491" cy="2136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67EC5EB-629C-9390-CCD2-11F2D2D1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5FA88-CA38-3A12-7B2F-BBEDAE58B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Hatchet? – </a:t>
            </a:r>
            <a:r>
              <a:rPr lang="ko-KR" altLang="en-US" dirty="0"/>
              <a:t>손도끼</a:t>
            </a:r>
            <a:r>
              <a:rPr lang="en-US" altLang="ko-KR" dirty="0"/>
              <a:t>, </a:t>
            </a:r>
            <a:r>
              <a:rPr lang="ko-KR" altLang="en-US" dirty="0"/>
              <a:t>효율적인 작은 도구</a:t>
            </a:r>
            <a:endParaRPr lang="en-US" altLang="ko-KR" dirty="0"/>
          </a:p>
          <a:p>
            <a:r>
              <a:rPr lang="en-US" altLang="ko-KR" dirty="0"/>
              <a:t>replaces difficult to manage legacy queues or pub/sub systems</a:t>
            </a:r>
          </a:p>
          <a:p>
            <a:r>
              <a:rPr lang="en-US" altLang="ko-KR" b="1" dirty="0"/>
              <a:t>Ultra-low Latency and High Throughput Scheduling</a:t>
            </a:r>
          </a:p>
          <a:p>
            <a:pPr marL="0" indent="0">
              <a:buNone/>
            </a:pPr>
            <a:r>
              <a:rPr lang="en-US" altLang="ko-KR" b="1" dirty="0"/>
              <a:t>     -</a:t>
            </a:r>
            <a:r>
              <a:rPr lang="ko-KR" altLang="en-US" dirty="0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초저지연 및 </a:t>
            </a:r>
            <a:r>
              <a:rPr lang="ko-KR" altLang="en-US" dirty="0" err="1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고처리량</a:t>
            </a:r>
            <a:r>
              <a:rPr lang="ko-KR" altLang="en-US" dirty="0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 스케줄링</a:t>
            </a:r>
            <a:endParaRPr lang="en-US" altLang="ko-KR" b="1" dirty="0"/>
          </a:p>
          <a:p>
            <a:r>
              <a:rPr lang="en-US" altLang="ko-KR" b="1" dirty="0"/>
              <a:t>Concurrency, Fairness, and Rate Limiting</a:t>
            </a:r>
          </a:p>
          <a:p>
            <a:pPr marL="0" indent="0">
              <a:buNone/>
            </a:pPr>
            <a:r>
              <a:rPr lang="en-US" altLang="ko-KR" b="1" dirty="0"/>
              <a:t>    -</a:t>
            </a:r>
            <a:r>
              <a:rPr lang="ko-KR" altLang="en-US" dirty="0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동시성</a:t>
            </a:r>
            <a:r>
              <a:rPr lang="en-US" altLang="ko-KR" dirty="0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, </a:t>
            </a:r>
            <a:r>
              <a:rPr lang="ko-KR" altLang="en-US" dirty="0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공정성 및 속도 제한</a:t>
            </a:r>
            <a:endParaRPr lang="en-US" altLang="ko-KR" dirty="0"/>
          </a:p>
          <a:p>
            <a:r>
              <a:rPr lang="en-US" altLang="ko-KR" b="1" dirty="0"/>
              <a:t>Resilience by Design</a:t>
            </a:r>
          </a:p>
          <a:p>
            <a:pPr marL="0" indent="0">
              <a:buNone/>
            </a:pPr>
            <a:r>
              <a:rPr lang="en-US" altLang="ko-KR" b="1" dirty="0"/>
              <a:t>    -</a:t>
            </a:r>
            <a:r>
              <a:rPr lang="ko-KR" altLang="en-US" dirty="0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설계에 의한 복원력</a:t>
            </a:r>
            <a:endParaRPr lang="en-US" altLang="ko-KR" b="1" dirty="0"/>
          </a:p>
          <a:p>
            <a:r>
              <a:rPr lang="en-US" altLang="ko-KR" b="1" dirty="0"/>
              <a:t>Enhanced Visibility and Control</a:t>
            </a:r>
          </a:p>
          <a:p>
            <a:pPr marL="0" indent="0">
              <a:buNone/>
            </a:pPr>
            <a:r>
              <a:rPr lang="en-US" altLang="ko-KR" dirty="0"/>
              <a:t>    -</a:t>
            </a:r>
            <a:r>
              <a:rPr lang="ko-KR" altLang="en-US" dirty="0"/>
              <a:t>향상된 가시성과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73CCF-361E-1F15-402E-76FD24E9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762F95-4129-CEC5-F763-28F4CD1E5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6" name="Picture 2" descr="Hatchet Logo">
            <a:extLst>
              <a:ext uri="{FF2B5EF4-FFF2-40B4-BE49-F238E27FC236}">
                <a16:creationId xmlns:a16="http://schemas.microsoft.com/office/drawing/2014/main" id="{C736560D-BE44-691E-B7E8-027C557B0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719" b="-2057"/>
          <a:stretch/>
        </p:blipFill>
        <p:spPr bwMode="auto">
          <a:xfrm>
            <a:off x="4674964" y="1019159"/>
            <a:ext cx="396965" cy="40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69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E9E9DF-2A78-6B44-4D95-F238D126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Hatchet-core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5BCF10-F9BA-6987-CB23-54DE4E07F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Steps : </a:t>
            </a:r>
            <a:r>
              <a:rPr lang="ko-KR" altLang="en-US" dirty="0"/>
              <a:t>기본 실행 단위</a:t>
            </a:r>
            <a:r>
              <a:rPr lang="en-US" altLang="ko-KR" dirty="0"/>
              <a:t>(function)</a:t>
            </a:r>
          </a:p>
          <a:p>
            <a:r>
              <a:rPr lang="en-US" altLang="ko-KR" dirty="0"/>
              <a:t>Workflows : steps</a:t>
            </a:r>
            <a:r>
              <a:rPr lang="ko-KR" altLang="en-US" dirty="0"/>
              <a:t>를 실행 순서와 종속성으로 관리</a:t>
            </a:r>
            <a:r>
              <a:rPr lang="en-US" altLang="ko-KR" dirty="0"/>
              <a:t>, DAG(Directed Acyclic Graph)</a:t>
            </a:r>
            <a:r>
              <a:rPr lang="ko-KR" altLang="en-US" dirty="0"/>
              <a:t>로 나타냄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Worker : steps</a:t>
            </a:r>
            <a:r>
              <a:rPr lang="ko-KR" altLang="en-US" dirty="0"/>
              <a:t>를 실행하는 작업자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Dashboard : Workflows, Steps, Worker</a:t>
            </a:r>
            <a:r>
              <a:rPr lang="ko-KR" altLang="en-US" dirty="0"/>
              <a:t>를 관리 및 모니터링하는 웹 기반 인터페이스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330887-A698-AA1A-5604-85735C25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3383DE6-1DCB-7517-F565-B4777655C6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내용 개체 틀 6">
            <a:extLst>
              <a:ext uri="{FF2B5EF4-FFF2-40B4-BE49-F238E27FC236}">
                <a16:creationId xmlns:a16="http://schemas.microsoft.com/office/drawing/2014/main" id="{8EACE7C2-7D60-9DD7-CDF4-7612806E0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651" y="2728609"/>
            <a:ext cx="6134201" cy="3741559"/>
          </a:xfrm>
          <a:prstGeom prst="rect">
            <a:avLst/>
          </a:prstGeom>
        </p:spPr>
      </p:pic>
      <p:pic>
        <p:nvPicPr>
          <p:cNvPr id="6" name="Picture 4" descr="Quickstart 2">
            <a:extLst>
              <a:ext uri="{FF2B5EF4-FFF2-40B4-BE49-F238E27FC236}">
                <a16:creationId xmlns:a16="http://schemas.microsoft.com/office/drawing/2014/main" id="{A19D355F-039F-7A69-2A0E-1387AB9E1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2728609"/>
            <a:ext cx="5682526" cy="3741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94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31332-9771-A579-21D4-44A08DCD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Hatchet-core : Steps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484868-201D-AE99-40E1-0B2601A8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 및 출력 </a:t>
            </a:r>
            <a:r>
              <a:rPr lang="en-US" altLang="ko-KR" dirty="0"/>
              <a:t>: Json</a:t>
            </a:r>
            <a:r>
              <a:rPr lang="ko-KR" altLang="en-US" dirty="0"/>
              <a:t>개체</a:t>
            </a:r>
            <a:r>
              <a:rPr lang="en-US" altLang="ko-KR" dirty="0"/>
              <a:t>(</a:t>
            </a:r>
            <a:r>
              <a:rPr lang="ko-KR" altLang="en-US" dirty="0"/>
              <a:t>일반적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BF2C4D-9CBC-EC0B-CC57-3BA86B55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FFAD61-E916-0D95-EE31-2DA94A2468C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6" name="내용 개체 틀 10">
            <a:extLst>
              <a:ext uri="{FF2B5EF4-FFF2-40B4-BE49-F238E27FC236}">
                <a16:creationId xmlns:a16="http://schemas.microsoft.com/office/drawing/2014/main" id="{B59D6693-233A-81EB-3808-A103F3DEB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51" y="1526102"/>
            <a:ext cx="4645299" cy="465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05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31332-9771-A579-21D4-44A08DCD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Hatchet-core : Workflows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484868-201D-AE99-40E1-0B2601A8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구조화 된 작업 시퀀스</a:t>
            </a:r>
            <a:endParaRPr lang="en-US" altLang="ko-KR" dirty="0"/>
          </a:p>
          <a:p>
            <a:r>
              <a:rPr lang="en-US" altLang="ko-KR" dirty="0"/>
              <a:t>DAG</a:t>
            </a:r>
            <a:r>
              <a:rPr lang="ko-KR" altLang="en-US" dirty="0"/>
              <a:t>로 설계 </a:t>
            </a:r>
            <a:r>
              <a:rPr lang="en-US" altLang="ko-KR" dirty="0"/>
              <a:t>(node = step, edge = </a:t>
            </a:r>
            <a:r>
              <a:rPr lang="ko-KR" altLang="en-US" dirty="0"/>
              <a:t>종속성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상위단계의 출력 액세스 가능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BF2C4D-9CBC-EC0B-CC57-3BA86B55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FFAD61-E916-0D95-EE31-2DA94A2468C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6146" name="Picture 2" descr="Simple DAG">
            <a:extLst>
              <a:ext uri="{FF2B5EF4-FFF2-40B4-BE49-F238E27FC236}">
                <a16:creationId xmlns:a16="http://schemas.microsoft.com/office/drawing/2014/main" id="{8537FD0A-FC94-6AD5-570E-27BB6FDF7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31" y="2643187"/>
            <a:ext cx="6124568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77DA8EF-03F6-0458-2B60-15E53A958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647" y="1333796"/>
            <a:ext cx="5138104" cy="501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1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31332-9771-A579-21D4-44A08DCD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Hatchet-core : Worker</a:t>
            </a:r>
            <a:endParaRPr lang="ko-KR" alt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52765FF-5424-D371-AEEA-5E7E1E1855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3481" y="2382147"/>
            <a:ext cx="5963482" cy="339519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BF2C4D-9CBC-EC0B-CC57-3BA86B55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FFAD61-E916-0D95-EE31-2DA94A2468C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63439A7-C395-DB06-5ED0-AB483C7E6D97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Worker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en-US" altLang="ko-KR" dirty="0"/>
              <a:t>Workflow</a:t>
            </a:r>
            <a:r>
              <a:rPr lang="ko-KR" altLang="en-US" dirty="0"/>
              <a:t>에 등록</a:t>
            </a:r>
            <a:endParaRPr lang="en-US" altLang="ko-KR" dirty="0"/>
          </a:p>
          <a:p>
            <a:r>
              <a:rPr lang="en-US" altLang="ko-KR" dirty="0"/>
              <a:t>Worker</a:t>
            </a:r>
            <a:r>
              <a:rPr lang="ko-KR" altLang="en-US" dirty="0"/>
              <a:t>를 실행 </a:t>
            </a:r>
            <a:r>
              <a:rPr lang="en-US" altLang="ko-KR" dirty="0"/>
              <a:t>– workflow</a:t>
            </a:r>
            <a:r>
              <a:rPr lang="ko-KR" altLang="en-US" dirty="0"/>
              <a:t>의 이벤트를 기다림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6028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31332-9771-A579-21D4-44A08DCD8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Hatchet-core : Dashboard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BF2C4D-9CBC-EC0B-CC57-3BA86B55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FFAD61-E916-0D95-EE31-2DA94A2468C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63439A7-C395-DB06-5ED0-AB483C7E6D97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웹 기반 인터페이스</a:t>
            </a:r>
            <a:endParaRPr lang="en-US" altLang="ko-KR" dirty="0"/>
          </a:p>
          <a:p>
            <a:r>
              <a:rPr lang="ko-KR" altLang="en-US" dirty="0"/>
              <a:t>모니터링</a:t>
            </a:r>
            <a:r>
              <a:rPr lang="en-US" altLang="ko-KR" dirty="0"/>
              <a:t>, </a:t>
            </a:r>
            <a:r>
              <a:rPr lang="ko-KR" altLang="en-US" dirty="0"/>
              <a:t>관리 및 문제해결</a:t>
            </a:r>
            <a:endParaRPr lang="en-US" altLang="ko-KR" dirty="0"/>
          </a:p>
        </p:txBody>
      </p:sp>
      <p:pic>
        <p:nvPicPr>
          <p:cNvPr id="7" name="Picture 4" descr="Quickstart 2">
            <a:extLst>
              <a:ext uri="{FF2B5EF4-FFF2-40B4-BE49-F238E27FC236}">
                <a16:creationId xmlns:a16="http://schemas.microsoft.com/office/drawing/2014/main" id="{3219C00C-0FF5-FAAF-82CF-8AE2170D0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52" y="1871395"/>
            <a:ext cx="10515600" cy="451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49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EC5EB-629C-9390-CCD2-11F2D2D1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</a:t>
            </a:r>
            <a:r>
              <a:rPr lang="en-US" altLang="ko-KR" b="1" dirty="0"/>
              <a:t>Ultra-low Latency and High Throughput Scheduling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5FA88-CA38-3A12-7B2F-BBEDAE58B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저지연</a:t>
            </a:r>
            <a:r>
              <a:rPr lang="en-US" altLang="ko-KR" dirty="0"/>
              <a:t>(</a:t>
            </a:r>
            <a:r>
              <a:rPr lang="ko-KR" altLang="en-US" dirty="0"/>
              <a:t>평균 </a:t>
            </a:r>
            <a:r>
              <a:rPr lang="en-US" altLang="ko-KR" dirty="0"/>
              <a:t>25ms)</a:t>
            </a:r>
            <a:r>
              <a:rPr lang="ko-KR" altLang="en-US" dirty="0"/>
              <a:t>큐를 기반으로 구축 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73CCF-361E-1F15-402E-76FD24E9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762F95-4129-CEC5-F763-28F4CD1E5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912387C4-277D-3A5F-465E-7C4DBF2F64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903D7E-65F1-7D8D-A353-4C84417AF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7" y="2105662"/>
            <a:ext cx="11044434" cy="424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2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EC5EB-629C-9390-CCD2-11F2D2D1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</a:t>
            </a:r>
            <a:r>
              <a:rPr lang="en-US" altLang="ko-KR" b="1" dirty="0"/>
              <a:t>Concurrency, Fairness, and Rate Limiting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5FA88-CA38-3A12-7B2F-BBEDAE58B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Concurrency(</a:t>
            </a:r>
            <a:r>
              <a:rPr lang="ko-KR" altLang="en-US" dirty="0"/>
              <a:t>동시성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Name(</a:t>
            </a:r>
            <a:r>
              <a:rPr lang="ko-KR" altLang="en-US" dirty="0"/>
              <a:t>필수</a:t>
            </a:r>
            <a:r>
              <a:rPr lang="en-US" altLang="ko-KR" dirty="0"/>
              <a:t>) : </a:t>
            </a:r>
            <a:r>
              <a:rPr lang="ko-KR" altLang="en-US" dirty="0"/>
              <a:t>식별자</a:t>
            </a:r>
            <a:endParaRPr lang="en-US" altLang="ko-KR" dirty="0"/>
          </a:p>
          <a:p>
            <a:r>
              <a:rPr lang="en-US" altLang="ko-KR" dirty="0" err="1"/>
              <a:t>MaxRuns</a:t>
            </a:r>
            <a:r>
              <a:rPr lang="en-US" altLang="ko-KR" dirty="0"/>
              <a:t> : </a:t>
            </a:r>
            <a:r>
              <a:rPr lang="ko-KR" altLang="en-US" dirty="0"/>
              <a:t>동시에 허용되는 최대 실행 수</a:t>
            </a:r>
            <a:endParaRPr lang="en-US" altLang="ko-KR" dirty="0"/>
          </a:p>
          <a:p>
            <a:r>
              <a:rPr lang="en-US" altLang="ko-KR" dirty="0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L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imit Strategy :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제한에 도달 시 사용 할 전략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DFDFD"/>
              </a:highlight>
              <a:latin typeface="noto"/>
            </a:endParaRPr>
          </a:p>
          <a:p>
            <a:pPr marL="0" indent="0">
              <a:buNone/>
            </a:pP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     - CANCEL_IN_PROGESS : 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현재 실행중인 내용 취소</a:t>
            </a:r>
            <a:endParaRPr lang="en-US" altLang="ko-KR" b="0" i="0" dirty="0">
              <a:solidFill>
                <a:srgbClr val="000000"/>
              </a:solidFill>
              <a:effectLst/>
              <a:highlight>
                <a:srgbClr val="FDFDFD"/>
              </a:highlight>
              <a:latin typeface="noto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000000"/>
                </a:solidFill>
                <a:highlight>
                  <a:srgbClr val="FDFDFD"/>
                </a:highlight>
                <a:latin typeface="noto"/>
              </a:rPr>
              <a:t>     -</a:t>
            </a: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 GROUP_ROUND_ROBIN : RB</a:t>
            </a:r>
            <a:r>
              <a:rPr lang="ko-KR" altLang="en-US" b="0" i="0" dirty="0">
                <a:solidFill>
                  <a:srgbClr val="000000"/>
                </a:solidFill>
                <a:effectLst/>
                <a:highlight>
                  <a:srgbClr val="FDFDFD"/>
                </a:highlight>
                <a:latin typeface="noto"/>
              </a:rPr>
              <a:t>방식 사용</a:t>
            </a:r>
            <a:endParaRPr lang="en-US" altLang="ko-KR" dirty="0">
              <a:solidFill>
                <a:srgbClr val="000000"/>
              </a:solidFill>
              <a:highlight>
                <a:srgbClr val="FDFDFD"/>
              </a:highlight>
              <a:latin typeface="noto"/>
            </a:endParaRPr>
          </a:p>
          <a:p>
            <a:r>
              <a:rPr lang="en-US" altLang="ko-KR" dirty="0"/>
              <a:t>Key(</a:t>
            </a:r>
            <a:r>
              <a:rPr lang="ko-KR" altLang="en-US" dirty="0"/>
              <a:t>필수</a:t>
            </a:r>
            <a:r>
              <a:rPr lang="en-US" altLang="ko-KR" dirty="0"/>
              <a:t>) : </a:t>
            </a:r>
            <a:r>
              <a:rPr lang="ko-KR" altLang="en-US" dirty="0"/>
              <a:t>워크플로우의 키를 반환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73CCF-361E-1F15-402E-76FD24E9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762F95-4129-CEC5-F763-28F4CD1E5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912387C4-277D-3A5F-465E-7C4DBF2F64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EF14AE1-99B5-3CA9-0CC2-B718F2BAB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32016"/>
            <a:ext cx="5145797" cy="494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90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EC5EB-629C-9390-CCD2-11F2D2D1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</a:t>
            </a:r>
            <a:r>
              <a:rPr lang="en-US" altLang="ko-KR" b="1" dirty="0"/>
              <a:t>Concurrency, Fairness, and Rate Limiting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75FA88-CA38-3A12-7B2F-BBEDAE58B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Group round robin : fair resource (</a:t>
            </a:r>
            <a:r>
              <a:rPr lang="en-US" altLang="ko-KR" dirty="0">
                <a:hlinkClick r:id="rId2"/>
              </a:rPr>
              <a:t>https://hatchet.run/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73CCF-361E-1F15-402E-76FD24E9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762F95-4129-CEC5-F763-28F4CD1E5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912387C4-277D-3A5F-465E-7C4DBF2F64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5A0CD5-9D82-7696-3E4D-B432B53A1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23" y="1793595"/>
            <a:ext cx="5763854" cy="425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6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EC5EB-629C-9390-CCD2-11F2D2D1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</a:t>
            </a:r>
            <a:r>
              <a:rPr lang="en-US" altLang="ko-KR" b="1" dirty="0"/>
              <a:t>Resilience by Design</a:t>
            </a:r>
            <a:endParaRPr lang="ko-KR" altLang="en-US" dirty="0"/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5B8B6FEB-0B38-C53A-85E5-25CC2102ED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729" y="2555139"/>
            <a:ext cx="5344271" cy="3621824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73CCF-361E-1F15-402E-76FD24E9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762F95-4129-CEC5-F763-28F4CD1E5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912387C4-277D-3A5F-465E-7C4DBF2F64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44F62F4-F278-0047-C2DC-E086EDAC273F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Workflow </a:t>
            </a:r>
            <a:r>
              <a:rPr lang="ko-KR" altLang="en-US" dirty="0"/>
              <a:t>정의 단계에서 </a:t>
            </a:r>
            <a:r>
              <a:rPr lang="en-US" altLang="ko-KR" dirty="0"/>
              <a:t>retries </a:t>
            </a:r>
            <a:r>
              <a:rPr lang="ko-KR" altLang="en-US" dirty="0"/>
              <a:t>옵션 추가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Dashboard</a:t>
            </a:r>
            <a:r>
              <a:rPr lang="ko-KR" altLang="en-US" dirty="0"/>
              <a:t>에서 확인</a:t>
            </a:r>
            <a:endParaRPr lang="en-US" altLang="ko-KR" dirty="0"/>
          </a:p>
          <a:p>
            <a:r>
              <a:rPr lang="en-US" altLang="ko-KR" dirty="0"/>
              <a:t>Timeout : </a:t>
            </a:r>
            <a:r>
              <a:rPr lang="ko-KR" altLang="en-US" dirty="0"/>
              <a:t>실패로 간주되기 전 시간</a:t>
            </a:r>
            <a:endParaRPr lang="en-US" altLang="ko-KR" dirty="0"/>
          </a:p>
          <a:p>
            <a:r>
              <a:rPr lang="en-US" altLang="ko-KR" dirty="0"/>
              <a:t>Retries : </a:t>
            </a:r>
            <a:r>
              <a:rPr lang="ko-KR" altLang="en-US" dirty="0"/>
              <a:t>실패할 경우 시도 할 횟수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C82B083-65CC-0FAF-3381-629C2FE425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896" b="20125"/>
          <a:stretch/>
        </p:blipFill>
        <p:spPr>
          <a:xfrm>
            <a:off x="6419719" y="1080655"/>
            <a:ext cx="5585859" cy="517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5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EC5EB-629C-9390-CCD2-11F2D2D1E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Hatchet-Enhanced Visibility and Control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73CCF-361E-1F15-402E-76FD24E96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762F95-4129-CEC5-F763-28F4CD1E57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912387C4-277D-3A5F-465E-7C4DBF2F64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244F62F4-F278-0047-C2DC-E086EDAC273F}"/>
              </a:ext>
            </a:extLst>
          </p:cNvPr>
          <p:cNvSpPr txBox="1">
            <a:spLocks/>
          </p:cNvSpPr>
          <p:nvPr/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EB511D4-3BCF-F784-2DBB-8C47BEC1A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12" y="1098416"/>
            <a:ext cx="11253849" cy="5096308"/>
          </a:xfrm>
        </p:spPr>
        <p:txBody>
          <a:bodyPr/>
          <a:lstStyle/>
          <a:p>
            <a:r>
              <a:rPr lang="ko-KR" altLang="en-US" dirty="0"/>
              <a:t>가시성 </a:t>
            </a:r>
            <a:r>
              <a:rPr lang="en-US" altLang="ko-KR" dirty="0"/>
              <a:t>: Dashboard</a:t>
            </a:r>
          </a:p>
          <a:p>
            <a:r>
              <a:rPr lang="ko-KR" altLang="en-US" dirty="0"/>
              <a:t>제어</a:t>
            </a:r>
            <a:r>
              <a:rPr lang="en-US" altLang="ko-KR" dirty="0"/>
              <a:t>(On)</a:t>
            </a:r>
            <a:r>
              <a:rPr lang="ko-KR" altLang="en-US" dirty="0"/>
              <a:t> </a:t>
            </a:r>
            <a:r>
              <a:rPr lang="en-US" altLang="ko-KR" dirty="0"/>
              <a:t>: Cron(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시</a:t>
            </a:r>
            <a:r>
              <a:rPr lang="en-US" altLang="ko-KR" dirty="0"/>
              <a:t>, </a:t>
            </a:r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월</a:t>
            </a:r>
            <a:r>
              <a:rPr lang="en-US" altLang="ko-KR" dirty="0"/>
              <a:t>, </a:t>
            </a:r>
            <a:r>
              <a:rPr lang="ko-KR" altLang="en-US" dirty="0"/>
              <a:t>요일</a:t>
            </a:r>
            <a:r>
              <a:rPr lang="en-US" altLang="ko-KR" dirty="0"/>
              <a:t>), One-Time Scheduling </a:t>
            </a:r>
            <a:r>
              <a:rPr lang="ko-KR" altLang="en-US" dirty="0"/>
              <a:t>등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D3A9368-E58E-6DDA-FC35-B8120EC82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56" y="1986631"/>
            <a:ext cx="5116198" cy="34556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BDECA74-E1A2-2AB6-27E2-013D1780B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563" y="1986631"/>
            <a:ext cx="5582429" cy="345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23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F1565-21B5-C435-F99D-39816080D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BAAE36-DE57-CE6B-7500-084B15DE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Github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hatchet-dev/hatchet: A distributed, fault-tolerant task queue (github.com)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</a:t>
            </a:r>
            <a:r>
              <a:rPr lang="en-US" altLang="ko-KR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(https://docs.docker.com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1.root</a:t>
            </a:r>
            <a:r>
              <a:rPr lang="ko-KR" altLang="en-US" dirty="0"/>
              <a:t>폴더 생성 </a:t>
            </a:r>
            <a:r>
              <a:rPr lang="en-US" altLang="ko-KR" dirty="0"/>
              <a:t>– </a:t>
            </a:r>
            <a:r>
              <a:rPr lang="ko-KR" altLang="en-US" dirty="0"/>
              <a:t>하위 파일을 다음과 같이 생성</a:t>
            </a:r>
            <a:r>
              <a:rPr lang="en-US" altLang="ko-KR" dirty="0"/>
              <a:t>(</a:t>
            </a:r>
            <a:r>
              <a:rPr lang="en-US" altLang="ko-KR" dirty="0">
                <a:hlinkClick r:id="rId4"/>
              </a:rPr>
              <a:t>https://docs.hatchet.run/self-hosting/docker-compose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아래의 커맨드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3DD177-D0D3-0E7B-4CA3-044FFB99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081AB85-47A4-EF96-20D3-1AC3D5954F7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Picture 2" descr="Hatchet Logo">
            <a:extLst>
              <a:ext uri="{FF2B5EF4-FFF2-40B4-BE49-F238E27FC236}">
                <a16:creationId xmlns:a16="http://schemas.microsoft.com/office/drawing/2014/main" id="{5E00074A-0770-A6C0-C3F0-E28330F87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338" y="990874"/>
            <a:ext cx="190500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937E766-EF81-D18E-2D37-9F87D1120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3499" y="1410350"/>
            <a:ext cx="1464411" cy="4104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4617A78-D492-D8CE-6B71-206D0C975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582" y="2228268"/>
            <a:ext cx="1840764" cy="9203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DF710DC-4D22-D617-3404-2CA40BA660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582" y="3743062"/>
            <a:ext cx="1667108" cy="35277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D740559-3E3F-F245-2D7D-C961977968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2690" y="3743062"/>
            <a:ext cx="5364199" cy="234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5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96299-C8F4-F6E4-5306-1C956D37C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C14135-B180-2967-3576-424E19ED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en-US" altLang="ko-KR" dirty="0">
                <a:hlinkClick r:id="rId2"/>
              </a:rPr>
              <a:t>http://localhost:8080</a:t>
            </a:r>
            <a:r>
              <a:rPr lang="en-US" altLang="ko-KR" dirty="0"/>
              <a:t> </a:t>
            </a:r>
            <a:r>
              <a:rPr lang="ko-KR" altLang="en-US" dirty="0"/>
              <a:t>접속</a:t>
            </a:r>
            <a:endParaRPr lang="en-US" altLang="ko-KR" dirty="0"/>
          </a:p>
          <a:p>
            <a:r>
              <a:rPr lang="en-US" altLang="ko-KR" dirty="0"/>
              <a:t>4.Email : </a:t>
            </a:r>
            <a:r>
              <a:rPr lang="en-US" altLang="ko-KR" dirty="0">
                <a:hlinkClick r:id="rId3"/>
              </a:rPr>
              <a:t>admin@example.com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  Password : Admin123!!</a:t>
            </a:r>
          </a:p>
          <a:p>
            <a:r>
              <a:rPr lang="en-US" altLang="ko-KR" dirty="0"/>
              <a:t>5.General </a:t>
            </a:r>
            <a:r>
              <a:rPr lang="ko-KR" altLang="en-US" dirty="0"/>
              <a:t>클릭</a:t>
            </a:r>
            <a:endParaRPr lang="en-US" altLang="ko-KR" dirty="0"/>
          </a:p>
          <a:p>
            <a:r>
              <a:rPr lang="en-US" altLang="ko-KR" dirty="0"/>
              <a:t>6.Create API Token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E6D5E-A634-F84E-FF04-CA4C8D10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71E0D21-57E2-98E9-D26C-F05B5D6953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A912625-0A3B-ED2B-EDE7-91DB81C84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588" y="1080655"/>
            <a:ext cx="2785085" cy="28087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CE5B2B0-9AE6-9369-7484-DCA46B4FC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5336" y="987464"/>
            <a:ext cx="8399558" cy="55257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71E7BDE-5AD8-24DC-4057-2398CF1DC7BF}"/>
                  </a:ext>
                </a:extLst>
              </p14:cNvPr>
              <p14:cNvContentPartPr/>
              <p14:nvPr/>
            </p14:nvContentPartPr>
            <p14:xfrm>
              <a:off x="3622921" y="2715988"/>
              <a:ext cx="722520" cy="54828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71E7BDE-5AD8-24DC-4057-2398CF1DC7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16801" y="2709868"/>
                <a:ext cx="734760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17F18944-7A85-62B3-1CF6-B06311DE97C1}"/>
                  </a:ext>
                </a:extLst>
              </p14:cNvPr>
              <p14:cNvContentPartPr/>
              <p14:nvPr/>
            </p14:nvContentPartPr>
            <p14:xfrm>
              <a:off x="11144041" y="3972388"/>
              <a:ext cx="1055520" cy="68976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17F18944-7A85-62B3-1CF6-B06311DE97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37921" y="3966268"/>
                <a:ext cx="1067760" cy="70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6709152B-9D51-4B85-4506-78DEC7C5C187}"/>
              </a:ext>
            </a:extLst>
          </p:cNvPr>
          <p:cNvGrpSpPr/>
          <p:nvPr/>
        </p:nvGrpSpPr>
        <p:grpSpPr>
          <a:xfrm>
            <a:off x="4209001" y="2473348"/>
            <a:ext cx="417240" cy="470880"/>
            <a:chOff x="4209001" y="2473348"/>
            <a:chExt cx="417240" cy="47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59BDF10-D4F0-05F4-1515-340EBA9A146A}"/>
                    </a:ext>
                  </a:extLst>
                </p14:cNvPr>
                <p14:cNvContentPartPr/>
                <p14:nvPr/>
              </p14:nvContentPartPr>
              <p14:xfrm>
                <a:off x="4209001" y="2473348"/>
                <a:ext cx="356040" cy="4708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59BDF10-D4F0-05F4-1515-340EBA9A146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02881" y="2467228"/>
                  <a:ext cx="36828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543386F-E57C-4F91-B962-D961473DDA6B}"/>
                    </a:ext>
                  </a:extLst>
                </p14:cNvPr>
                <p14:cNvContentPartPr/>
                <p14:nvPr/>
              </p14:nvContentPartPr>
              <p14:xfrm>
                <a:off x="4272721" y="2553628"/>
                <a:ext cx="353520" cy="43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543386F-E57C-4F91-B962-D961473DDA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66601" y="2547508"/>
                  <a:ext cx="365760" cy="1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453BD4D-E669-8D67-6F4C-1CD763783075}"/>
                  </a:ext>
                </a:extLst>
              </p14:cNvPr>
              <p14:cNvContentPartPr/>
              <p14:nvPr/>
            </p14:nvContentPartPr>
            <p14:xfrm>
              <a:off x="11258161" y="3480268"/>
              <a:ext cx="359640" cy="53604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453BD4D-E669-8D67-6F4C-1CD7637830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252041" y="3474148"/>
                <a:ext cx="371880" cy="54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014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9471C-27A6-2C91-9AC9-AF416E7D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D3ED15-D338-D9AE-04AB-703795D59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75" y="1080655"/>
            <a:ext cx="11253849" cy="5096308"/>
          </a:xfrm>
        </p:spPr>
        <p:txBody>
          <a:bodyPr/>
          <a:lstStyle/>
          <a:p>
            <a:r>
              <a:rPr lang="en-US" altLang="ko-KR" dirty="0"/>
              <a:t>7.Token</a:t>
            </a:r>
            <a:r>
              <a:rPr lang="ko-KR" altLang="en-US" dirty="0"/>
              <a:t>의 </a:t>
            </a:r>
            <a:r>
              <a:rPr lang="en-US" altLang="ko-KR" dirty="0"/>
              <a:t>Key </a:t>
            </a:r>
            <a:r>
              <a:rPr lang="ko-KR" altLang="en-US" dirty="0"/>
              <a:t>복사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8. </a:t>
            </a:r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en-US" altLang="ko-KR" dirty="0"/>
              <a:t> @hatchet-dev/typescript-sdk</a:t>
            </a:r>
          </a:p>
          <a:p>
            <a:pPr marL="0" indent="0">
              <a:buNone/>
            </a:pPr>
            <a:r>
              <a:rPr lang="en-US" altLang="ko-KR" dirty="0"/>
              <a:t>        </a:t>
            </a:r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en-US" altLang="ko-KR" dirty="0" err="1"/>
              <a:t>i</a:t>
            </a:r>
            <a:r>
              <a:rPr lang="en-US" altLang="ko-KR" dirty="0"/>
              <a:t> </a:t>
            </a:r>
            <a:r>
              <a:rPr lang="en-US" altLang="ko-KR" dirty="0" err="1"/>
              <a:t>dotenv</a:t>
            </a:r>
            <a:r>
              <a:rPr lang="en-US" altLang="ko-KR" dirty="0"/>
              <a:t>  </a:t>
            </a:r>
            <a:r>
              <a:rPr lang="ko-KR" altLang="en-US" dirty="0"/>
              <a:t>커맨드 실행</a:t>
            </a:r>
            <a:endParaRPr lang="en-US" altLang="ko-KR" dirty="0"/>
          </a:p>
          <a:p>
            <a:r>
              <a:rPr lang="en-US" altLang="ko-KR" dirty="0"/>
              <a:t>9.worker.ts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r>
              <a:rPr lang="en-US" altLang="ko-KR" dirty="0"/>
              <a:t>10.package.json</a:t>
            </a:r>
            <a:r>
              <a:rPr lang="ko-KR" altLang="en-US" dirty="0"/>
              <a:t>파일 수정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100351-A6DD-03A2-996E-FB0817E2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A7D85D-D36A-85D3-F537-55AB970C9A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3EE202-395D-6F70-4000-93C02039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303" y="1080655"/>
            <a:ext cx="3871245" cy="8473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BA0072-562D-E7E6-A833-D8B65E95A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838" y="2302852"/>
            <a:ext cx="4447964" cy="40464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5BC27D-2CAC-645B-C1E7-E0943D902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18" y="3822469"/>
            <a:ext cx="3305636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A3E2D-1866-6E68-929B-1B73DDDF6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 및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7BBA5B-032B-D4A7-BE06-D8F4A56EB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11.npm run worker </a:t>
            </a:r>
            <a:r>
              <a:rPr lang="ko-KR" altLang="en-US" dirty="0"/>
              <a:t>커맨드실행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4CF86-E8A5-5507-6E25-0E7A7729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4CA06E3-5407-9B53-AC90-EE738D7AE82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8" name="Picture 2" descr="Quickstart 1">
            <a:extLst>
              <a:ext uri="{FF2B5EF4-FFF2-40B4-BE49-F238E27FC236}">
                <a16:creationId xmlns:a16="http://schemas.microsoft.com/office/drawing/2014/main" id="{F1A99C4C-3941-A132-0262-85F6A8AFB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46" y="1498874"/>
            <a:ext cx="7763854" cy="429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Quickstart 2">
            <a:extLst>
              <a:ext uri="{FF2B5EF4-FFF2-40B4-BE49-F238E27FC236}">
                <a16:creationId xmlns:a16="http://schemas.microsoft.com/office/drawing/2014/main" id="{8FD0923F-6FF6-9406-CF56-3694C75DC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45" y="1513976"/>
            <a:ext cx="10097911" cy="45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46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E92C1-C50C-AFFB-4953-26A31E23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Examples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55BB17-DA37-2FE5-A0CF-9501E2129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1.node</a:t>
            </a:r>
            <a:r>
              <a:rPr lang="ko-KR" altLang="en-US" dirty="0"/>
              <a:t> </a:t>
            </a:r>
            <a:r>
              <a:rPr lang="en-US" altLang="ko-KR" dirty="0"/>
              <a:t>V16 or higher(</a:t>
            </a:r>
            <a:r>
              <a:rPr lang="en-US" altLang="ko-KR" dirty="0">
                <a:hlinkClick r:id="rId2"/>
              </a:rPr>
              <a:t>Node.js — Run JavaScript Everywhere (nodejs.org)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2.(.env)</a:t>
            </a:r>
            <a:r>
              <a:rPr lang="ko-KR" altLang="en-US" dirty="0"/>
              <a:t>파일 생성</a:t>
            </a:r>
            <a:r>
              <a:rPr lang="en-US" altLang="ko-KR" dirty="0"/>
              <a:t>(</a:t>
            </a:r>
            <a:r>
              <a:rPr lang="en-US" altLang="ko-KR" dirty="0" err="1"/>
              <a:t>Open_API_Key</a:t>
            </a:r>
            <a:r>
              <a:rPr lang="en-US" altLang="ko-KR" dirty="0"/>
              <a:t> </a:t>
            </a:r>
            <a:r>
              <a:rPr lang="ko-KR" altLang="en-US" dirty="0"/>
              <a:t>받기</a:t>
            </a:r>
            <a:r>
              <a:rPr lang="en-US" altLang="ko-KR" dirty="0"/>
              <a:t>-</a:t>
            </a:r>
            <a:r>
              <a:rPr lang="ko-KR" altLang="en-US" dirty="0"/>
              <a:t>사용</a:t>
            </a:r>
            <a:r>
              <a:rPr lang="en-US" altLang="ko-KR" dirty="0"/>
              <a:t>x)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</a:t>
            </a:r>
            <a:r>
              <a:rPr lang="ko-KR" altLang="en-US" dirty="0"/>
              <a:t>각 커맨드 실행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      </a:t>
            </a:r>
            <a:r>
              <a:rPr lang="en-US" altLang="ko-KR" dirty="0" err="1"/>
              <a:t>npm</a:t>
            </a:r>
            <a:r>
              <a:rPr lang="ko-KR" altLang="en-US" dirty="0"/>
              <a:t> </a:t>
            </a:r>
            <a:r>
              <a:rPr lang="en-US" altLang="ko-KR" dirty="0"/>
              <a:t>run</a:t>
            </a:r>
            <a:r>
              <a:rPr lang="ko-KR" altLang="en-US" dirty="0"/>
              <a:t> </a:t>
            </a:r>
            <a:r>
              <a:rPr lang="en-US" altLang="ko-KR" dirty="0"/>
              <a:t>worker:</a:t>
            </a:r>
            <a:r>
              <a:rPr lang="ko-KR" altLang="en-US" dirty="0"/>
              <a:t> </a:t>
            </a:r>
            <a:r>
              <a:rPr lang="en-US" altLang="ko-KR" dirty="0"/>
              <a:t>simple, </a:t>
            </a:r>
            <a:r>
              <a:rPr lang="en-US" altLang="ko-KR" dirty="0" err="1"/>
              <a:t>npm</a:t>
            </a:r>
            <a:r>
              <a:rPr lang="en-US" altLang="ko-KR" dirty="0"/>
              <a:t> run worker : </a:t>
            </a:r>
            <a:r>
              <a:rPr lang="en-US" altLang="ko-KR" dirty="0" err="1"/>
              <a:t>dag</a:t>
            </a:r>
            <a:r>
              <a:rPr lang="en-US" altLang="ko-KR" dirty="0"/>
              <a:t>, </a:t>
            </a:r>
            <a:r>
              <a:rPr lang="en-US" altLang="ko-KR" dirty="0" err="1"/>
              <a:t>npm</a:t>
            </a:r>
            <a:r>
              <a:rPr lang="en-US" altLang="ko-KR" dirty="0"/>
              <a:t> run worker : retries</a:t>
            </a: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6C3FB-627E-3CDE-FFC5-8B13E172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30C6B51-EF78-786A-A4A2-79CD83296F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45660BF-3371-AABE-134C-B4055FC7F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38" y="1852167"/>
            <a:ext cx="7447327" cy="9812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19AFE88-7D30-45D8-CFF4-47F4ED2C2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81" y="3698113"/>
            <a:ext cx="8887626" cy="21368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1CADC27-FA1B-F136-782D-6FC132901B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674" y="3933129"/>
            <a:ext cx="8849169" cy="219431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97659ED-3890-1EEC-74D7-883216406B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681" y="4186504"/>
            <a:ext cx="8887625" cy="2073506"/>
          </a:xfrm>
          <a:prstGeom prst="rect">
            <a:avLst/>
          </a:prstGeom>
        </p:spPr>
      </p:pic>
      <p:pic>
        <p:nvPicPr>
          <p:cNvPr id="22" name="내용 개체 틀 6">
            <a:extLst>
              <a:ext uri="{FF2B5EF4-FFF2-40B4-BE49-F238E27FC236}">
                <a16:creationId xmlns:a16="http://schemas.microsoft.com/office/drawing/2014/main" id="{223C8F4F-CDF0-6C47-7679-2EA272AD81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019" y="3684597"/>
            <a:ext cx="8921811" cy="21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90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42C731AD-DF77-C8D1-8771-2EF42D01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35" y="1363203"/>
            <a:ext cx="10897089" cy="49846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B4E92C1-C50C-AFFB-4953-26A31E23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Examples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6C3FB-627E-3CDE-FFC5-8B13E172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30C6B51-EF78-786A-A4A2-79CD83296F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0ABCF077-DECE-9130-729A-BED0BC68F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4.npm run </a:t>
            </a:r>
            <a:r>
              <a:rPr lang="en-US" altLang="ko-KR" dirty="0" err="1"/>
              <a:t>example:event</a:t>
            </a:r>
            <a:r>
              <a:rPr lang="en-US" altLang="ko-KR" dirty="0"/>
              <a:t> - simple</a:t>
            </a:r>
          </a:p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43D9E08-FD0E-003C-4FF0-9D1727065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35" y="1372803"/>
            <a:ext cx="10944092" cy="508670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F1CF271-9495-784F-4026-A4ACDB9AD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36" y="1388427"/>
            <a:ext cx="10897090" cy="505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2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81766-94CC-346B-7C2E-DDF9FDF7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 Examples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16175-2F9B-9C0A-8592-9B5BCA384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5.npm run </a:t>
            </a:r>
            <a:r>
              <a:rPr lang="en-US" altLang="ko-KR" dirty="0" err="1"/>
              <a:t>example:event</a:t>
            </a:r>
            <a:r>
              <a:rPr lang="en-US" altLang="ko-KR" dirty="0"/>
              <a:t> - retries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4F67C-CD2B-4666-F7DF-DAD9A40A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B7AF36-518E-BD18-6171-139DA34E83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2E92D5-19BE-B17E-3ACE-6D7FAAFB7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86" y="1451672"/>
            <a:ext cx="10912754" cy="50699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0275052-2402-C9E8-F703-6E06135BB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17" y="1451672"/>
            <a:ext cx="10912754" cy="500040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8C9A026-6426-B950-1787-8B0436AC2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1919" y="1080655"/>
            <a:ext cx="5913000" cy="537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3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93D88-2A5D-EA52-6521-0A5A9BC6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F9AFB4-C528-B9EB-6009-B88C9E912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6.npm run </a:t>
            </a:r>
            <a:r>
              <a:rPr lang="en-US" altLang="ko-KR" dirty="0" err="1"/>
              <a:t>example:event</a:t>
            </a:r>
            <a:r>
              <a:rPr lang="en-US" altLang="ko-KR" dirty="0"/>
              <a:t> - </a:t>
            </a:r>
            <a:r>
              <a:rPr lang="en-US" altLang="ko-KR" dirty="0" err="1"/>
              <a:t>dag</a:t>
            </a: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8D57F5-A6E6-1DC0-2049-9B2B7F5E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528689B-3E1E-77F9-A55B-791E127B10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9B0409-6EA2-75FB-72F3-C88780D1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53" y="1469368"/>
            <a:ext cx="10912754" cy="50004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1544A61-F3C4-1533-7F6B-C2FA011A3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53" y="1469369"/>
            <a:ext cx="10912754" cy="49613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CD9EC37-5F10-5D93-3EBF-3F20D7DD4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93" y="1469367"/>
            <a:ext cx="10829941" cy="491861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88CDB51-CDCC-BAD6-E5F5-AFB36CEA8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52" y="1469365"/>
            <a:ext cx="10912753" cy="491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97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2F1F1-7683-A0FC-4258-8874AB12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Data?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91A8B7-35CD-317C-C47C-AA735B95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5BC2AB-A70C-BAFA-C62E-33D1F69736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765DB127-39CE-B1BF-AC2E-272437BF8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757" y="1589554"/>
            <a:ext cx="4972744" cy="4591691"/>
          </a:xfr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929F7B2-C5F0-FF7D-24BA-A2A65EC3A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589554"/>
            <a:ext cx="5479279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03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38A23-AD59-484B-B618-59293A578294}">
  <ds:schemaRefs>
    <ds:schemaRef ds:uri="http://schemas.microsoft.com/office/2006/metadata/properties"/>
    <ds:schemaRef ds:uri="http://schemas.microsoft.com/office/infopath/2007/PartnerControls"/>
    <ds:schemaRef ds:uri="bfe23552-e412-49a4-9529-4c360febdc1a"/>
    <ds:schemaRef ds:uri="ff4cacbd-dc2f-41c0-9cbc-53de60920d42"/>
  </ds:schemaRefs>
</ds:datastoreItem>
</file>

<file path=customXml/itemProps2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5226</TotalTime>
  <Words>607</Words>
  <Application>Microsoft Office PowerPoint</Application>
  <PresentationFormat>와이드스크린</PresentationFormat>
  <Paragraphs>124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noto</vt:lpstr>
      <vt:lpstr>se-nanumgothic</vt:lpstr>
      <vt:lpstr>맑은 고딕</vt:lpstr>
      <vt:lpstr>Arial</vt:lpstr>
      <vt:lpstr>Times New Roman</vt:lpstr>
      <vt:lpstr>세미나테마</vt:lpstr>
      <vt:lpstr>Hatchet</vt:lpstr>
      <vt:lpstr>목차</vt:lpstr>
      <vt:lpstr>Hatchet</vt:lpstr>
      <vt:lpstr>Hatchet-core</vt:lpstr>
      <vt:lpstr>Hatchet-core : Steps</vt:lpstr>
      <vt:lpstr>Hatchet-core : Workflows</vt:lpstr>
      <vt:lpstr>Hatchet-core : Worker</vt:lpstr>
      <vt:lpstr>Hatchet-core : Dashboard</vt:lpstr>
      <vt:lpstr>Hatchet-Ultra-low Latency and High Throughput Scheduling</vt:lpstr>
      <vt:lpstr>Hatchet-Concurrency, Fairness, and Rate Limiting</vt:lpstr>
      <vt:lpstr>Hatchet-Concurrency, Fairness, and Rate Limiting</vt:lpstr>
      <vt:lpstr>Hatchet-Resilience by Design</vt:lpstr>
      <vt:lpstr>Hatchet-Enhanced Visibility and Control</vt:lpstr>
      <vt:lpstr>설치 및 실행</vt:lpstr>
      <vt:lpstr>설치 및 실행</vt:lpstr>
      <vt:lpstr>설치 및 실행</vt:lpstr>
      <vt:lpstr>설치 및 실행</vt:lpstr>
      <vt:lpstr>Simple Examples</vt:lpstr>
      <vt:lpstr>Simple Examples</vt:lpstr>
      <vt:lpstr>Simple Examples</vt:lpstr>
      <vt:lpstr>PowerPoint 프레젠테이션</vt:lpstr>
      <vt:lpstr>Data?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25</cp:revision>
  <dcterms:created xsi:type="dcterms:W3CDTF">2023-07-06T03:52:26Z</dcterms:created>
  <dcterms:modified xsi:type="dcterms:W3CDTF">2024-04-08T00:27:43Z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