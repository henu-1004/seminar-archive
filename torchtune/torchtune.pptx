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58" r:id="rId6"/>
    <p:sldId id="277" r:id="rId7"/>
    <p:sldId id="272" r:id="rId8"/>
    <p:sldId id="268" r:id="rId9"/>
    <p:sldId id="278" r:id="rId10"/>
    <p:sldId id="279" r:id="rId11"/>
    <p:sldId id="282" r:id="rId12"/>
    <p:sldId id="280" r:id="rId13"/>
    <p:sldId id="281" r:id="rId14"/>
    <p:sldId id="269" r:id="rId15"/>
    <p:sldId id="270" r:id="rId16"/>
    <p:sldId id="284" r:id="rId17"/>
    <p:sldId id="283" r:id="rId18"/>
    <p:sldId id="285" r:id="rId19"/>
    <p:sldId id="286" r:id="rId20"/>
    <p:sldId id="288" r:id="rId21"/>
    <p:sldId id="287" r:id="rId22"/>
    <p:sldId id="26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8B003-28FF-4010-9D5A-AA47B32789CD}" v="23" dt="2024-01-17T09:27:20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96" d="100"/>
          <a:sy n="96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23:34:32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5653 185 24575,'-101'-3'0,"-152"-14"0,31 1 0,-867-21 0,995 34 0,-630-48 0,258 12 0,-437 21 0,701 18 0,154 1 0,-1 1 0,1 1 0,0 1 0,0 1 0,1 2 0,0 0 0,-45 12 0,23-1 0,1 1 0,1 2 0,-106 45 0,-53 33 0,181-77 0,3 2 0,-71 48 0,69-39 0,3 1 0,2 1 0,3 1 0,2 1 0,4 0 0,3 1 0,2 1 0,4 0 0,3 1 0,-16 67 0,21-19 0,7 1 0,19 119 0,-9-191 0,1 0 0,1-1 0,2 0 0,1 0 0,1 0 0,1 0 0,18 16 0,-6-9 0,2-1 0,2 0 0,60 37 0,-61-45 0,0-1 0,2 0 0,0-1 0,2-1 0,57 17 0,173 35 0,-219-54 0,269 54-260,599 73 0,353-21-260,-228-54-515,1076-17 1,2720-49 1034,-3180-24 0,1076-49 0,-1945 50-34,467-14 222,-1047 34 761,-1-4-1,279-38 0,717-78-829,-918 102-128,496-44 9,381-39 0,-926 84 0,-3-6 0,279-60 0,-121 19 0,-129 27 0,92-16 0,32-6 0,-349 62 0,70-17 0,-94 21 0,-1-1 0,0 0 0,0 0 0,0 1 0,0-1 0,0-1 0,-1 1 0,1 0 0,-1-1 0,0 1 0,0-1 0,-1 0 0,6-5 0,-8 6 0,0 0 0,-1 0 0,1-1 0,-1 1 0,0 0 0,0 0 0,0 0 0,-1 0 0,1 0 0,-1 0 0,0 0 0,0 0 0,0 0 0,0 0 0,-1 0 0,1 1 0,-1-1 0,0 0 0,0 0 0,0 1 0,-5-4 0,-8-5 0,0 1 0,-25-12 0,20 11 0,-85-42 0,-3 2 0,-4 4 0,-201-64 0,-386-85 0,663 185 0,-659-150 0,557 135 0,-3 3 0,-1 4 0,-165-9 0,-310 8 0,-5 21 0,287 0 0,-860-3-601,-1-25-1,-357-14 0,-5 22-288,905 12 761,-442-10 129,-416-4 0,-3010 18 907,2290 4-269,1264-2-724,932 0-6740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23:35:43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6T23:36:30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2024-05-27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2024-05-27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2.xml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3.xml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TorchTune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2024-05-27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98F6D39-BEF0-2188-26E8-D4D3C06A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68" y="2799472"/>
            <a:ext cx="457264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en-US" altLang="ko-KR" dirty="0" err="1"/>
              <a:t>PyTorch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en-US" altLang="ko-KR" dirty="0" err="1"/>
              <a:t>TorchTune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How</a:t>
            </a:r>
          </a:p>
          <a:p>
            <a:r>
              <a:rPr lang="en-US" altLang="ko-KR" dirty="0"/>
              <a:t>3. Tutorial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12942-4866-7F66-C634-47263590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Pytorch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D440E-46E9-52DB-ED45-FAAFBE06E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오픈소스 딥러닝 라이브러리</a:t>
            </a:r>
            <a:endParaRPr lang="en-US" altLang="ko-KR" dirty="0"/>
          </a:p>
          <a:p>
            <a:r>
              <a:rPr lang="ko-KR" altLang="en-US" dirty="0"/>
              <a:t>다양한 인공지능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ko-KR" altLang="en-US" dirty="0"/>
              <a:t> 작업을 수행</a:t>
            </a:r>
            <a:endParaRPr lang="en-US" altLang="ko-KR" dirty="0"/>
          </a:p>
          <a:p>
            <a:r>
              <a:rPr lang="ko-KR" altLang="en-US" dirty="0"/>
              <a:t>양자화</a:t>
            </a:r>
            <a:r>
              <a:rPr lang="en-US" altLang="ko-KR" dirty="0"/>
              <a:t>, </a:t>
            </a:r>
            <a:r>
              <a:rPr lang="ko-KR" altLang="en-US" dirty="0" err="1"/>
              <a:t>자동미분</a:t>
            </a:r>
            <a:r>
              <a:rPr lang="en-US" altLang="ko-KR" dirty="0"/>
              <a:t>, </a:t>
            </a:r>
            <a:r>
              <a:rPr lang="ko-KR" altLang="en-US" dirty="0"/>
              <a:t>대규모데이터처리</a:t>
            </a:r>
            <a:r>
              <a:rPr lang="en-US" altLang="ko-KR" dirty="0"/>
              <a:t>, </a:t>
            </a:r>
            <a:r>
              <a:rPr lang="en-US" altLang="ko-KR" dirty="0" err="1"/>
              <a:t>gpu</a:t>
            </a:r>
            <a:r>
              <a:rPr lang="ko-KR" altLang="en-US" dirty="0"/>
              <a:t>가속</a:t>
            </a:r>
            <a:r>
              <a:rPr lang="en-US" altLang="ko-KR" dirty="0"/>
              <a:t>, </a:t>
            </a:r>
            <a:r>
              <a:rPr lang="ko-KR" altLang="en-US" dirty="0"/>
              <a:t>모듈형 </a:t>
            </a:r>
            <a:r>
              <a:rPr lang="ko-KR" altLang="en-US" dirty="0" err="1"/>
              <a:t>설계등의</a:t>
            </a:r>
            <a:r>
              <a:rPr lang="ko-KR" altLang="en-US" dirty="0"/>
              <a:t> 장점</a:t>
            </a:r>
            <a:endParaRPr lang="en-US" altLang="ko-KR" dirty="0"/>
          </a:p>
          <a:p>
            <a:r>
              <a:rPr lang="en-US" altLang="ko-KR" dirty="0" err="1"/>
              <a:t>Numpy</a:t>
            </a:r>
            <a:r>
              <a:rPr lang="ko-KR" altLang="en-US" dirty="0"/>
              <a:t>의 </a:t>
            </a:r>
            <a:r>
              <a:rPr lang="en-US" altLang="ko-KR" dirty="0" err="1"/>
              <a:t>ndarray</a:t>
            </a:r>
            <a:r>
              <a:rPr lang="en-US" altLang="ko-KR" dirty="0"/>
              <a:t>(n-dimensional array)</a:t>
            </a:r>
            <a:r>
              <a:rPr lang="ko-KR" altLang="en-US" dirty="0"/>
              <a:t>를 </a:t>
            </a:r>
            <a:r>
              <a:rPr lang="en-US" altLang="ko-KR" dirty="0"/>
              <a:t>tensor</a:t>
            </a:r>
            <a:r>
              <a:rPr lang="ko-KR" altLang="en-US" dirty="0"/>
              <a:t>로 대체가능</a:t>
            </a:r>
            <a:endParaRPr lang="en-US" altLang="ko-KR" dirty="0"/>
          </a:p>
          <a:p>
            <a:pPr lvl="1"/>
            <a:r>
              <a:rPr lang="en-US" altLang="ko-KR" dirty="0"/>
              <a:t>Tensor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1.</a:t>
            </a:r>
            <a:r>
              <a:rPr lang="ko-KR" altLang="en-US" dirty="0"/>
              <a:t>하드웨어가속</a:t>
            </a:r>
            <a:r>
              <a:rPr lang="en-US" altLang="ko-KR" dirty="0"/>
              <a:t>(</a:t>
            </a:r>
            <a:r>
              <a:rPr lang="en-US" altLang="ko-KR" dirty="0" err="1"/>
              <a:t>gpu</a:t>
            </a:r>
            <a:r>
              <a:rPr lang="ko-KR" altLang="en-US" dirty="0"/>
              <a:t>에서 </a:t>
            </a:r>
            <a:r>
              <a:rPr lang="ko-KR" altLang="en-US" dirty="0" err="1"/>
              <a:t>처리가능하도록</a:t>
            </a:r>
            <a:r>
              <a:rPr lang="ko-KR" altLang="en-US" dirty="0"/>
              <a:t> 설계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2.</a:t>
            </a:r>
            <a:r>
              <a:rPr lang="ko-KR" altLang="en-US" dirty="0" err="1"/>
              <a:t>자동미분</a:t>
            </a:r>
            <a:r>
              <a:rPr lang="ko-KR" altLang="en-US" dirty="0"/>
              <a:t> 지원</a:t>
            </a:r>
            <a:endParaRPr lang="en-US" altLang="ko-KR" dirty="0"/>
          </a:p>
          <a:p>
            <a:pPr lvl="1"/>
            <a:r>
              <a:rPr lang="en-US" altLang="ko-KR" dirty="0"/>
              <a:t>3.</a:t>
            </a:r>
            <a:r>
              <a:rPr lang="ko-KR" altLang="en-US" dirty="0"/>
              <a:t>다차원 데이터 지원 등</a:t>
            </a:r>
            <a:endParaRPr lang="en-US" altLang="ko-KR" dirty="0"/>
          </a:p>
          <a:p>
            <a:pPr lvl="1"/>
            <a:r>
              <a:rPr lang="en-US" altLang="ko-KR" dirty="0"/>
              <a:t>&gt;&gt;AI</a:t>
            </a:r>
            <a:r>
              <a:rPr lang="ko-KR" altLang="en-US" dirty="0"/>
              <a:t>에 특화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Fine-Tuning : </a:t>
            </a:r>
            <a:r>
              <a:rPr lang="ko-KR" altLang="en-US" dirty="0"/>
              <a:t>미세조정</a:t>
            </a:r>
            <a:endParaRPr lang="en-US" altLang="ko-KR" dirty="0"/>
          </a:p>
          <a:p>
            <a:pPr lvl="1"/>
            <a:r>
              <a:rPr lang="ko-KR" altLang="en-US" dirty="0" err="1"/>
              <a:t>사전학습된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의 가중치를 새로운 데이터에 맞게 세밀조정</a:t>
            </a:r>
            <a:r>
              <a:rPr lang="en-US" altLang="ko-KR" dirty="0"/>
              <a:t> 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1"/>
            <a:r>
              <a:rPr lang="en-US" altLang="ko-KR" dirty="0"/>
              <a:t>&gt;&gt;</a:t>
            </a:r>
            <a:r>
              <a:rPr lang="ko-KR" altLang="en-US" dirty="0"/>
              <a:t>성능 향상</a:t>
            </a:r>
            <a:r>
              <a:rPr lang="en-US" altLang="ko-KR" dirty="0"/>
              <a:t>, </a:t>
            </a:r>
            <a:r>
              <a:rPr lang="ko-KR" altLang="en-US" dirty="0"/>
              <a:t>학습시간이 줆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3B146C-1D9A-7491-4FF2-E3E7CB69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91DE381-7FE0-2425-8ECA-6E01AA5782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C67267-814D-8311-83DB-41633A18C19E}"/>
              </a:ext>
            </a:extLst>
          </p:cNvPr>
          <p:cNvSpPr/>
          <p:nvPr/>
        </p:nvSpPr>
        <p:spPr>
          <a:xfrm>
            <a:off x="4580494" y="5393170"/>
            <a:ext cx="1282700" cy="768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동물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분류 모델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3616F0B-0844-2BEF-5AC2-006B6259B870}"/>
              </a:ext>
            </a:extLst>
          </p:cNvPr>
          <p:cNvSpPr/>
          <p:nvPr/>
        </p:nvSpPr>
        <p:spPr>
          <a:xfrm>
            <a:off x="3071833" y="5516995"/>
            <a:ext cx="1225550" cy="5207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D0CF85-DFBC-9CAD-191D-FD5219C68774}"/>
              </a:ext>
            </a:extLst>
          </p:cNvPr>
          <p:cNvSpPr/>
          <p:nvPr/>
        </p:nvSpPr>
        <p:spPr>
          <a:xfrm>
            <a:off x="1498600" y="5394325"/>
            <a:ext cx="1282700" cy="768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일반 이미지 분류 모델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5D44E-F6C0-336F-DF65-0BABB5859983}"/>
              </a:ext>
            </a:extLst>
          </p:cNvPr>
          <p:cNvSpPr txBox="1"/>
          <p:nvPr/>
        </p:nvSpPr>
        <p:spPr>
          <a:xfrm>
            <a:off x="2926814" y="5208504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Fine- Tuning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8B31AC-DF49-6901-6FFD-3BD9C52D0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163" y="1317644"/>
            <a:ext cx="3972055" cy="23111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493360-9D6E-107A-FAC6-2FAB5AC459E5}"/>
              </a:ext>
            </a:extLst>
          </p:cNvPr>
          <p:cNvSpPr txBox="1"/>
          <p:nvPr/>
        </p:nvSpPr>
        <p:spPr>
          <a:xfrm>
            <a:off x="9750085" y="3542632"/>
            <a:ext cx="113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양자화</a:t>
            </a:r>
            <a:endParaRPr lang="en-US" altLang="ko-KR" dirty="0"/>
          </a:p>
          <a:p>
            <a:r>
              <a:rPr lang="en-US" altLang="ko-KR" dirty="0" err="1"/>
              <a:t>TorchAO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51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TorchTune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5FA88-CA38-3A12-7B2F-BBEDAE58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TorchTune</a:t>
            </a:r>
            <a:r>
              <a:rPr lang="en-US" altLang="ko-KR" dirty="0"/>
              <a:t> : </a:t>
            </a:r>
            <a:r>
              <a:rPr lang="en-US" altLang="ko-KR" b="1" dirty="0" err="1"/>
              <a:t>PyTorch</a:t>
            </a:r>
            <a:r>
              <a:rPr lang="ko-KR" altLang="en-US" b="1" dirty="0"/>
              <a:t> 기반의</a:t>
            </a:r>
            <a:r>
              <a:rPr lang="ko-KR" altLang="en-US" dirty="0"/>
              <a:t>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 튜닝도구</a:t>
            </a:r>
            <a:endParaRPr lang="en-US" altLang="ko-KR" dirty="0"/>
          </a:p>
          <a:p>
            <a:r>
              <a:rPr lang="ko-KR" altLang="en-US" dirty="0"/>
              <a:t>그 중 </a:t>
            </a:r>
            <a:r>
              <a:rPr lang="en-US" altLang="ko-KR" dirty="0"/>
              <a:t>LLM </a:t>
            </a:r>
            <a:r>
              <a:rPr lang="ko-KR" altLang="en-US" b="1" dirty="0" err="1"/>
              <a:t>파인튜닝을</a:t>
            </a:r>
            <a:r>
              <a:rPr lang="ko-KR" altLang="en-US" b="1" dirty="0"/>
              <a:t> 위한 </a:t>
            </a:r>
            <a:r>
              <a:rPr lang="en-US" altLang="ko-KR" dirty="0" err="1"/>
              <a:t>PyTorch</a:t>
            </a:r>
            <a:r>
              <a:rPr lang="en-US" altLang="ko-KR" dirty="0"/>
              <a:t>-Native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r>
              <a:rPr lang="ko-KR" altLang="en-US" b="1" dirty="0"/>
              <a:t>장점</a:t>
            </a:r>
            <a:endParaRPr lang="en-US" altLang="ko-KR" b="1" dirty="0"/>
          </a:p>
          <a:p>
            <a:r>
              <a:rPr lang="ko-KR" altLang="en-US" dirty="0"/>
              <a:t>쉬운 </a:t>
            </a:r>
            <a:r>
              <a:rPr lang="ko-KR" altLang="en-US" dirty="0" err="1"/>
              <a:t>파인튜닝</a:t>
            </a:r>
            <a:endParaRPr lang="en-US" altLang="ko-KR" dirty="0"/>
          </a:p>
          <a:p>
            <a:r>
              <a:rPr lang="ko-KR" altLang="en-US" dirty="0"/>
              <a:t>전체 </a:t>
            </a:r>
            <a:r>
              <a:rPr lang="ko-KR" altLang="en-US" dirty="0" err="1"/>
              <a:t>파인튜닝</a:t>
            </a:r>
            <a:r>
              <a:rPr lang="ko-KR" altLang="en-US" dirty="0"/>
              <a:t> 과정</a:t>
            </a:r>
            <a:r>
              <a:rPr lang="en-US" altLang="ko-KR" dirty="0"/>
              <a:t>(workflow)</a:t>
            </a:r>
            <a:r>
              <a:rPr lang="ko-KR" altLang="en-US" dirty="0"/>
              <a:t>를 한꺼번에 지원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Ex_</a:t>
            </a:r>
            <a:r>
              <a:rPr lang="ko-KR" altLang="en-US" dirty="0"/>
              <a:t>모델준비</a:t>
            </a:r>
            <a:r>
              <a:rPr lang="en-US" altLang="ko-KR" dirty="0"/>
              <a:t>, </a:t>
            </a:r>
            <a:r>
              <a:rPr lang="ko-KR" altLang="en-US" dirty="0" err="1"/>
              <a:t>파인튜닝</a:t>
            </a:r>
            <a:r>
              <a:rPr lang="en-US" altLang="ko-KR" dirty="0"/>
              <a:t>, </a:t>
            </a:r>
            <a:r>
              <a:rPr lang="ko-KR" altLang="en-US" dirty="0"/>
              <a:t>평가 등</a:t>
            </a:r>
            <a:endParaRPr lang="en-US" altLang="ko-KR" dirty="0"/>
          </a:p>
          <a:p>
            <a:r>
              <a:rPr lang="ko-KR" altLang="en-US" dirty="0" err="1"/>
              <a:t>모듈식</a:t>
            </a:r>
            <a:r>
              <a:rPr lang="ko-KR" altLang="en-US" dirty="0"/>
              <a:t> 구성요소</a:t>
            </a:r>
            <a:endParaRPr lang="en-US" altLang="ko-KR" dirty="0"/>
          </a:p>
          <a:p>
            <a:r>
              <a:rPr lang="ko-KR" altLang="en-US" dirty="0"/>
              <a:t>별도의 학습 라이브러리 </a:t>
            </a:r>
            <a:r>
              <a:rPr lang="en-US" altLang="ko-KR" dirty="0"/>
              <a:t>X: </a:t>
            </a:r>
            <a:r>
              <a:rPr lang="en-US" altLang="ko-KR" dirty="0" err="1"/>
              <a:t>PyTorch</a:t>
            </a:r>
            <a:r>
              <a:rPr lang="ko-KR" altLang="en-US" dirty="0"/>
              <a:t>만을 사용하여 </a:t>
            </a:r>
            <a:r>
              <a:rPr lang="ko-KR" altLang="en-US" dirty="0" err="1"/>
              <a:t>파인튜닝</a:t>
            </a:r>
            <a:r>
              <a:rPr lang="ko-KR" altLang="en-US" dirty="0"/>
              <a:t> 가능</a:t>
            </a:r>
            <a:endParaRPr lang="en-US" altLang="ko-KR" dirty="0"/>
          </a:p>
          <a:p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Hugging Face Hub,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PyTorch</a:t>
            </a:r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FSDP, Weights &amp; Biases </a:t>
            </a:r>
            <a:r>
              <a:rPr lang="ko-KR" alt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등 인기 있는 </a:t>
            </a:r>
            <a:r>
              <a:rPr lang="ko-KR" alt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도구들과의</a:t>
            </a:r>
            <a:r>
              <a:rPr lang="ko-KR" alt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통합을 제공</a:t>
            </a:r>
            <a:endParaRPr lang="en-US" altLang="ko-KR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40A5752-5A94-0AA5-3856-AFD15109A1EA}"/>
              </a:ext>
            </a:extLst>
          </p:cNvPr>
          <p:cNvGrpSpPr/>
          <p:nvPr/>
        </p:nvGrpSpPr>
        <p:grpSpPr>
          <a:xfrm>
            <a:off x="3263224" y="4466214"/>
            <a:ext cx="5748678" cy="1883071"/>
            <a:chOff x="722829" y="3587003"/>
            <a:chExt cx="4425509" cy="219034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8A7A5C-8F81-8C99-A061-B29AE7AECA60}"/>
                </a:ext>
              </a:extLst>
            </p:cNvPr>
            <p:cNvSpPr/>
            <p:nvPr/>
          </p:nvSpPr>
          <p:spPr>
            <a:xfrm>
              <a:off x="722829" y="5008995"/>
              <a:ext cx="1282700" cy="768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LLM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9FE28ADC-DACD-BF16-8BCC-CDA06C5E5B62}"/>
                </a:ext>
              </a:extLst>
            </p:cNvPr>
            <p:cNvSpPr/>
            <p:nvPr/>
          </p:nvSpPr>
          <p:spPr>
            <a:xfrm>
              <a:off x="2151043" y="5127028"/>
              <a:ext cx="1225550" cy="52070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848DF7-46AD-E295-7B19-459CBD11EBF3}"/>
                </a:ext>
              </a:extLst>
            </p:cNvPr>
            <p:cNvSpPr txBox="1"/>
            <p:nvPr/>
          </p:nvSpPr>
          <p:spPr>
            <a:xfrm>
              <a:off x="2254855" y="3587003"/>
              <a:ext cx="174625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TorchTune</a:t>
              </a:r>
              <a:endParaRPr lang="en-US" altLang="ko-K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0E8D9F-E0C2-FBB8-6CE9-526709447215}"/>
                </a:ext>
              </a:extLst>
            </p:cNvPr>
            <p:cNvSpPr txBox="1"/>
            <p:nvPr/>
          </p:nvSpPr>
          <p:spPr>
            <a:xfrm>
              <a:off x="2123611" y="4639663"/>
              <a:ext cx="1746250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Fine- Tuning</a:t>
              </a:r>
              <a:endParaRPr lang="ko-KR" altLang="en-US" dirty="0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74F11D1-3178-E72E-0F9B-4290AFA78EEE}"/>
                </a:ext>
              </a:extLst>
            </p:cNvPr>
            <p:cNvCxnSpPr/>
            <p:nvPr/>
          </p:nvCxnSpPr>
          <p:spPr>
            <a:xfrm>
              <a:off x="2692400" y="3956335"/>
              <a:ext cx="0" cy="6833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2AC0D62-EA84-AA36-4F10-39ED3CFF0E7C}"/>
                </a:ext>
              </a:extLst>
            </p:cNvPr>
            <p:cNvSpPr txBox="1"/>
            <p:nvPr/>
          </p:nvSpPr>
          <p:spPr>
            <a:xfrm>
              <a:off x="2837915" y="4086945"/>
              <a:ext cx="23104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0" i="0" dirty="0">
                  <a:solidFill>
                    <a:srgbClr val="000000"/>
                  </a:solidFill>
                  <a:effectLst/>
                  <a:highlight>
                    <a:srgbClr val="FFFFFF"/>
                  </a:highlight>
                  <a:latin typeface="-apple-system"/>
                </a:rPr>
                <a:t>Make it easier. Simple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85CBCD0-DA91-6C6B-1BD0-BA499F233A74}"/>
                </a:ext>
              </a:extLst>
            </p:cNvPr>
            <p:cNvSpPr/>
            <p:nvPr/>
          </p:nvSpPr>
          <p:spPr>
            <a:xfrm>
              <a:off x="3546917" y="5008995"/>
              <a:ext cx="1282700" cy="7683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Fine-Tuned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LLM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869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Weights &amp; Biases Announces W&amp;B Prompts Launch Following $50M Investment  Round">
            <a:extLst>
              <a:ext uri="{FF2B5EF4-FFF2-40B4-BE49-F238E27FC236}">
                <a16:creationId xmlns:a16="http://schemas.microsoft.com/office/drawing/2014/main" id="{0470F6F4-C4D6-1E4F-1AB3-D5960A188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580" y="2537228"/>
            <a:ext cx="1799820" cy="107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E0F1565-21B5-C435-F99D-39816080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TorchTune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BAAE36-DE57-CE6B-7500-084B15DE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Hugging Face Hub </a:t>
            </a:r>
          </a:p>
          <a:p>
            <a:pPr lvl="1"/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AI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모델을 공유</a:t>
            </a:r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협업</a:t>
            </a:r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탐색하는 플랫폼</a:t>
            </a:r>
            <a:endParaRPr lang="en-US" altLang="ko-KR" sz="1600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pPr lvl="1"/>
            <a:endParaRPr lang="en-US" altLang="ko-KR" sz="1600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r>
              <a:rPr lang="en-US" altLang="ko-KR" dirty="0" err="1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PyTorch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 FSDP(Fully Sharded Data Parallel) </a:t>
            </a:r>
          </a:p>
          <a:p>
            <a:pPr lvl="1"/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FSDP :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대규모 모델을 다수의 </a:t>
            </a:r>
            <a:r>
              <a:rPr lang="en-US" altLang="ko-KR" sz="1600" dirty="0" err="1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gpu</a:t>
            </a:r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계산장치에 분산하여 효율적 학습 수행</a:t>
            </a:r>
            <a:endParaRPr lang="en-US" altLang="ko-KR" sz="1600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pPr lvl="1"/>
            <a:endParaRPr lang="en-US" altLang="ko-KR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Weights &amp; Biases </a:t>
            </a:r>
          </a:p>
          <a:p>
            <a:pPr lvl="1"/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모델의 학습과정</a:t>
            </a:r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결과</a:t>
            </a:r>
            <a:r>
              <a:rPr lang="en-US" altLang="ko-KR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, </a:t>
            </a:r>
            <a:r>
              <a:rPr lang="ko-KR" altLang="en-US" sz="1600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구성을 시각적으로 모니터링</a:t>
            </a:r>
            <a:endParaRPr lang="en-US" altLang="ko-KR" sz="1600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pPr lvl="1"/>
            <a:endParaRPr lang="en-US" altLang="ko-KR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DD177-D0D3-0E7B-4CA3-044FFB99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81AB85-47A4-EF96-20D3-1AC3D5954F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026" name="Picture 2" descr="Brand assets - Hugging Face">
            <a:extLst>
              <a:ext uri="{FF2B5EF4-FFF2-40B4-BE49-F238E27FC236}">
                <a16:creationId xmlns:a16="http://schemas.microsoft.com/office/drawing/2014/main" id="{46A0C088-4E82-76A0-09D5-1D81E81D7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920" y="903357"/>
            <a:ext cx="3236830" cy="86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arning PyTorch: Modules. This blog post is part of the series… | by  Dagang Wei | Medium">
            <a:extLst>
              <a:ext uri="{FF2B5EF4-FFF2-40B4-BE49-F238E27FC236}">
                <a16:creationId xmlns:a16="http://schemas.microsoft.com/office/drawing/2014/main" id="{6D89DC4D-F6FB-641E-AA89-96FF2D426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686836"/>
            <a:ext cx="2635250" cy="131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885E8A-59C8-99B7-0B43-E25CEEF0A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424" y="1033226"/>
            <a:ext cx="7801552" cy="516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5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D0A83-0439-DFBB-EB6C-FA2408D1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67E88-F414-23F4-3AEE-4C9FFCE5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Checkpointing</a:t>
            </a:r>
          </a:p>
          <a:p>
            <a:r>
              <a:rPr lang="en-US" altLang="ko-KR" dirty="0"/>
              <a:t>Configs &amp; CLI</a:t>
            </a:r>
          </a:p>
          <a:p>
            <a:r>
              <a:rPr lang="en-US" altLang="ko-KR" dirty="0"/>
              <a:t>Recipes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DD847-2B48-7637-532E-BAB22DF3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13E9EC6-0110-FC1F-BBE1-2DC08E4A4F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72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915C7-DA66-843D-1CD3-9FD69AD24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Checkpointing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E3A06-2FA2-8BC3-4A34-CF86348F9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State-</a:t>
            </a:r>
            <a:r>
              <a:rPr lang="en-US" altLang="ko-KR" dirty="0" err="1"/>
              <a:t>dict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/>
              <a:t>모델의 매개변수</a:t>
            </a:r>
            <a:r>
              <a:rPr lang="en-US" altLang="ko-KR" dirty="0"/>
              <a:t>(</a:t>
            </a:r>
            <a:r>
              <a:rPr lang="ko-KR" altLang="en-US" dirty="0"/>
              <a:t>가중치 및 편향</a:t>
            </a:r>
            <a:r>
              <a:rPr lang="en-US" altLang="ko-KR" dirty="0"/>
              <a:t>)</a:t>
            </a:r>
            <a:r>
              <a:rPr lang="ko-KR" altLang="en-US" dirty="0"/>
              <a:t> 즉 상태를 포함하는 사전</a:t>
            </a:r>
            <a:endParaRPr lang="en-US" altLang="ko-KR" dirty="0"/>
          </a:p>
          <a:p>
            <a:r>
              <a:rPr lang="en-US" altLang="ko-KR" dirty="0"/>
              <a:t>Checkpoint</a:t>
            </a:r>
            <a:r>
              <a:rPr lang="ko-KR" altLang="en-US" dirty="0"/>
              <a:t>는 </a:t>
            </a:r>
            <a:r>
              <a:rPr lang="en-US" altLang="ko-KR" dirty="0"/>
              <a:t>State-</a:t>
            </a:r>
            <a:r>
              <a:rPr lang="en-US" altLang="ko-KR" dirty="0" err="1"/>
              <a:t>dict</a:t>
            </a:r>
            <a:r>
              <a:rPr lang="ko-KR" altLang="en-US" dirty="0"/>
              <a:t>에 의해 결정</a:t>
            </a:r>
            <a:endParaRPr lang="en-US" altLang="ko-KR" dirty="0"/>
          </a:p>
          <a:p>
            <a:r>
              <a:rPr lang="en-US" altLang="ko-KR" dirty="0"/>
              <a:t>Checkpoint?</a:t>
            </a:r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의 학습과정 중 모델의 상태를 저장한 파일</a:t>
            </a:r>
            <a:endParaRPr lang="en-US" altLang="ko-KR" dirty="0"/>
          </a:p>
          <a:p>
            <a:pPr lvl="1"/>
            <a:r>
              <a:rPr lang="ko-KR" altLang="en-US" dirty="0"/>
              <a:t>중간에 학습이 중단되더라도 이어서 학습 가능하도록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State-</a:t>
            </a:r>
            <a:r>
              <a:rPr lang="en-US" altLang="ko-KR" dirty="0" err="1"/>
              <a:t>dict</a:t>
            </a:r>
            <a:r>
              <a:rPr lang="en-US" altLang="ko-KR" dirty="0"/>
              <a:t> Invariant-</a:t>
            </a:r>
            <a:r>
              <a:rPr lang="ko-KR" altLang="en-US" dirty="0"/>
              <a:t>상태 불변성</a:t>
            </a:r>
            <a:endParaRPr lang="en-US" altLang="ko-KR" dirty="0"/>
          </a:p>
          <a:p>
            <a:pPr lvl="1"/>
            <a:r>
              <a:rPr lang="ko-KR" altLang="en-US" dirty="0"/>
              <a:t>불러올 때 다양한 형식의 체크포인트를 해당 형식으로 받아들임</a:t>
            </a:r>
            <a:endParaRPr lang="en-US" altLang="ko-KR" dirty="0"/>
          </a:p>
          <a:p>
            <a:pPr lvl="1"/>
            <a:r>
              <a:rPr lang="ko-KR" altLang="en-US" dirty="0"/>
              <a:t>저장할 때 소스와 동일한 형식으로 체크포인트를 생성</a:t>
            </a:r>
            <a:endParaRPr lang="en-US" altLang="ko-KR" dirty="0"/>
          </a:p>
          <a:p>
            <a:pPr lvl="1"/>
            <a:r>
              <a:rPr lang="en-US" altLang="ko-KR" dirty="0"/>
              <a:t>&gt;&gt;State-</a:t>
            </a:r>
            <a:r>
              <a:rPr lang="en-US" altLang="ko-KR" dirty="0" err="1"/>
              <a:t>dict</a:t>
            </a:r>
            <a:r>
              <a:rPr lang="ko-KR" altLang="en-US" dirty="0"/>
              <a:t>의 키와 구조를 변환하지 않고 그대로 유지하는 특성</a:t>
            </a:r>
            <a:endParaRPr lang="en-US" altLang="ko-KR" dirty="0"/>
          </a:p>
          <a:p>
            <a:pPr lvl="1"/>
            <a:r>
              <a:rPr lang="ko-KR" altLang="en-US" dirty="0"/>
              <a:t>사용자는 체크포인트 형식에 맞춰 불필요한 작업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convert_weights.py</a:t>
            </a:r>
            <a:r>
              <a:rPr lang="ko-KR" altLang="en-US" dirty="0"/>
              <a:t>라는 코드로 구현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1AD24B-51A1-26FC-2EC8-237B3EAB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5138251-9648-D134-5B38-040256279A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 dirty="0"/>
          </a:p>
        </p:txBody>
      </p:sp>
      <p:pic>
        <p:nvPicPr>
          <p:cNvPr id="2050" name="Picture 2" descr="업로드한 이미지">
            <a:extLst>
              <a:ext uri="{FF2B5EF4-FFF2-40B4-BE49-F238E27FC236}">
                <a16:creationId xmlns:a16="http://schemas.microsoft.com/office/drawing/2014/main" id="{D9369550-B0D0-E264-DE82-635A50790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9" y="1629289"/>
            <a:ext cx="4989512" cy="383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73D178-10B6-ABCC-CAB7-B09CCF4B5CBC}"/>
              </a:ext>
            </a:extLst>
          </p:cNvPr>
          <p:cNvSpPr txBox="1"/>
          <p:nvPr/>
        </p:nvSpPr>
        <p:spPr>
          <a:xfrm>
            <a:off x="6355814" y="1188067"/>
            <a:ext cx="174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MetaCheckpoint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573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36E1B-E7B1-C40B-0322-4E25B2A7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Checkpointing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87BD86-4F72-5728-4A99-4BF89DE0D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Meta Format-Llama2</a:t>
            </a:r>
            <a:r>
              <a:rPr lang="ko-KR" altLang="en-US" dirty="0"/>
              <a:t> 키 개수 </a:t>
            </a:r>
            <a:r>
              <a:rPr lang="en-US" altLang="ko-KR" dirty="0"/>
              <a:t>: 292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HF Format-Llama2 </a:t>
            </a:r>
            <a:r>
              <a:rPr lang="ko-KR" altLang="en-US" dirty="0"/>
              <a:t>키 개수 </a:t>
            </a:r>
            <a:r>
              <a:rPr lang="en-US" altLang="ko-KR" dirty="0"/>
              <a:t>: 241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심지어 같은 모델이어도 </a:t>
            </a:r>
            <a:r>
              <a:rPr lang="ko-KR" altLang="en-US" dirty="0" err="1"/>
              <a:t>포멧에</a:t>
            </a:r>
            <a:r>
              <a:rPr lang="ko-KR" altLang="en-US" dirty="0"/>
              <a:t> 따라 키의 개수가 다름</a:t>
            </a:r>
            <a:endParaRPr lang="en-US" altLang="ko-KR" dirty="0"/>
          </a:p>
          <a:p>
            <a:r>
              <a:rPr lang="en-US" altLang="ko-KR" dirty="0"/>
              <a:t>&gt;&gt;</a:t>
            </a:r>
            <a:r>
              <a:rPr lang="en-US" altLang="ko-KR" dirty="0" err="1"/>
              <a:t>torchtune</a:t>
            </a:r>
            <a:r>
              <a:rPr lang="ko-KR" altLang="en-US" dirty="0"/>
              <a:t>의 상태불변성 특징을 통해 해결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D1FEA8-D3E9-7AF3-0BD9-36F54B0A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D8272A-215E-D58B-FED9-8F73EC20EE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384BB6-0B87-8A83-79AC-42665BCAE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3296927"/>
            <a:ext cx="5651501" cy="11214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934BB0E-497F-05F1-F62A-292988130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1392305"/>
            <a:ext cx="5651501" cy="104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6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FE56B-26D6-DEB8-B09E-2E74CAFC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Checkpointing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B41BA-CBD4-0440-A77B-7611550FF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Component : </a:t>
            </a:r>
            <a:r>
              <a:rPr lang="ko-KR" altLang="en-US" dirty="0" err="1"/>
              <a:t>체크포인터</a:t>
            </a:r>
            <a:r>
              <a:rPr lang="ko-KR" altLang="en-US" dirty="0"/>
              <a:t> 종류지정</a:t>
            </a:r>
            <a:endParaRPr lang="en-US" altLang="ko-KR" dirty="0"/>
          </a:p>
          <a:p>
            <a:r>
              <a:rPr lang="en-US" altLang="ko-KR" dirty="0" err="1"/>
              <a:t>Checkpoint_dir</a:t>
            </a:r>
            <a:r>
              <a:rPr lang="en-US" altLang="ko-KR" dirty="0"/>
              <a:t> : </a:t>
            </a:r>
            <a:r>
              <a:rPr lang="ko-KR" altLang="en-US" dirty="0"/>
              <a:t>체크포인트 파일이 포함된 디렉토리</a:t>
            </a:r>
            <a:endParaRPr lang="en-US" altLang="ko-KR" dirty="0"/>
          </a:p>
          <a:p>
            <a:r>
              <a:rPr lang="en-US" altLang="ko-KR" dirty="0" err="1"/>
              <a:t>Checkpoint_files</a:t>
            </a:r>
            <a:r>
              <a:rPr lang="en-US" altLang="ko-KR" dirty="0"/>
              <a:t> : </a:t>
            </a:r>
            <a:r>
              <a:rPr lang="ko-KR" altLang="en-US" dirty="0"/>
              <a:t>체크포인트 파일들의 목록</a:t>
            </a:r>
            <a:endParaRPr lang="en-US" altLang="ko-KR" dirty="0"/>
          </a:p>
          <a:p>
            <a:r>
              <a:rPr lang="en-US" altLang="ko-KR" dirty="0"/>
              <a:t>Adapter_ checkpoint : </a:t>
            </a:r>
            <a:r>
              <a:rPr lang="ko-KR" altLang="en-US" dirty="0"/>
              <a:t>어댑터 가중치 파일</a:t>
            </a:r>
            <a:endParaRPr lang="en-US" altLang="ko-KR" dirty="0"/>
          </a:p>
          <a:p>
            <a:r>
              <a:rPr lang="en-US" altLang="ko-KR" dirty="0"/>
              <a:t>Recipe_ checkpoint : </a:t>
            </a:r>
            <a:r>
              <a:rPr lang="ko-KR" altLang="en-US" dirty="0"/>
              <a:t>훈련 상태를 저장한 파일</a:t>
            </a:r>
            <a:endParaRPr lang="en-US" altLang="ko-KR" dirty="0"/>
          </a:p>
          <a:p>
            <a:r>
              <a:rPr lang="en-US" altLang="ko-KR" dirty="0" err="1"/>
              <a:t>Output_dir</a:t>
            </a:r>
            <a:r>
              <a:rPr lang="en-US" altLang="ko-KR" dirty="0"/>
              <a:t> : </a:t>
            </a:r>
            <a:r>
              <a:rPr lang="ko-KR" altLang="en-US" dirty="0"/>
              <a:t>훈련완료 후 최종 가중치를 포함한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                  </a:t>
            </a:r>
            <a:r>
              <a:rPr lang="ko-KR" altLang="en-US" dirty="0"/>
              <a:t>체크포인트 파일들을 저장 하는 디렉토리</a:t>
            </a:r>
            <a:endParaRPr lang="en-US" altLang="ko-KR" dirty="0"/>
          </a:p>
          <a:p>
            <a:r>
              <a:rPr lang="en-US" altLang="ko-KR" dirty="0" err="1"/>
              <a:t>Model_type</a:t>
            </a:r>
            <a:r>
              <a:rPr lang="en-US" altLang="ko-KR" dirty="0"/>
              <a:t> : </a:t>
            </a:r>
            <a:r>
              <a:rPr lang="ko-KR" altLang="en-US" dirty="0"/>
              <a:t>사용되는 모델 타입</a:t>
            </a:r>
            <a:endParaRPr lang="en-US" altLang="ko-KR" dirty="0"/>
          </a:p>
          <a:p>
            <a:r>
              <a:rPr lang="en-US" altLang="ko-KR" dirty="0" err="1"/>
              <a:t>Resume_from_checkpoint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True-</a:t>
            </a:r>
            <a:r>
              <a:rPr lang="ko-KR" altLang="en-US" dirty="0"/>
              <a:t>학습을 체크포인트에서 재시작</a:t>
            </a:r>
            <a:r>
              <a:rPr lang="en-US" altLang="ko-KR" dirty="0"/>
              <a:t>&gt;&gt;</a:t>
            </a:r>
            <a:r>
              <a:rPr lang="ko-KR" altLang="en-US" dirty="0"/>
              <a:t>중단지점에서 재개</a:t>
            </a:r>
            <a:endParaRPr lang="en-US" altLang="ko-KR" dirty="0"/>
          </a:p>
          <a:p>
            <a:pPr lvl="1"/>
            <a:r>
              <a:rPr lang="en-US" altLang="ko-KR" dirty="0"/>
              <a:t>False-</a:t>
            </a:r>
            <a:r>
              <a:rPr lang="ko-KR" altLang="en-US" dirty="0"/>
              <a:t>초기화 된 상태에서 시작</a:t>
            </a:r>
            <a:r>
              <a:rPr lang="en-US" altLang="ko-KR" dirty="0"/>
              <a:t>&gt;&gt;</a:t>
            </a:r>
            <a:r>
              <a:rPr lang="ko-KR" altLang="en-US" dirty="0"/>
              <a:t>처음부터 </a:t>
            </a:r>
            <a:r>
              <a:rPr lang="ko-KR" altLang="en-US" dirty="0" err="1"/>
              <a:t>다시시작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완료버전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4F4D0E-4087-B3DA-A188-6DA241DE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FF361F-86FD-E01A-D6D6-79FA6898E0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" name="Picture 2" descr="업로드한 이미지">
            <a:extLst>
              <a:ext uri="{FF2B5EF4-FFF2-40B4-BE49-F238E27FC236}">
                <a16:creationId xmlns:a16="http://schemas.microsoft.com/office/drawing/2014/main" id="{7625D06D-290B-A415-0816-E1E94453F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082" y="1080655"/>
            <a:ext cx="4989512" cy="383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958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937D4-C105-FDBF-5AF5-AB482206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Checkpointing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9E85F-B3B9-5FB2-0274-47D5CC8F7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End-of-training Checkpointing : </a:t>
            </a:r>
            <a:r>
              <a:rPr lang="ko-KR" altLang="en-US" dirty="0"/>
              <a:t>최종훈련 체크포인트</a:t>
            </a:r>
            <a:endParaRPr lang="en-US" altLang="ko-KR" dirty="0"/>
          </a:p>
          <a:p>
            <a:pPr lvl="1"/>
            <a:r>
              <a:rPr lang="ko-KR" altLang="en-US" dirty="0"/>
              <a:t>훈련 완료 후 모델 가중치를 파일에 저장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Mid-training Checkpointing : </a:t>
            </a:r>
            <a:r>
              <a:rPr lang="ko-KR" altLang="en-US" dirty="0"/>
              <a:t>중간 훈련 체크포인트</a:t>
            </a:r>
            <a:endParaRPr lang="en-US" altLang="ko-KR" dirty="0"/>
          </a:p>
          <a:p>
            <a:pPr lvl="1"/>
            <a:r>
              <a:rPr lang="ko-KR" altLang="en-US" dirty="0"/>
              <a:t>훈련 중간에 체크포인트를 저장</a:t>
            </a:r>
            <a:endParaRPr lang="en-US" altLang="ko-KR" dirty="0"/>
          </a:p>
          <a:p>
            <a:pPr lvl="1"/>
            <a:r>
              <a:rPr lang="ko-KR" altLang="en-US" dirty="0"/>
              <a:t>체크포인트용 </a:t>
            </a:r>
            <a:r>
              <a:rPr lang="en-US" altLang="ko-KR" dirty="0"/>
              <a:t>recipe_state.pt</a:t>
            </a:r>
            <a:r>
              <a:rPr lang="ko-KR" altLang="en-US" dirty="0"/>
              <a:t>에도 저장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epoch </a:t>
            </a:r>
            <a:r>
              <a:rPr lang="ko-KR" altLang="en-US" dirty="0"/>
              <a:t>끝에 출력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5231F9-3FBE-99DE-7D03-4C97082F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8A210C-7E8D-69E6-7A30-75D339DAB6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236AEC-6C82-84DA-2FDB-62F08114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1146610"/>
            <a:ext cx="4318410" cy="960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F8D1751-61B5-76C7-A8A8-1C04C965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275" y="3429000"/>
            <a:ext cx="4602176" cy="2200065"/>
          </a:xfrm>
          <a:prstGeom prst="rect">
            <a:avLst/>
          </a:prstGeom>
        </p:spPr>
      </p:pic>
      <p:pic>
        <p:nvPicPr>
          <p:cNvPr id="10" name="Picture 2" descr="업로드한 이미지">
            <a:extLst>
              <a:ext uri="{FF2B5EF4-FFF2-40B4-BE49-F238E27FC236}">
                <a16:creationId xmlns:a16="http://schemas.microsoft.com/office/drawing/2014/main" id="{665EFD9F-8FAB-55A1-118F-EA8D1DA415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10" r="45671" b="4154"/>
          <a:stretch/>
        </p:blipFill>
        <p:spPr bwMode="auto">
          <a:xfrm>
            <a:off x="6133275" y="2497932"/>
            <a:ext cx="2710745" cy="27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1CC306-5A71-20DC-140B-1DA6D2D33B38}"/>
              </a:ext>
            </a:extLst>
          </p:cNvPr>
          <p:cNvSpPr txBox="1"/>
          <p:nvPr/>
        </p:nvSpPr>
        <p:spPr>
          <a:xfrm>
            <a:off x="8804275" y="2454062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에</a:t>
            </a:r>
            <a:r>
              <a:rPr lang="ko-KR" altLang="en-US" dirty="0"/>
              <a:t> 의해 결정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308A338-783D-B8A5-8036-747163B6DA95}"/>
              </a:ext>
            </a:extLst>
          </p:cNvPr>
          <p:cNvSpPr/>
          <p:nvPr/>
        </p:nvSpPr>
        <p:spPr>
          <a:xfrm rot="5400000">
            <a:off x="7175941" y="2991155"/>
            <a:ext cx="386730" cy="270085"/>
          </a:xfrm>
          <a:prstGeom prst="rightArrow">
            <a:avLst>
              <a:gd name="adj1" fmla="val 45406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DD2854-E844-3385-1C5A-0303999F78AA}"/>
              </a:ext>
            </a:extLst>
          </p:cNvPr>
          <p:cNvSpPr txBox="1"/>
          <p:nvPr/>
        </p:nvSpPr>
        <p:spPr>
          <a:xfrm>
            <a:off x="7488647" y="2923101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TRUE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A7455A2B-8F32-F322-3DB2-6FB2E13C13E4}"/>
              </a:ext>
            </a:extLst>
          </p:cNvPr>
          <p:cNvSpPr/>
          <p:nvPr/>
        </p:nvSpPr>
        <p:spPr>
          <a:xfrm rot="16200000">
            <a:off x="7168256" y="2131941"/>
            <a:ext cx="319898" cy="270085"/>
          </a:xfrm>
          <a:prstGeom prst="rightArrow">
            <a:avLst>
              <a:gd name="adj1" fmla="val 45406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34B59D-359E-2DBA-7D90-E5604BEA806C}"/>
              </a:ext>
            </a:extLst>
          </p:cNvPr>
          <p:cNvSpPr txBox="1"/>
          <p:nvPr/>
        </p:nvSpPr>
        <p:spPr>
          <a:xfrm>
            <a:off x="7485299" y="2103301"/>
            <a:ext cx="207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FALSE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214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6299-C8F4-F6E4-5306-1C956D37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Configs &amp; CLI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14135-B180-2967-3576-424E19ED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Configs</a:t>
            </a:r>
          </a:p>
          <a:p>
            <a:pPr lvl="1"/>
            <a:r>
              <a:rPr lang="en-US" altLang="ko-KR" sz="1600" dirty="0" err="1"/>
              <a:t>Torchtune</a:t>
            </a:r>
            <a:r>
              <a:rPr lang="en-US" altLang="ko-KR" sz="1600" dirty="0"/>
              <a:t> </a:t>
            </a:r>
            <a:r>
              <a:rPr lang="ko-KR" altLang="en-US" sz="1600" dirty="0"/>
              <a:t>실행에 필요한 매개변수가 저장된 파일</a:t>
            </a:r>
            <a:endParaRPr lang="en-US" altLang="ko-KR" sz="1600" dirty="0"/>
          </a:p>
          <a:p>
            <a:pPr lvl="1"/>
            <a:r>
              <a:rPr lang="en-US" altLang="ko-KR" sz="1600" dirty="0"/>
              <a:t>YAML</a:t>
            </a:r>
            <a:r>
              <a:rPr lang="ko-KR" altLang="en-US" sz="1600" dirty="0"/>
              <a:t>형식으로 작성</a:t>
            </a:r>
            <a:endParaRPr lang="en-US" altLang="ko-KR" sz="1600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2000" dirty="0"/>
              <a:t>CLI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커맨드라인에서 실행</a:t>
            </a:r>
            <a:r>
              <a:rPr lang="en-US" altLang="ko-KR" dirty="0"/>
              <a:t>(</a:t>
            </a:r>
            <a:r>
              <a:rPr lang="ko-KR" altLang="en-US" dirty="0"/>
              <a:t>재정의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  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E6D5E-A634-F84E-FF04-CA4C8D10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71E0D21-57E2-98E9-D26C-F05B5D6953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DFFB62-8D49-9A98-29E0-5F318EC4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074" y="1329769"/>
            <a:ext cx="3711287" cy="44475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8D697D-7F66-0B99-73D9-FF6DA6D73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48" y="3989756"/>
            <a:ext cx="5764936" cy="55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4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9471C-27A6-2C91-9AC9-AF416E7D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Recipes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D3ED15-D338-D9AE-04AB-703795D5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5" y="1080655"/>
            <a:ext cx="11253849" cy="5096308"/>
          </a:xfrm>
        </p:spPr>
        <p:txBody>
          <a:bodyPr/>
          <a:lstStyle/>
          <a:p>
            <a:r>
              <a:rPr lang="en-US" altLang="ko-KR" dirty="0"/>
              <a:t>Recipes</a:t>
            </a:r>
          </a:p>
          <a:p>
            <a:pPr lvl="1"/>
            <a:r>
              <a:rPr lang="ko-KR" altLang="en-US" dirty="0"/>
              <a:t>설정과 단계를 정의한 파일</a:t>
            </a:r>
            <a:endParaRPr lang="en-US" altLang="ko-KR" dirty="0"/>
          </a:p>
          <a:p>
            <a:pPr lvl="1"/>
            <a:r>
              <a:rPr lang="ko-KR" altLang="en-US" dirty="0"/>
              <a:t>일관성과 재현성 보장</a:t>
            </a:r>
            <a:endParaRPr lang="en-US" altLang="ko-KR" dirty="0"/>
          </a:p>
          <a:p>
            <a:pPr lvl="1"/>
            <a:r>
              <a:rPr lang="en-US" altLang="ko-KR" dirty="0"/>
              <a:t>YAML</a:t>
            </a:r>
            <a:r>
              <a:rPr lang="ko-KR" altLang="en-US" dirty="0"/>
              <a:t>로 작성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초기 설정 </a:t>
            </a:r>
            <a:endParaRPr lang="en-US" altLang="ko-KR" dirty="0"/>
          </a:p>
          <a:p>
            <a:pPr lvl="1"/>
            <a:r>
              <a:rPr lang="ko-KR" altLang="en-US" dirty="0"/>
              <a:t>프로세스 그룹을 초기화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체크포인트 로딩 및 상태 업데이트</a:t>
            </a:r>
            <a:endParaRPr lang="en-US" altLang="ko-KR" dirty="0"/>
          </a:p>
          <a:p>
            <a:pPr lvl="1"/>
            <a:r>
              <a:rPr lang="ko-KR" altLang="en-US" dirty="0"/>
              <a:t>체크포인트에서 레시피 구성요소 업데이트</a:t>
            </a:r>
            <a:endParaRPr lang="en-US" altLang="ko-KR" dirty="0"/>
          </a:p>
          <a:p>
            <a:pPr lvl="1"/>
            <a:r>
              <a:rPr lang="ko-KR" altLang="en-US" dirty="0"/>
              <a:t>모델</a:t>
            </a:r>
            <a:r>
              <a:rPr lang="en-US" altLang="ko-KR" dirty="0"/>
              <a:t>, </a:t>
            </a:r>
            <a:r>
              <a:rPr lang="ko-KR" altLang="en-US" dirty="0" err="1"/>
              <a:t>옵티마이저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ko-KR" altLang="en-US" dirty="0"/>
              <a:t>필요하다면 이전상태를 불러옴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모델 훈련 </a:t>
            </a:r>
            <a:endParaRPr lang="en-US" altLang="ko-KR" dirty="0"/>
          </a:p>
          <a:p>
            <a:pPr lvl="1"/>
            <a:r>
              <a:rPr lang="en-US" altLang="ko-KR" dirty="0"/>
              <a:t>epoch</a:t>
            </a:r>
            <a:r>
              <a:rPr lang="ko-KR" altLang="en-US" dirty="0"/>
              <a:t>를 거치면서 훈련 시행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훈련 후 정리</a:t>
            </a:r>
            <a:endParaRPr lang="en-US" altLang="ko-KR" dirty="0"/>
          </a:p>
          <a:p>
            <a:pPr lvl="1"/>
            <a:r>
              <a:rPr lang="ko-KR" altLang="en-US" dirty="0"/>
              <a:t>완료 시 상태를 정리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100351-A6DD-03A2-996E-FB0817E2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A7D85D-D36A-85D3-F537-55AB970C9A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5D333BC-2FA2-7FD8-EADF-C5B1B1E01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955" y="2122877"/>
            <a:ext cx="703043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FCC99D8-6AC9-96F6-3A0A-46B1774C6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1864434"/>
            <a:ext cx="11460174" cy="42963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95DCD9-AB63-0BCF-A67B-0AC7AFF7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7ECA1-6298-7FC8-CABD-CAAE78EC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53D489-6084-CD88-C0AF-3279918D0B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A65A1D8-48D9-6C55-9ED7-AD6F3CF27704}"/>
                  </a:ext>
                </a:extLst>
              </p14:cNvPr>
              <p14:cNvContentPartPr/>
              <p14:nvPr/>
            </p14:nvContentPartPr>
            <p14:xfrm>
              <a:off x="2913167" y="5194612"/>
              <a:ext cx="8803552" cy="7574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A65A1D8-48D9-6C55-9ED7-AD6F3CF27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7047" y="5188492"/>
                <a:ext cx="8815792" cy="7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81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5DCD9-AB63-0BCF-A67B-0AC7AFF7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7ECA1-6298-7FC8-CABD-CAAE78EC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53D489-6084-CD88-C0AF-3279918D0B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21" name="내용 개체 틀 20">
            <a:extLst>
              <a:ext uri="{FF2B5EF4-FFF2-40B4-BE49-F238E27FC236}">
                <a16:creationId xmlns:a16="http://schemas.microsoft.com/office/drawing/2014/main" id="{1E22BADA-CC70-2AFE-0573-73BE7F7E2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639" y="3837101"/>
            <a:ext cx="4220164" cy="122889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EE20732-7127-579A-A3AC-147BB8431CB3}"/>
                  </a:ext>
                </a:extLst>
              </p14:cNvPr>
              <p14:cNvContentPartPr/>
              <p14:nvPr/>
            </p14:nvContentPartPr>
            <p14:xfrm>
              <a:off x="8236127" y="3975652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EE20732-7127-579A-A3AC-147BB8431C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0007" y="396953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B7FF026-100F-F64B-C9B0-BC19AFA03A2C}"/>
                  </a:ext>
                </a:extLst>
              </p14:cNvPr>
              <p14:cNvContentPartPr/>
              <p14:nvPr/>
            </p14:nvContentPartPr>
            <p14:xfrm>
              <a:off x="8110487" y="3578212"/>
              <a:ext cx="360" cy="3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B7FF026-100F-F64B-C9B0-BC19AFA03A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4367" y="3572092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7FA21D2E-865D-9913-52A3-4318F4A4D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39" y="1116177"/>
            <a:ext cx="6420746" cy="20957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AD72DDE-544F-B3A1-7368-77C3FB0E4D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639" y="1575561"/>
            <a:ext cx="8335538" cy="7716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78FAAA5-C6DF-6266-A66F-DF2205666E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639" y="2606084"/>
            <a:ext cx="9391041" cy="5525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461365-C8D6-CDAC-C58E-4736798787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2406" y="40088"/>
            <a:ext cx="3159268" cy="64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8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52F6B92-B2BF-42FF-F51A-3234887F1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087" y="1116177"/>
            <a:ext cx="11253788" cy="444461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95DCD9-AB63-0BCF-A67B-0AC7AFF7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Tutorial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7ECA1-6298-7FC8-CABD-CAAE78EC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53D489-6084-CD88-C0AF-3279918D0B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B56EB4A-404C-B923-25D9-DEB827638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15" y="823758"/>
            <a:ext cx="8641457" cy="570880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3D031D7-EE45-D82B-2287-E67F8CBD7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261" y="794468"/>
            <a:ext cx="8788161" cy="561234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44CA09D-8776-2E47-E30F-33AB20FB9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893" y="583771"/>
            <a:ext cx="9269907" cy="48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9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17A85-EF1E-1878-9EF1-D701BC27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평가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4A5E8AB-703C-130C-9710-AE2E5D6C0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667" y="2018415"/>
            <a:ext cx="6411220" cy="120031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44AE05-1B06-C7D2-1814-96B801C8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BCE9AF-CCAD-91A6-CC75-1EAFA063A1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31C37B-92E5-98F4-4038-DCCB1426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7" y="3429000"/>
            <a:ext cx="7535327" cy="17147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AE7484-A40F-5F64-3017-C90592DC5A45}"/>
              </a:ext>
            </a:extLst>
          </p:cNvPr>
          <p:cNvSpPr txBox="1"/>
          <p:nvPr/>
        </p:nvSpPr>
        <p:spPr>
          <a:xfrm>
            <a:off x="712922" y="1193369"/>
            <a:ext cx="665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Llama2</a:t>
            </a:r>
            <a:r>
              <a:rPr lang="ko-KR" altLang="en-US" dirty="0"/>
              <a:t>를 </a:t>
            </a:r>
            <a:r>
              <a:rPr lang="en-US" altLang="ko-KR" dirty="0"/>
              <a:t>finetuning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8924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B47ED-CD16-C04B-5DDA-A6DB1F86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3CFDA-6AE6-8E76-6B34-8DC56AD18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EleutherAI</a:t>
            </a:r>
            <a:r>
              <a:rPr lang="ko-KR" alt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의 </a:t>
            </a:r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LM Evaluation Harness</a:t>
            </a:r>
          </a:p>
          <a:p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베이스 모델의 평가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: </a:t>
            </a:r>
            <a:r>
              <a:rPr lang="ko-KR" altLang="en-US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정확도 </a:t>
            </a:r>
            <a:r>
              <a:rPr lang="en-US" altLang="ko-KR" dirty="0">
                <a:solidFill>
                  <a:srgbClr val="222222"/>
                </a:solidFill>
                <a:highlight>
                  <a:srgbClr val="FFFFFF"/>
                </a:highlight>
                <a:latin typeface="Helvetica" panose="020B0604020202020204" pitchFamily="34" charset="0"/>
              </a:rPr>
              <a:t>38.8%</a:t>
            </a:r>
          </a:p>
          <a:p>
            <a:endParaRPr lang="en-US" altLang="ko-KR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ko-KR" dirty="0">
              <a:solidFill>
                <a:srgbClr val="222222"/>
              </a:solidFill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ko-KR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endParaRPr lang="en-US" altLang="ko-KR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elvetica" panose="020B0604020202020204" pitchFamily="34" charset="0"/>
            </a:endParaRPr>
          </a:p>
          <a:p>
            <a:r>
              <a:rPr lang="ko-KR" alt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파인튜닝된</a:t>
            </a:r>
            <a:r>
              <a:rPr lang="ko-KR" alt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 모델의 평가 </a:t>
            </a:r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: </a:t>
            </a:r>
            <a:r>
              <a:rPr lang="ko-KR" alt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정확도 </a:t>
            </a:r>
            <a:r>
              <a:rPr lang="en-US" altLang="ko-KR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elvetica" panose="020B0604020202020204" pitchFamily="34" charset="0"/>
              </a:rPr>
              <a:t>48.9%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EC112-F1C9-1706-0C69-6BB585BB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F7AA3FF-7A41-5673-05C2-10464DCF20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BFE3642-E75B-255F-076D-C2BC91B3C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28" y="3746587"/>
            <a:ext cx="6020640" cy="4096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CB89E13-DEAC-6AE9-730A-4DB2F3E3E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28" y="1844056"/>
            <a:ext cx="5410955" cy="2857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5645EBD-1C5D-B110-2054-C67A097F6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28" y="2255323"/>
            <a:ext cx="5582429" cy="247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9C84CAA-9259-BCA2-84CD-844878F87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28" y="4324601"/>
            <a:ext cx="6125430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72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5578B-9AB3-16BF-C3B5-52C1B88A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양자화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511D1-AB9F-8F1E-10BA-492ADD213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양자화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9D4D77-112A-6F68-8077-EEB74A6D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D9555BD-07F0-2AB4-2ADB-BBE8223C48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AA00DD-066B-8648-55F5-004AE523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3249663"/>
            <a:ext cx="6392167" cy="6096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9D08F-8946-DB90-797C-AE34D475C1FF}"/>
              </a:ext>
            </a:extLst>
          </p:cNvPr>
          <p:cNvSpPr txBox="1"/>
          <p:nvPr/>
        </p:nvSpPr>
        <p:spPr>
          <a:xfrm>
            <a:off x="510639" y="992821"/>
            <a:ext cx="666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tune run generate --config ./</a:t>
            </a:r>
            <a:r>
              <a:rPr lang="en-US" altLang="ko-KR" b="0" i="0" dirty="0" err="1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custom_generation_config.yaml</a:t>
            </a:r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 \ prompt=</a:t>
            </a:r>
            <a:r>
              <a:rPr lang="en-US" altLang="ko-KR" b="0" i="0" dirty="0">
                <a:solidFill>
                  <a:srgbClr val="00A67D"/>
                </a:solidFill>
                <a:effectLst/>
                <a:highlight>
                  <a:srgbClr val="0D0D0D"/>
                </a:highlight>
                <a:latin typeface="ui-monospace"/>
              </a:rPr>
              <a:t>"What are some interesting sites to visit in the Bay Area?"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510EC-F31C-815A-7062-390E189CB02E}"/>
              </a:ext>
            </a:extLst>
          </p:cNvPr>
          <p:cNvSpPr txBox="1"/>
          <p:nvPr/>
        </p:nvSpPr>
        <p:spPr>
          <a:xfrm>
            <a:off x="464203" y="1598959"/>
            <a:ext cx="96639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[generate.py:92] Exploratorium in San Francisco has made the cover of Time Magazine, and it's awesome. And the bridge is pretty cool... </a:t>
            </a:r>
          </a:p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[generate.py:96] Time for inference: 11.61 sec total, 25.83 tokens/sec </a:t>
            </a:r>
          </a:p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[generate.py:99] Memory used: 15.72 GB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6B642D-D19E-E65B-5A4A-A93BCF518906}"/>
              </a:ext>
            </a:extLst>
          </p:cNvPr>
          <p:cNvSpPr txBox="1"/>
          <p:nvPr/>
        </p:nvSpPr>
        <p:spPr>
          <a:xfrm>
            <a:off x="464203" y="4058713"/>
            <a:ext cx="8802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[generate.py:92] A park in San Francisco that sits at the top of a big hill. There are lots of trees and a beautiful view of San Francisco...</a:t>
            </a:r>
          </a:p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 [generate.py:96] Time for inference: 4.13 sec total, 72.62 tokens/sec </a:t>
            </a:r>
          </a:p>
          <a:p>
            <a:r>
              <a:rPr lang="en-US" altLang="ko-KR" b="0" i="0" dirty="0">
                <a:solidFill>
                  <a:srgbClr val="FFFFFF"/>
                </a:solidFill>
                <a:effectLst/>
                <a:highlight>
                  <a:srgbClr val="0D0D0D"/>
                </a:highlight>
                <a:latin typeface="ui-monospace"/>
              </a:rPr>
              <a:t>[generate.py:99] Memory used: 17.85 GB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839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5751</TotalTime>
  <Words>744</Words>
  <Application>Microsoft Office PowerPoint</Application>
  <PresentationFormat>와이드스크린</PresentationFormat>
  <Paragraphs>188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-apple-system</vt:lpstr>
      <vt:lpstr>se-nanumgothic</vt:lpstr>
      <vt:lpstr>ui-monospace</vt:lpstr>
      <vt:lpstr>맑은 고딕</vt:lpstr>
      <vt:lpstr>Arial</vt:lpstr>
      <vt:lpstr>Helvetica</vt:lpstr>
      <vt:lpstr>Times New Roman</vt:lpstr>
      <vt:lpstr>세미나테마</vt:lpstr>
      <vt:lpstr>TorchTune</vt:lpstr>
      <vt:lpstr>목차</vt:lpstr>
      <vt:lpstr>Pytorch</vt:lpstr>
      <vt:lpstr>TorchTune</vt:lpstr>
      <vt:lpstr>TorchTune</vt:lpstr>
      <vt:lpstr>How?</vt:lpstr>
      <vt:lpstr>Checkpointing</vt:lpstr>
      <vt:lpstr>Checkpointing</vt:lpstr>
      <vt:lpstr>Checkpointing</vt:lpstr>
      <vt:lpstr>Checkpointing</vt:lpstr>
      <vt:lpstr>Configs &amp; CLI</vt:lpstr>
      <vt:lpstr>Recipes</vt:lpstr>
      <vt:lpstr>Tutorial</vt:lpstr>
      <vt:lpstr>Tutorial</vt:lpstr>
      <vt:lpstr>Tutorial</vt:lpstr>
      <vt:lpstr>모델 평가</vt:lpstr>
      <vt:lpstr>모델평가</vt:lpstr>
      <vt:lpstr>양자화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33</cp:revision>
  <dcterms:created xsi:type="dcterms:W3CDTF">2023-07-06T03:52:26Z</dcterms:created>
  <dcterms:modified xsi:type="dcterms:W3CDTF">2024-05-27T06:06:49Z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