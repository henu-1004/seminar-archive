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5"/>
  </p:notesMasterIdLst>
  <p:sldIdLst>
    <p:sldId id="256" r:id="rId2"/>
    <p:sldId id="257" r:id="rId3"/>
    <p:sldId id="259" r:id="rId4"/>
    <p:sldId id="271" r:id="rId5"/>
    <p:sldId id="272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6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25" autoAdjust="0"/>
  </p:normalViewPr>
  <p:slideViewPr>
    <p:cSldViewPr snapToGrid="0">
      <p:cViewPr varScale="1">
        <p:scale>
          <a:sx n="149" d="100"/>
          <a:sy n="149" d="100"/>
        </p:scale>
        <p:origin x="72" y="7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AE584CF1-E996-4ED8-8379-4236BB47FB29}" type="datetime1">
              <a:rPr lang="ko-KR" altLang="en-US"/>
              <a:pPr lvl="0">
                <a:defRPr/>
              </a:pPr>
              <a:t>2024-02-21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81DEE6A-CE55-4E34-A123-74559017542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과거정보에 의존해서 픽셀을 생성하므로 이미지가 더 자연스러워진다</a:t>
            </a:r>
            <a:r>
              <a:rPr lang="en-US" altLang="ko-KR" dirty="0"/>
              <a:t>. Ex)</a:t>
            </a:r>
            <a:r>
              <a:rPr lang="ko-KR" altLang="en-US" dirty="0" err="1"/>
              <a:t>사람얼굴을</a:t>
            </a:r>
            <a:r>
              <a:rPr lang="ko-KR" altLang="en-US" dirty="0"/>
              <a:t> 만드는 </a:t>
            </a:r>
            <a:r>
              <a:rPr lang="ko-KR" altLang="en-US" dirty="0" err="1"/>
              <a:t>과정중에</a:t>
            </a:r>
            <a:r>
              <a:rPr lang="ko-KR" altLang="en-US" dirty="0"/>
              <a:t> </a:t>
            </a:r>
            <a:r>
              <a:rPr lang="ko-KR" altLang="en-US" dirty="0" err="1"/>
              <a:t>눈썹밑의</a:t>
            </a:r>
            <a:r>
              <a:rPr lang="ko-KR" altLang="en-US" dirty="0"/>
              <a:t> 픽셀을 </a:t>
            </a:r>
            <a:r>
              <a:rPr lang="ko-KR" altLang="en-US" dirty="0" err="1"/>
              <a:t>그릴때</a:t>
            </a:r>
            <a:r>
              <a:rPr lang="ko-KR" altLang="en-US" dirty="0"/>
              <a:t> 당연히 눈썹이라는 과거정보를 의존하니까 코나 </a:t>
            </a:r>
            <a:r>
              <a:rPr lang="ko-KR" altLang="en-US" dirty="0" err="1"/>
              <a:t>입이아닌</a:t>
            </a:r>
            <a:r>
              <a:rPr lang="ko-KR" altLang="en-US" dirty="0"/>
              <a:t> 눈을 </a:t>
            </a:r>
            <a:r>
              <a:rPr lang="ko-KR" altLang="en-US" dirty="0" err="1"/>
              <a:t>그리게되는것</a:t>
            </a:r>
            <a:endParaRPr lang="ko-KR" altLang="en-US" dirty="0"/>
          </a:p>
          <a:p>
            <a:r>
              <a:rPr lang="ko-KR" altLang="en-US" dirty="0"/>
              <a:t>과거정보를 어떻게 만드냐</a:t>
            </a:r>
            <a:r>
              <a:rPr lang="en-US" altLang="ko-KR" dirty="0"/>
              <a:t>? </a:t>
            </a:r>
            <a:r>
              <a:rPr lang="ko-KR" altLang="en-US" dirty="0" err="1"/>
              <a:t>마스크드</a:t>
            </a:r>
            <a:r>
              <a:rPr lang="ko-KR" altLang="en-US" dirty="0"/>
              <a:t> </a:t>
            </a:r>
            <a:r>
              <a:rPr lang="ko-KR" altLang="en-US" dirty="0" err="1"/>
              <a:t>컨볼루션레이어를</a:t>
            </a:r>
            <a:r>
              <a:rPr lang="ko-KR" altLang="en-US" dirty="0"/>
              <a:t> 활용한다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이 책에서는 효율을 높이기 위해 </a:t>
            </a:r>
            <a:r>
              <a:rPr lang="ko-KR" altLang="en-US" dirty="0" err="1"/>
              <a:t>잔차블록이라는</a:t>
            </a:r>
            <a:r>
              <a:rPr lang="ko-KR" altLang="en-US" dirty="0"/>
              <a:t> 요소를 도입했다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81DEE6A-CE55-4E34-A123-745590175427}" type="slidenum">
              <a:rPr lang="ko-KR" altLang="en-US" smtClean="0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863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픽셀은 순서가 없다</a:t>
            </a:r>
            <a:r>
              <a:rPr lang="en-US" altLang="ko-KR" dirty="0"/>
              <a:t>. (</a:t>
            </a:r>
            <a:r>
              <a:rPr lang="ko-KR" altLang="en-US" dirty="0"/>
              <a:t>컴퓨터는 픽셀을 </a:t>
            </a:r>
            <a:r>
              <a:rPr lang="ko-KR" altLang="en-US" dirty="0" err="1"/>
              <a:t>쪼갠다음</a:t>
            </a:r>
            <a:r>
              <a:rPr lang="ko-KR" altLang="en-US" dirty="0"/>
              <a:t> 순서를 바꿔봐도 뭐 알아서 잘 학습한다고 함</a:t>
            </a:r>
            <a:r>
              <a:rPr lang="en-US" altLang="ko-KR" dirty="0"/>
              <a:t>) </a:t>
            </a:r>
            <a:r>
              <a:rPr lang="ko-KR" altLang="en-US" dirty="0"/>
              <a:t>근데 </a:t>
            </a:r>
            <a:r>
              <a:rPr lang="ko-KR" altLang="en-US" dirty="0" err="1"/>
              <a:t>자기회귀적인</a:t>
            </a:r>
            <a:r>
              <a:rPr lang="ko-KR" altLang="en-US" dirty="0"/>
              <a:t> 이미지 생성을 하려고 픽셀에 순서를 </a:t>
            </a:r>
            <a:r>
              <a:rPr lang="ko-KR" altLang="en-US" dirty="0" err="1"/>
              <a:t>부여하기로했다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순서는 왼쪽위부터 오른쪽아래로 지정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마스크타입은 </a:t>
            </a:r>
            <a:r>
              <a:rPr lang="ko-KR" altLang="en-US" dirty="0" err="1"/>
              <a:t>두가지가있음</a:t>
            </a:r>
            <a:r>
              <a:rPr lang="en-US" altLang="ko-KR" dirty="0"/>
              <a:t>. A</a:t>
            </a:r>
            <a:r>
              <a:rPr lang="ko-KR" altLang="en-US" dirty="0"/>
              <a:t>는 </a:t>
            </a:r>
            <a:r>
              <a:rPr lang="ko-KR" altLang="en-US" dirty="0" err="1"/>
              <a:t>중앙픽셀을</a:t>
            </a:r>
            <a:r>
              <a:rPr lang="ko-KR" altLang="en-US" dirty="0"/>
              <a:t> 참고 </a:t>
            </a:r>
            <a:r>
              <a:rPr lang="en-US" altLang="ko-KR" dirty="0"/>
              <a:t>x, B</a:t>
            </a:r>
            <a:r>
              <a:rPr lang="ko-KR" altLang="en-US" dirty="0"/>
              <a:t>는 </a:t>
            </a:r>
            <a:r>
              <a:rPr lang="ko-KR" altLang="en-US" dirty="0" err="1"/>
              <a:t>중앙픽셀을</a:t>
            </a:r>
            <a:r>
              <a:rPr lang="ko-KR" altLang="en-US" dirty="0"/>
              <a:t> 참고함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보통 </a:t>
            </a:r>
            <a:r>
              <a:rPr lang="en-US" altLang="ko-KR" dirty="0"/>
              <a:t>A</a:t>
            </a:r>
            <a:r>
              <a:rPr lang="ko-KR" altLang="en-US" dirty="0"/>
              <a:t>타입은 층 초반에 사용함</a:t>
            </a:r>
            <a:endParaRPr lang="en-US" altLang="ko-KR" dirty="0"/>
          </a:p>
          <a:p>
            <a:r>
              <a:rPr lang="ko-KR" altLang="en-US" dirty="0"/>
              <a:t>왜 그러냐</a:t>
            </a:r>
            <a:r>
              <a:rPr lang="en-US" altLang="ko-KR" dirty="0"/>
              <a:t>. </a:t>
            </a:r>
            <a:r>
              <a:rPr lang="ko-KR" altLang="en-US" dirty="0"/>
              <a:t>제일 처음 픽셀을 </a:t>
            </a:r>
            <a:r>
              <a:rPr lang="ko-KR" altLang="en-US" dirty="0" err="1"/>
              <a:t>생성할때</a:t>
            </a:r>
            <a:r>
              <a:rPr lang="ko-KR" altLang="en-US" dirty="0"/>
              <a:t> </a:t>
            </a:r>
            <a:r>
              <a:rPr lang="ko-KR" altLang="en-US" dirty="0" err="1"/>
              <a:t>빈값을</a:t>
            </a:r>
            <a:r>
              <a:rPr lang="ko-KR" altLang="en-US" dirty="0"/>
              <a:t> 참고해서 픽셀을 생성하면 좀 </a:t>
            </a:r>
            <a:r>
              <a:rPr lang="ko-KR" altLang="en-US" dirty="0" err="1"/>
              <a:t>이상한게</a:t>
            </a:r>
            <a:r>
              <a:rPr lang="ko-KR" altLang="en-US" dirty="0"/>
              <a:t> 생성됨</a:t>
            </a:r>
            <a:r>
              <a:rPr lang="en-US" altLang="ko-KR" dirty="0"/>
              <a:t>. </a:t>
            </a:r>
            <a:r>
              <a:rPr lang="ko-KR" altLang="en-US" dirty="0"/>
              <a:t>픽셀들 잘 참고하다가 아무것도 없는 </a:t>
            </a:r>
            <a:r>
              <a:rPr lang="ko-KR" altLang="en-US" dirty="0" err="1"/>
              <a:t>빈값을</a:t>
            </a:r>
            <a:r>
              <a:rPr lang="ko-KR" altLang="en-US" dirty="0"/>
              <a:t> 참고하면 좀 </a:t>
            </a:r>
            <a:r>
              <a:rPr lang="ko-KR" altLang="en-US" dirty="0" err="1"/>
              <a:t>생뚱맞는게</a:t>
            </a:r>
            <a:r>
              <a:rPr lang="ko-KR" altLang="en-US" dirty="0"/>
              <a:t> 생성되니까 초기에는 </a:t>
            </a:r>
            <a:r>
              <a:rPr lang="en-US" altLang="ko-KR" dirty="0"/>
              <a:t>A</a:t>
            </a:r>
            <a:r>
              <a:rPr lang="ko-KR" altLang="en-US" dirty="0"/>
              <a:t>타입을 사용해서 내가 생성하고자 하는 자리는 참고</a:t>
            </a:r>
            <a:r>
              <a:rPr lang="en-US" altLang="ko-KR" dirty="0"/>
              <a:t>x </a:t>
            </a:r>
            <a:r>
              <a:rPr lang="ko-KR" altLang="en-US" dirty="0"/>
              <a:t>사실 참고를 </a:t>
            </a:r>
            <a:r>
              <a:rPr lang="ko-KR" altLang="en-US" dirty="0" err="1"/>
              <a:t>못하는거임</a:t>
            </a:r>
            <a:endParaRPr lang="en-US" altLang="ko-KR" dirty="0"/>
          </a:p>
          <a:p>
            <a:r>
              <a:rPr lang="ko-KR" altLang="en-US" dirty="0"/>
              <a:t>그 이후에는 네트워크를 쌓아가면서 현재의 픽셀을 참고로 하여 추가적인 조정을 수행하기때문에 타입 </a:t>
            </a:r>
            <a:r>
              <a:rPr lang="en-US" altLang="ko-KR" dirty="0"/>
              <a:t>B</a:t>
            </a:r>
            <a:r>
              <a:rPr lang="ko-KR" altLang="en-US" dirty="0"/>
              <a:t>를 사용한다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비유하자면 </a:t>
            </a:r>
            <a:r>
              <a:rPr lang="en-US" altLang="ko-KR" dirty="0"/>
              <a:t>B</a:t>
            </a:r>
            <a:r>
              <a:rPr lang="ko-KR" altLang="en-US" dirty="0"/>
              <a:t>타입은 스케치이후에 채색을 </a:t>
            </a:r>
            <a:r>
              <a:rPr lang="ko-KR" altLang="en-US" dirty="0" err="1"/>
              <a:t>하는느낌</a:t>
            </a:r>
            <a:endParaRPr lang="en-US" altLang="ko-KR" dirty="0"/>
          </a:p>
          <a:p>
            <a:r>
              <a:rPr lang="en-US" altLang="ko-KR" dirty="0"/>
              <a:t>A</a:t>
            </a:r>
            <a:r>
              <a:rPr lang="ko-KR" altLang="en-US" dirty="0"/>
              <a:t>타입은 </a:t>
            </a:r>
            <a:r>
              <a:rPr lang="ko-KR" altLang="en-US" dirty="0" err="1"/>
              <a:t>아무것도없는도화지에</a:t>
            </a:r>
            <a:r>
              <a:rPr lang="ko-KR" altLang="en-US" dirty="0"/>
              <a:t> 스케치 </a:t>
            </a:r>
            <a:r>
              <a:rPr lang="en-US" altLang="ko-KR" dirty="0"/>
              <a:t>&gt;</a:t>
            </a:r>
            <a:r>
              <a:rPr lang="ko-KR" altLang="en-US" dirty="0" err="1"/>
              <a:t>아무것도없는도화지를</a:t>
            </a:r>
            <a:r>
              <a:rPr lang="ko-KR" altLang="en-US" dirty="0"/>
              <a:t> 참고해서 그리면 </a:t>
            </a:r>
            <a:r>
              <a:rPr lang="ko-KR" altLang="en-US" dirty="0" err="1"/>
              <a:t>뭐가그려지냐</a:t>
            </a:r>
            <a:endParaRPr lang="en-US" altLang="ko-KR" dirty="0"/>
          </a:p>
          <a:p>
            <a:r>
              <a:rPr lang="en-US" altLang="ko-KR" dirty="0"/>
              <a:t>B</a:t>
            </a:r>
            <a:r>
              <a:rPr lang="ko-KR" altLang="en-US" dirty="0"/>
              <a:t>는 스케치에 채색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81DEE6A-CE55-4E34-A123-745590175427}" type="slidenum">
              <a:rPr lang="ko-KR" altLang="en-US" smtClean="0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688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잔차블록이뭐냐</a:t>
            </a:r>
            <a:r>
              <a:rPr lang="en-US" altLang="ko-KR" dirty="0"/>
              <a:t>? &gt; </a:t>
            </a:r>
            <a:r>
              <a:rPr lang="ko-KR" altLang="en-US" dirty="0" err="1"/>
              <a:t>입력에대해서</a:t>
            </a:r>
            <a:r>
              <a:rPr lang="ko-KR" altLang="en-US" dirty="0"/>
              <a:t> 일정한 연산을 수행하고 이 </a:t>
            </a:r>
            <a:r>
              <a:rPr lang="ko-KR" altLang="en-US" dirty="0" err="1"/>
              <a:t>값이랑</a:t>
            </a:r>
            <a:r>
              <a:rPr lang="ko-KR" altLang="en-US" dirty="0"/>
              <a:t> 기존의 입력이랑 합함</a:t>
            </a:r>
            <a:r>
              <a:rPr lang="en-US" altLang="ko-KR" dirty="0"/>
              <a:t>. 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이 과정을 통해 네트워크는 원래의 입력에 대한 </a:t>
            </a:r>
            <a:r>
              <a:rPr lang="ko-KR" altLang="en-US" b="0" i="0" dirty="0" err="1">
                <a:solidFill>
                  <a:srgbClr val="ECECEC"/>
                </a:solidFill>
                <a:effectLst/>
                <a:latin typeface="Söhne"/>
              </a:rPr>
              <a:t>잔차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(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즉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변화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)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를 학습하게 됩니다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.</a:t>
            </a:r>
            <a:endParaRPr lang="en-US" altLang="ko-KR" dirty="0"/>
          </a:p>
          <a:p>
            <a:r>
              <a:rPr lang="ko-KR" altLang="en-US" dirty="0"/>
              <a:t>신경망이 더 깊어질수록 정확한 예측을 </a:t>
            </a:r>
            <a:r>
              <a:rPr lang="ko-KR" altLang="en-US" dirty="0" err="1"/>
              <a:t>할것이라</a:t>
            </a:r>
            <a:r>
              <a:rPr lang="ko-KR" altLang="en-US" dirty="0"/>
              <a:t> 생각했지만</a:t>
            </a:r>
            <a:r>
              <a:rPr lang="en-US" altLang="ko-KR" dirty="0"/>
              <a:t>. </a:t>
            </a:r>
            <a:r>
              <a:rPr lang="ko-KR" altLang="en-US" dirty="0" err="1"/>
              <a:t>알고보니</a:t>
            </a:r>
            <a:r>
              <a:rPr lang="ko-KR" altLang="en-US" dirty="0"/>
              <a:t> 레이어를 </a:t>
            </a:r>
            <a:r>
              <a:rPr lang="ko-KR" altLang="en-US" dirty="0" err="1"/>
              <a:t>깊게하니까</a:t>
            </a:r>
            <a:r>
              <a:rPr lang="ko-KR" altLang="en-US" dirty="0"/>
              <a:t> 정확도가 낮아짐</a:t>
            </a:r>
            <a:endParaRPr lang="en-US" altLang="ko-KR" dirty="0"/>
          </a:p>
          <a:p>
            <a:r>
              <a:rPr lang="en-US" altLang="ko-KR" dirty="0"/>
              <a:t>Degradation</a:t>
            </a:r>
            <a:r>
              <a:rPr lang="ko-KR" altLang="en-US" dirty="0"/>
              <a:t>문제 </a:t>
            </a:r>
            <a:r>
              <a:rPr lang="en-US" altLang="ko-KR" dirty="0"/>
              <a:t>: </a:t>
            </a:r>
            <a:r>
              <a:rPr lang="ko-KR" altLang="en-US" dirty="0" err="1"/>
              <a:t>딥러닝에서</a:t>
            </a:r>
            <a:r>
              <a:rPr lang="ko-KR" altLang="en-US" dirty="0"/>
              <a:t> </a:t>
            </a:r>
            <a:r>
              <a:rPr lang="ko-KR" altLang="en-US" dirty="0" err="1"/>
              <a:t>깊은네트워크를</a:t>
            </a:r>
            <a:r>
              <a:rPr lang="ko-KR" altLang="en-US" dirty="0"/>
              <a:t> </a:t>
            </a:r>
            <a:r>
              <a:rPr lang="ko-KR" altLang="en-US" dirty="0" err="1"/>
              <a:t>학습시킬때</a:t>
            </a:r>
            <a:r>
              <a:rPr lang="ko-KR" altLang="en-US" dirty="0"/>
              <a:t> 발생하는 문제</a:t>
            </a:r>
            <a:r>
              <a:rPr lang="en-US" altLang="ko-KR" dirty="0"/>
              <a:t>. </a:t>
            </a:r>
            <a:r>
              <a:rPr lang="ko-KR" altLang="en-US" dirty="0"/>
              <a:t>깊이가 </a:t>
            </a:r>
            <a:r>
              <a:rPr lang="ko-KR" altLang="en-US" dirty="0" err="1"/>
              <a:t>증가함에따라</a:t>
            </a:r>
            <a:r>
              <a:rPr lang="ko-KR" altLang="en-US" dirty="0"/>
              <a:t> 최적화가 어려워지고 성능이 </a:t>
            </a:r>
            <a:r>
              <a:rPr lang="ko-KR" altLang="en-US" dirty="0" err="1"/>
              <a:t>오히려감소함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Resnet</a:t>
            </a:r>
            <a:r>
              <a:rPr lang="ko-KR" altLang="en-US" dirty="0"/>
              <a:t>의 구현방법</a:t>
            </a:r>
            <a:r>
              <a:rPr lang="en-US" altLang="ko-KR" dirty="0"/>
              <a:t> : residual block</a:t>
            </a:r>
            <a:r>
              <a:rPr lang="ko-KR" altLang="en-US" dirty="0"/>
              <a:t>를 사용한다</a:t>
            </a:r>
            <a:r>
              <a:rPr lang="en-US" altLang="ko-KR" dirty="0"/>
              <a:t>. &gt; </a:t>
            </a:r>
            <a:r>
              <a:rPr lang="ko-KR" altLang="en-US" dirty="0"/>
              <a:t>얘는 그냥 단순히 </a:t>
            </a:r>
            <a:r>
              <a:rPr lang="ko-KR" altLang="en-US" dirty="0" err="1"/>
              <a:t>입력값</a:t>
            </a:r>
            <a:r>
              <a:rPr lang="ko-KR" altLang="en-US" dirty="0"/>
              <a:t> </a:t>
            </a:r>
            <a:r>
              <a:rPr lang="en-US" altLang="ko-KR" dirty="0"/>
              <a:t>x </a:t>
            </a:r>
            <a:r>
              <a:rPr lang="ko-KR" altLang="en-US" dirty="0"/>
              <a:t>를 </a:t>
            </a:r>
            <a:r>
              <a:rPr lang="ko-KR" altLang="en-US" dirty="0" err="1"/>
              <a:t>더해준것</a:t>
            </a:r>
            <a:r>
              <a:rPr lang="ko-KR" altLang="en-US" dirty="0"/>
              <a:t> 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81DEE6A-CE55-4E34-A123-745590175427}" type="slidenum">
              <a:rPr lang="ko-KR" altLang="en-US" smtClean="0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666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기존의 </a:t>
            </a:r>
            <a:r>
              <a:rPr lang="en-US" altLang="ko-KR" dirty="0"/>
              <a:t>neural net</a:t>
            </a:r>
            <a:r>
              <a:rPr lang="ko-KR" altLang="en-US" dirty="0"/>
              <a:t>의 목적은 인풋 </a:t>
            </a:r>
            <a:r>
              <a:rPr lang="en-US" altLang="ko-KR" dirty="0"/>
              <a:t>x</a:t>
            </a:r>
            <a:r>
              <a:rPr lang="ko-KR" altLang="en-US" dirty="0"/>
              <a:t>가 연산을 통해 나온 값 </a:t>
            </a:r>
            <a:r>
              <a:rPr lang="en-US" altLang="ko-KR" dirty="0"/>
              <a:t>y </a:t>
            </a:r>
            <a:r>
              <a:rPr lang="ko-KR" altLang="en-US" dirty="0"/>
              <a:t>즉 함수</a:t>
            </a:r>
            <a:r>
              <a:rPr lang="en-US" altLang="ko-KR" dirty="0"/>
              <a:t>H(x)</a:t>
            </a:r>
            <a:r>
              <a:rPr lang="ko-KR" altLang="en-US" dirty="0"/>
              <a:t>값이 </a:t>
            </a:r>
            <a:r>
              <a:rPr lang="en-US" altLang="ko-KR" dirty="0"/>
              <a:t>x</a:t>
            </a:r>
            <a:r>
              <a:rPr lang="ko-KR" altLang="en-US" dirty="0"/>
              <a:t>와 최대한 유사하게 나오려고 했음</a:t>
            </a:r>
            <a:endParaRPr lang="en-US" altLang="ko-KR" dirty="0"/>
          </a:p>
          <a:p>
            <a:r>
              <a:rPr lang="ko-KR" altLang="en-US" dirty="0"/>
              <a:t> 즉 </a:t>
            </a:r>
            <a:r>
              <a:rPr lang="en-US" altLang="ko-KR" dirty="0"/>
              <a:t>H(x)-x</a:t>
            </a:r>
            <a:r>
              <a:rPr lang="ko-KR" altLang="en-US" dirty="0"/>
              <a:t>를 최소화 하려고 </a:t>
            </a:r>
            <a:r>
              <a:rPr lang="ko-KR" altLang="en-US" dirty="0" err="1"/>
              <a:t>한건데</a:t>
            </a:r>
            <a:r>
              <a:rPr lang="ko-KR" altLang="en-US" dirty="0"/>
              <a:t> 이때 </a:t>
            </a:r>
            <a:r>
              <a:rPr lang="ko-KR" altLang="en-US" dirty="0" err="1"/>
              <a:t>입력값과</a:t>
            </a:r>
            <a:r>
              <a:rPr lang="ko-KR" altLang="en-US" dirty="0"/>
              <a:t> </a:t>
            </a:r>
            <a:r>
              <a:rPr lang="ko-KR" altLang="en-US" dirty="0" err="1"/>
              <a:t>출력값의</a:t>
            </a:r>
            <a:r>
              <a:rPr lang="ko-KR" altLang="en-US" dirty="0"/>
              <a:t> 차이를 </a:t>
            </a:r>
            <a:r>
              <a:rPr lang="ko-KR" altLang="en-US" dirty="0" err="1"/>
              <a:t>잔차라고한다</a:t>
            </a:r>
            <a:r>
              <a:rPr lang="en-US" altLang="ko-KR" dirty="0"/>
              <a:t>. </a:t>
            </a:r>
            <a:r>
              <a:rPr lang="ko-KR" altLang="en-US" dirty="0"/>
              <a:t>이게 </a:t>
            </a:r>
            <a:r>
              <a:rPr lang="en-US" altLang="ko-KR" dirty="0"/>
              <a:t>F(x)</a:t>
            </a:r>
            <a:r>
              <a:rPr lang="ko-KR" altLang="en-US" dirty="0"/>
              <a:t>임</a:t>
            </a:r>
            <a:endParaRPr lang="en-US" altLang="ko-KR" dirty="0"/>
          </a:p>
          <a:p>
            <a:r>
              <a:rPr lang="en-US" altLang="ko-KR" dirty="0"/>
              <a:t>.</a:t>
            </a:r>
          </a:p>
          <a:p>
            <a:r>
              <a:rPr lang="ko-KR" altLang="en-US" dirty="0"/>
              <a:t>기존에 </a:t>
            </a:r>
            <a:r>
              <a:rPr lang="en-US" altLang="ko-KR" dirty="0"/>
              <a:t>x</a:t>
            </a:r>
            <a:r>
              <a:rPr lang="ko-KR" altLang="en-US" dirty="0"/>
              <a:t>라는 </a:t>
            </a:r>
            <a:r>
              <a:rPr lang="ko-KR" altLang="en-US" dirty="0" err="1"/>
              <a:t>입력이들어옴</a:t>
            </a:r>
            <a:r>
              <a:rPr lang="en-US" altLang="ko-KR" dirty="0"/>
              <a:t>. </a:t>
            </a:r>
            <a:r>
              <a:rPr lang="ko-KR" altLang="en-US" dirty="0"/>
              <a:t>근데 </a:t>
            </a:r>
            <a:r>
              <a:rPr lang="en-US" altLang="ko-KR" dirty="0"/>
              <a:t>x</a:t>
            </a:r>
            <a:r>
              <a:rPr lang="ko-KR" altLang="en-US" dirty="0"/>
              <a:t>를 통해서 만든 값 </a:t>
            </a:r>
            <a:r>
              <a:rPr lang="en-US" altLang="ko-KR" dirty="0"/>
              <a:t>y</a:t>
            </a:r>
            <a:r>
              <a:rPr lang="ko-KR" altLang="en-US" dirty="0"/>
              <a:t>가 최대한 </a:t>
            </a:r>
            <a:r>
              <a:rPr lang="en-US" altLang="ko-KR" dirty="0"/>
              <a:t>x</a:t>
            </a:r>
            <a:r>
              <a:rPr lang="ko-KR" altLang="en-US" dirty="0"/>
              <a:t>와 </a:t>
            </a:r>
            <a:r>
              <a:rPr lang="ko-KR" altLang="en-US" dirty="0" err="1"/>
              <a:t>비슷해야함</a:t>
            </a:r>
            <a:r>
              <a:rPr lang="en-US" altLang="ko-KR" dirty="0"/>
              <a:t>. (</a:t>
            </a:r>
            <a:r>
              <a:rPr lang="ko-KR" altLang="en-US" dirty="0"/>
              <a:t>입력을 잘 복제해야 나중에 </a:t>
            </a:r>
            <a:r>
              <a:rPr lang="ko-KR" altLang="en-US" dirty="0" err="1"/>
              <a:t>생성하는것도</a:t>
            </a:r>
            <a:r>
              <a:rPr lang="ko-KR" altLang="en-US" dirty="0"/>
              <a:t> 이와 유사하게 </a:t>
            </a:r>
            <a:r>
              <a:rPr lang="ko-KR" altLang="en-US" dirty="0" err="1"/>
              <a:t>만들수있으니까</a:t>
            </a:r>
            <a:r>
              <a:rPr lang="en-US" altLang="ko-KR" dirty="0"/>
              <a:t>)</a:t>
            </a: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Noto Serif KR"/>
              </a:rPr>
              <a:t>이때 위 그림처럼 네트워크의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erif KR"/>
              </a:rPr>
              <a:t>output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erif KR"/>
              </a:rPr>
              <a:t>이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erif KR"/>
              </a:rPr>
              <a:t>x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erif KR"/>
              </a:rPr>
              <a:t>가 되도록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erif KR"/>
              </a:rPr>
              <a:t>mapping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erif KR"/>
              </a:rPr>
              <a:t>하는 것이 아닌</a:t>
            </a:r>
            <a:endParaRPr lang="ko-KR" altLang="en-US" b="0" i="0" dirty="0">
              <a:solidFill>
                <a:srgbClr val="000000"/>
              </a:solidFill>
              <a:effectLst/>
              <a:latin typeface="Noto Sans KR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Noto Serif KR"/>
              </a:rPr>
              <a:t>아래 그림처럼 마지막에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erif KR"/>
              </a:rPr>
              <a:t>x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erif KR"/>
              </a:rPr>
              <a:t>를 더해서 네트워크의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erif KR"/>
              </a:rPr>
              <a:t>output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erif KR"/>
              </a:rPr>
              <a:t>은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erif KR"/>
              </a:rPr>
              <a:t>0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erif KR"/>
              </a:rPr>
              <a:t>이 되도록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erif KR"/>
              </a:rPr>
              <a:t>mapping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erif KR"/>
              </a:rPr>
              <a:t>해서 최종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erif KR"/>
              </a:rPr>
              <a:t>output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erif KR"/>
              </a:rPr>
              <a:t>이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erif KR"/>
              </a:rPr>
              <a:t>x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erif KR"/>
              </a:rPr>
              <a:t>가 되도록 학습한다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erif KR"/>
              </a:rPr>
              <a:t>.</a:t>
            </a:r>
            <a:endParaRPr lang="ko-KR" altLang="en-US" dirty="0"/>
          </a:p>
          <a:p>
            <a:endParaRPr lang="en-US" altLang="ko-KR" dirty="0"/>
          </a:p>
          <a:p>
            <a:r>
              <a:rPr lang="ko-KR" altLang="en-US" dirty="0"/>
              <a:t>수식그림 설명</a:t>
            </a:r>
            <a:endParaRPr lang="en-US" altLang="ko-KR" dirty="0"/>
          </a:p>
          <a:p>
            <a:r>
              <a:rPr lang="en-US" altLang="ko-KR" dirty="0"/>
              <a:t>W1</a:t>
            </a:r>
            <a:r>
              <a:rPr lang="ko-KR" altLang="en-US" dirty="0"/>
              <a:t>은 입력 </a:t>
            </a:r>
            <a:r>
              <a:rPr lang="en-US" altLang="ko-KR" dirty="0"/>
              <a:t>x</a:t>
            </a:r>
            <a:r>
              <a:rPr lang="ko-KR" altLang="en-US" dirty="0" err="1"/>
              <a:t>에대해서</a:t>
            </a:r>
            <a:r>
              <a:rPr lang="ko-KR" altLang="en-US" dirty="0"/>
              <a:t> </a:t>
            </a:r>
            <a:r>
              <a:rPr lang="ko-KR" altLang="en-US" dirty="0" err="1"/>
              <a:t>가중치라던지</a:t>
            </a:r>
            <a:r>
              <a:rPr lang="ko-KR" altLang="en-US" dirty="0"/>
              <a:t> 뭐 </a:t>
            </a:r>
            <a:r>
              <a:rPr lang="ko-KR" altLang="en-US" dirty="0" err="1"/>
              <a:t>컨볼루션연산을</a:t>
            </a:r>
            <a:r>
              <a:rPr lang="ko-KR" altLang="en-US" dirty="0"/>
              <a:t> 통해 수행 </a:t>
            </a:r>
            <a:r>
              <a:rPr lang="en-US" altLang="ko-KR" dirty="0"/>
              <a:t>&gt; </a:t>
            </a:r>
            <a:r>
              <a:rPr lang="ko-KR" altLang="en-US" dirty="0" err="1"/>
              <a:t>렐루를거치고</a:t>
            </a:r>
            <a:r>
              <a:rPr lang="ko-KR" altLang="en-US" dirty="0"/>
              <a:t> </a:t>
            </a:r>
            <a:r>
              <a:rPr lang="en-US" altLang="ko-KR" dirty="0"/>
              <a:t>w2</a:t>
            </a:r>
            <a:r>
              <a:rPr lang="ko-KR" altLang="en-US" dirty="0"/>
              <a:t>와 또 연산을 수행함</a:t>
            </a:r>
            <a:r>
              <a:rPr lang="en-US" altLang="ko-KR" dirty="0"/>
              <a:t>. </a:t>
            </a:r>
            <a:r>
              <a:rPr lang="ko-KR" altLang="en-US" dirty="0"/>
              <a:t>이 </a:t>
            </a:r>
            <a:r>
              <a:rPr lang="ko-KR" altLang="en-US" dirty="0" err="1"/>
              <a:t>수행값들이</a:t>
            </a:r>
            <a:r>
              <a:rPr lang="ko-KR" altLang="en-US" dirty="0"/>
              <a:t> </a:t>
            </a:r>
            <a:r>
              <a:rPr lang="en-US" altLang="ko-KR" dirty="0"/>
              <a:t>F</a:t>
            </a:r>
            <a:r>
              <a:rPr lang="ko-KR" altLang="en-US" dirty="0"/>
              <a:t>값으로 봄</a:t>
            </a:r>
            <a:r>
              <a:rPr lang="en-US" altLang="ko-KR" dirty="0"/>
              <a:t>. </a:t>
            </a:r>
            <a:r>
              <a:rPr lang="ko-KR" altLang="en-US" dirty="0"/>
              <a:t>근데 이 </a:t>
            </a:r>
            <a:r>
              <a:rPr lang="en-US" altLang="ko-KR" dirty="0"/>
              <a:t>F</a:t>
            </a:r>
            <a:r>
              <a:rPr lang="ko-KR" altLang="en-US" dirty="0"/>
              <a:t>에서의 연산들이 꼭 </a:t>
            </a:r>
            <a:r>
              <a:rPr lang="ko-KR" altLang="en-US" dirty="0" err="1"/>
              <a:t>두번일</a:t>
            </a:r>
            <a:r>
              <a:rPr lang="ko-KR" altLang="en-US" dirty="0"/>
              <a:t> 필요는 없음 그래서 </a:t>
            </a:r>
            <a:r>
              <a:rPr lang="en-US" altLang="ko-KR" dirty="0"/>
              <a:t>{Wi}(</a:t>
            </a:r>
            <a:r>
              <a:rPr lang="en-US" altLang="ko-KR" dirty="0" err="1"/>
              <a:t>i</a:t>
            </a:r>
            <a:r>
              <a:rPr lang="ko-KR" altLang="en-US" dirty="0"/>
              <a:t>번만큼 수행가능</a:t>
            </a:r>
            <a:r>
              <a:rPr lang="en-US" altLang="ko-KR" dirty="0"/>
              <a:t>) F</a:t>
            </a:r>
            <a:r>
              <a:rPr lang="ko-KR" altLang="en-US" dirty="0"/>
              <a:t>함수는 </a:t>
            </a:r>
            <a:r>
              <a:rPr lang="en-US" altLang="ko-KR" dirty="0" err="1"/>
              <a:t>i</a:t>
            </a:r>
            <a:r>
              <a:rPr lang="ko-KR" altLang="en-US" dirty="0"/>
              <a:t>번만큼 </a:t>
            </a:r>
            <a:r>
              <a:rPr lang="en-US" altLang="ko-KR" dirty="0"/>
              <a:t>x </a:t>
            </a:r>
            <a:r>
              <a:rPr lang="ko-KR" altLang="en-US" dirty="0" err="1"/>
              <a:t>에대해</a:t>
            </a:r>
            <a:r>
              <a:rPr lang="ko-KR" altLang="en-US" dirty="0"/>
              <a:t> 수행함</a:t>
            </a:r>
            <a:r>
              <a:rPr lang="en-US" altLang="ko-KR" dirty="0"/>
              <a:t>.  </a:t>
            </a:r>
          </a:p>
          <a:p>
            <a:r>
              <a:rPr lang="ko-KR" altLang="en-US" dirty="0"/>
              <a:t>마지막에 </a:t>
            </a:r>
            <a:r>
              <a:rPr lang="en-US" altLang="ko-KR" dirty="0" err="1"/>
              <a:t>Wsx</a:t>
            </a:r>
            <a:r>
              <a:rPr lang="ko-KR" altLang="en-US" dirty="0"/>
              <a:t>를 더해주는데 기존의 </a:t>
            </a:r>
            <a:r>
              <a:rPr lang="ko-KR" altLang="en-US" dirty="0" err="1"/>
              <a:t>입력값이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임 근데 </a:t>
            </a:r>
            <a:r>
              <a:rPr lang="ko-KR" altLang="en-US" dirty="0" err="1"/>
              <a:t>디멘션이</a:t>
            </a:r>
            <a:r>
              <a:rPr lang="ko-KR" altLang="en-US" dirty="0"/>
              <a:t> </a:t>
            </a:r>
            <a:r>
              <a:rPr lang="ko-KR" altLang="en-US" dirty="0" err="1"/>
              <a:t>같지않다면</a:t>
            </a:r>
            <a:r>
              <a:rPr lang="ko-KR" altLang="en-US" dirty="0"/>
              <a:t> </a:t>
            </a:r>
            <a:r>
              <a:rPr lang="en-US" altLang="ko-KR" dirty="0" err="1"/>
              <a:t>Ws</a:t>
            </a:r>
            <a:r>
              <a:rPr lang="ko-KR" altLang="en-US" dirty="0"/>
              <a:t>를 곱해줘서 </a:t>
            </a:r>
            <a:r>
              <a:rPr lang="ko-KR" altLang="en-US" dirty="0" err="1"/>
              <a:t>맞춰줌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이게 왜 </a:t>
            </a:r>
            <a:r>
              <a:rPr lang="ko-KR" altLang="en-US" dirty="0" err="1"/>
              <a:t>그래디언트소실을</a:t>
            </a:r>
            <a:r>
              <a:rPr lang="ko-KR" altLang="en-US" dirty="0"/>
              <a:t> 막아주냐</a:t>
            </a:r>
            <a:r>
              <a:rPr lang="en-US" altLang="ko-KR" dirty="0"/>
              <a:t>. Y</a:t>
            </a:r>
            <a:r>
              <a:rPr lang="ko-KR" altLang="en-US" dirty="0"/>
              <a:t>를 </a:t>
            </a:r>
            <a:r>
              <a:rPr lang="en-US" altLang="ko-KR" dirty="0"/>
              <a:t>x</a:t>
            </a:r>
            <a:r>
              <a:rPr lang="ko-KR" altLang="en-US" dirty="0"/>
              <a:t>에 대해서 </a:t>
            </a:r>
            <a:r>
              <a:rPr lang="ko-KR" altLang="en-US" dirty="0" err="1"/>
              <a:t>미분했을때</a:t>
            </a:r>
            <a:r>
              <a:rPr lang="ko-KR" altLang="en-US" dirty="0"/>
              <a:t> 최소 </a:t>
            </a:r>
            <a:r>
              <a:rPr lang="en-US" altLang="ko-KR" dirty="0"/>
              <a:t>1</a:t>
            </a:r>
            <a:r>
              <a:rPr lang="ko-KR" altLang="en-US" dirty="0"/>
              <a:t>이상의 값이 나와서 소실을 완화해 준다고 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81DEE6A-CE55-4E34-A123-745590175427}" type="slidenum">
              <a:rPr lang="ko-KR" altLang="en-US" smtClean="0"/>
              <a:pPr lvl="0"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878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마스크드</a:t>
            </a:r>
            <a:r>
              <a:rPr lang="ko-KR" altLang="en-US" dirty="0"/>
              <a:t> </a:t>
            </a:r>
            <a:r>
              <a:rPr lang="ko-KR" altLang="en-US" dirty="0" err="1"/>
              <a:t>컨볼루션레이어를</a:t>
            </a:r>
            <a:r>
              <a:rPr lang="ko-KR" altLang="en-US" dirty="0"/>
              <a:t> 활용하고</a:t>
            </a:r>
            <a:r>
              <a:rPr lang="en-US" altLang="ko-KR" dirty="0"/>
              <a:t>, </a:t>
            </a:r>
            <a:r>
              <a:rPr lang="ko-KR" altLang="en-US" dirty="0" err="1"/>
              <a:t>잔차블록을</a:t>
            </a:r>
            <a:r>
              <a:rPr lang="ko-KR" altLang="en-US" dirty="0"/>
              <a:t> 활용한 코드를 살펴보겠다</a:t>
            </a:r>
            <a:r>
              <a:rPr lang="en-US" altLang="ko-KR" dirty="0"/>
              <a:t>. </a:t>
            </a:r>
            <a:r>
              <a:rPr lang="ko-KR" altLang="en-US" dirty="0" err="1"/>
              <a:t>잔차블록은</a:t>
            </a:r>
            <a:r>
              <a:rPr lang="ko-KR" altLang="en-US" dirty="0"/>
              <a:t> 꼭 사용될 필요는 없음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채널수를</a:t>
            </a:r>
            <a:r>
              <a:rPr lang="ko-KR" altLang="en-US" dirty="0"/>
              <a:t> 줄였다가 </a:t>
            </a:r>
            <a:r>
              <a:rPr lang="ko-KR" altLang="en-US" dirty="0" err="1"/>
              <a:t>복원하는게</a:t>
            </a:r>
            <a:r>
              <a:rPr lang="ko-KR" altLang="en-US" dirty="0"/>
              <a:t> </a:t>
            </a:r>
            <a:r>
              <a:rPr lang="ko-KR" altLang="en-US" dirty="0" err="1"/>
              <a:t>뭐가좋냐</a:t>
            </a:r>
            <a:r>
              <a:rPr lang="ko-KR" altLang="en-US" dirty="0"/>
              <a:t> 하면</a:t>
            </a:r>
            <a:endParaRPr lang="en-US" altLang="ko-KR" dirty="0"/>
          </a:p>
          <a:p>
            <a:r>
              <a:rPr lang="ko-KR" altLang="en-US" dirty="0"/>
              <a:t>파라미터의 개수를 줄여서 일단계산의 효율성을 높임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채널을 줄여서 결합했으므로 </a:t>
            </a:r>
            <a:r>
              <a:rPr lang="en-US" altLang="ko-KR" dirty="0"/>
              <a:t>1*1</a:t>
            </a:r>
            <a:r>
              <a:rPr lang="ko-KR" altLang="en-US" dirty="0" err="1"/>
              <a:t>컨볼루션을</a:t>
            </a:r>
            <a:r>
              <a:rPr lang="ko-KR" altLang="en-US" dirty="0"/>
              <a:t> 통해 입력의 특징을 </a:t>
            </a:r>
            <a:r>
              <a:rPr lang="ko-KR" altLang="en-US" dirty="0" err="1"/>
              <a:t>명백하게하고</a:t>
            </a:r>
            <a:r>
              <a:rPr lang="en-US" altLang="ko-KR" dirty="0"/>
              <a:t>, </a:t>
            </a:r>
            <a:r>
              <a:rPr lang="ko-KR" altLang="en-US" dirty="0"/>
              <a:t>채널간 정보를 통합한다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비선형성이 추가되므로 더 복잡한걸 학습 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81DEE6A-CE55-4E34-A123-745590175427}" type="slidenum">
              <a:rPr lang="ko-KR" altLang="en-US" smtClean="0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340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픽셀레벨은 </a:t>
            </a:r>
            <a:r>
              <a:rPr lang="ko-KR" altLang="en-US" dirty="0" err="1"/>
              <a:t>픽셀값의</a:t>
            </a:r>
            <a:r>
              <a:rPr lang="ko-KR" altLang="en-US" dirty="0"/>
              <a:t> 범위를 나타냄</a:t>
            </a:r>
            <a:r>
              <a:rPr lang="en-US" altLang="ko-KR" dirty="0"/>
              <a:t>. </a:t>
            </a:r>
            <a:r>
              <a:rPr lang="ko-KR" altLang="en-US" dirty="0" err="1"/>
              <a:t>이모델이</a:t>
            </a:r>
            <a:r>
              <a:rPr lang="ko-KR" altLang="en-US" dirty="0"/>
              <a:t> 시간이 </a:t>
            </a:r>
            <a:r>
              <a:rPr lang="ko-KR" altLang="en-US" dirty="0" err="1"/>
              <a:t>오래걸려서</a:t>
            </a:r>
            <a:r>
              <a:rPr lang="ko-KR" altLang="en-US" dirty="0"/>
              <a:t> </a:t>
            </a:r>
            <a:r>
              <a:rPr lang="ko-KR" altLang="en-US" dirty="0" err="1"/>
              <a:t>픽셀값의</a:t>
            </a:r>
            <a:r>
              <a:rPr lang="ko-KR" altLang="en-US" dirty="0"/>
              <a:t> 범위를 제한하여 모델을 학습시킴</a:t>
            </a:r>
            <a:r>
              <a:rPr lang="en-US" altLang="ko-KR" dirty="0"/>
              <a:t>. </a:t>
            </a:r>
            <a:r>
              <a:rPr lang="ko-KR" altLang="en-US" dirty="0"/>
              <a:t>픽셀이 </a:t>
            </a:r>
            <a:r>
              <a:rPr lang="en-US" altLang="ko-KR" dirty="0"/>
              <a:t>0</a:t>
            </a:r>
            <a:r>
              <a:rPr lang="ko-KR" altLang="en-US" dirty="0"/>
              <a:t>부터</a:t>
            </a:r>
            <a:r>
              <a:rPr lang="en-US" altLang="ko-KR" dirty="0"/>
              <a:t>3</a:t>
            </a:r>
            <a:r>
              <a:rPr lang="ko-KR" altLang="en-US" dirty="0"/>
              <a:t>까지의 값으로 표현됨</a:t>
            </a:r>
            <a:endParaRPr lang="en-US" altLang="ko-KR" dirty="0"/>
          </a:p>
          <a:p>
            <a:r>
              <a:rPr lang="en-US" altLang="ko-KR" dirty="0"/>
              <a:t>N</a:t>
            </a:r>
            <a:r>
              <a:rPr lang="ko-KR" altLang="en-US" dirty="0"/>
              <a:t>필터는 </a:t>
            </a:r>
            <a:r>
              <a:rPr lang="ko-KR" altLang="en-US" dirty="0" err="1"/>
              <a:t>합성곱에서</a:t>
            </a:r>
            <a:r>
              <a:rPr lang="ko-KR" altLang="en-US" dirty="0"/>
              <a:t> 사용되는 필터의 개수임</a:t>
            </a:r>
            <a:endParaRPr lang="en-US" altLang="ko-KR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__</a:t>
            </a:r>
            <a:r>
              <a:rPr lang="en-US" altLang="ko-KR" b="0" i="0" dirty="0" err="1">
                <a:solidFill>
                  <a:srgbClr val="ECECEC"/>
                </a:solidFill>
                <a:effectLst/>
                <a:latin typeface="Söhne"/>
              </a:rPr>
              <a:t>init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__: 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클래스의 생성자로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en-US" altLang="ko-KR" b="0" i="0" dirty="0" err="1">
                <a:solidFill>
                  <a:srgbClr val="ECECEC"/>
                </a:solidFill>
                <a:effectLst/>
                <a:latin typeface="Söhne"/>
              </a:rPr>
              <a:t>mask_type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매개변수와 기타 </a:t>
            </a:r>
            <a:r>
              <a:rPr lang="ko-KR" altLang="en-US" b="0" i="0" dirty="0" err="1">
                <a:solidFill>
                  <a:srgbClr val="ECECEC"/>
                </a:solidFill>
                <a:effectLst/>
                <a:latin typeface="Söhne"/>
              </a:rPr>
              <a:t>컨볼루션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 레이어에 필요한 매개변수를 받습니다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. 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이 메소드에서는 내부적으로 </a:t>
            </a:r>
            <a:r>
              <a:rPr lang="ko-KR" altLang="en-US" b="0" i="0" dirty="0" err="1">
                <a:solidFill>
                  <a:srgbClr val="ECECEC"/>
                </a:solidFill>
                <a:effectLst/>
                <a:latin typeface="Söhne"/>
              </a:rPr>
              <a:t>컨볼루션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 레이어를 생성합니다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build: 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레이어의 가중치를 초기화하고 마스크를 만듭니다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. 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마스크는 </a:t>
            </a:r>
            <a:r>
              <a:rPr lang="ko-KR" altLang="en-US" b="0" i="0" dirty="0" err="1">
                <a:solidFill>
                  <a:srgbClr val="ECECEC"/>
                </a:solidFill>
                <a:effectLst/>
                <a:latin typeface="Söhne"/>
              </a:rPr>
              <a:t>컨볼루션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 레이어의 커널에 적용됩니다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. 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이 클래스에서는 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'B' 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타입의 마스크를 사용하고 있으며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이는 현재 픽셀보다 왼쪽과 상단의 모든 픽셀에 대해 </a:t>
            </a:r>
            <a:r>
              <a:rPr lang="ko-KR" altLang="en-US" b="0" i="0" dirty="0" err="1">
                <a:solidFill>
                  <a:srgbClr val="ECECEC"/>
                </a:solidFill>
                <a:effectLst/>
                <a:latin typeface="Söhne"/>
              </a:rPr>
              <a:t>마스킹됩니다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call: 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입력 데이터에 대해 </a:t>
            </a:r>
            <a:r>
              <a:rPr lang="ko-KR" altLang="en-US" b="0" i="0" dirty="0" err="1">
                <a:solidFill>
                  <a:srgbClr val="ECECEC"/>
                </a:solidFill>
                <a:effectLst/>
                <a:latin typeface="Söhne"/>
              </a:rPr>
              <a:t>컨볼루션을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 수행하기 전에 마스크를 커널에 적용합니다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. 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이후 </a:t>
            </a:r>
            <a:r>
              <a:rPr lang="ko-KR" altLang="en-US" b="0" i="0" dirty="0" err="1">
                <a:solidFill>
                  <a:srgbClr val="ECECEC"/>
                </a:solidFill>
                <a:effectLst/>
                <a:latin typeface="Söhne"/>
              </a:rPr>
              <a:t>컨볼루션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 연산을 실행하고 결과를 반환합니다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 err="1">
                <a:solidFill>
                  <a:srgbClr val="ECECEC"/>
                </a:solidFill>
                <a:effectLst/>
                <a:latin typeface="Söhne"/>
              </a:rPr>
              <a:t>get_config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: 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레이어의 설정을 반환합니다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81DEE6A-CE55-4E34-A123-745590175427}" type="slidenum">
              <a:rPr lang="ko-KR" altLang="en-US" smtClean="0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994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채널수를</a:t>
            </a:r>
            <a:r>
              <a:rPr lang="ko-KR" altLang="en-US" dirty="0"/>
              <a:t> 줄였다가 </a:t>
            </a:r>
            <a:r>
              <a:rPr lang="ko-KR" altLang="en-US" dirty="0" err="1"/>
              <a:t>복원하는게</a:t>
            </a:r>
            <a:r>
              <a:rPr lang="ko-KR" altLang="en-US" dirty="0"/>
              <a:t> </a:t>
            </a:r>
            <a:r>
              <a:rPr lang="ko-KR" altLang="en-US" dirty="0" err="1"/>
              <a:t>뭐가좋냐</a:t>
            </a:r>
            <a:r>
              <a:rPr lang="ko-KR" altLang="en-US" dirty="0"/>
              <a:t> 하면</a:t>
            </a:r>
            <a:endParaRPr lang="en-US" altLang="ko-KR" dirty="0"/>
          </a:p>
          <a:p>
            <a:r>
              <a:rPr lang="ko-KR" altLang="en-US" dirty="0"/>
              <a:t>파라미터의 개수를 줄여서 일단계산의 효율성을 높임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채널을 줄여서 결합했으므로 </a:t>
            </a:r>
            <a:r>
              <a:rPr lang="en-US" altLang="ko-KR" dirty="0"/>
              <a:t>1*1</a:t>
            </a:r>
            <a:r>
              <a:rPr lang="ko-KR" altLang="en-US" dirty="0" err="1"/>
              <a:t>컨볼루션을</a:t>
            </a:r>
            <a:r>
              <a:rPr lang="ko-KR" altLang="en-US" dirty="0"/>
              <a:t> 통해 입력의 특징을 </a:t>
            </a:r>
            <a:r>
              <a:rPr lang="ko-KR" altLang="en-US" dirty="0" err="1"/>
              <a:t>명백하게하고</a:t>
            </a:r>
            <a:r>
              <a:rPr lang="en-US" altLang="ko-KR" dirty="0"/>
              <a:t>, </a:t>
            </a:r>
            <a:r>
              <a:rPr lang="ko-KR" altLang="en-US" dirty="0"/>
              <a:t>채널간 정보를 통합한다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비선형성이 추가되므로 더 복잡한걸 학습 할 수 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81DEE6A-CE55-4E34-A123-745590175427}" type="slidenum">
              <a:rPr lang="ko-KR" altLang="en-US" smtClean="0"/>
              <a:pPr lvl="0"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164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 err="1"/>
              <a:t>입력값의</a:t>
            </a:r>
            <a:r>
              <a:rPr lang="ko-KR" altLang="en-US" dirty="0"/>
              <a:t> 범위는 </a:t>
            </a:r>
            <a:r>
              <a:rPr lang="en-US" altLang="ko-KR" dirty="0"/>
              <a:t>0</a:t>
            </a:r>
            <a:r>
              <a:rPr lang="ko-KR" altLang="en-US" dirty="0"/>
              <a:t>에서 </a:t>
            </a:r>
            <a:r>
              <a:rPr lang="en-US" altLang="ko-KR" dirty="0"/>
              <a:t>1</a:t>
            </a:r>
            <a:r>
              <a:rPr lang="ko-KR" altLang="en-US" dirty="0"/>
              <a:t>사이의 실수임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 err="1"/>
              <a:t>커널크기가</a:t>
            </a:r>
            <a:r>
              <a:rPr lang="ko-KR" altLang="en-US" dirty="0"/>
              <a:t> </a:t>
            </a:r>
            <a:r>
              <a:rPr lang="en-US" altLang="ko-KR" dirty="0"/>
              <a:t>7</a:t>
            </a:r>
            <a:r>
              <a:rPr lang="ko-KR" altLang="en-US" dirty="0"/>
              <a:t>인데 </a:t>
            </a:r>
            <a:r>
              <a:rPr lang="en-US" altLang="ko-KR" dirty="0"/>
              <a:t>A</a:t>
            </a:r>
            <a:r>
              <a:rPr lang="ko-KR" altLang="en-US" dirty="0"/>
              <a:t>타입이니까 </a:t>
            </a:r>
            <a:r>
              <a:rPr lang="en-US" altLang="ko-KR" dirty="0"/>
              <a:t>49</a:t>
            </a:r>
            <a:r>
              <a:rPr lang="ko-KR" altLang="en-US" dirty="0" err="1"/>
              <a:t>칸중에</a:t>
            </a:r>
            <a:r>
              <a:rPr lang="ko-KR" altLang="en-US" dirty="0"/>
              <a:t> </a:t>
            </a:r>
            <a:r>
              <a:rPr lang="en-US" altLang="ko-KR" dirty="0"/>
              <a:t>24</a:t>
            </a:r>
            <a:r>
              <a:rPr lang="ko-KR" altLang="en-US" dirty="0"/>
              <a:t>칸만 </a:t>
            </a:r>
            <a:r>
              <a:rPr lang="ko-KR" altLang="en-US" dirty="0" err="1"/>
              <a:t>사용하는거임</a:t>
            </a:r>
            <a:r>
              <a:rPr lang="en-US" altLang="ko-KR" dirty="0"/>
              <a:t>. </a:t>
            </a:r>
            <a:r>
              <a:rPr lang="ko-KR" altLang="en-US" dirty="0"/>
              <a:t>가운데 값 사용 </a:t>
            </a:r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81DEE6A-CE55-4E34-A123-745590175427}" type="slidenum">
              <a:rPr lang="ko-KR" altLang="en-US" smtClean="0"/>
              <a:pPr lvl="0"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1593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템플쳐는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얼마나 </a:t>
            </a:r>
            <a:r>
              <a:rPr lang="ko-KR" altLang="en-US" dirty="0" err="1"/>
              <a:t>확확바뀔거냐</a:t>
            </a:r>
            <a:r>
              <a:rPr lang="en-US" altLang="ko-KR" dirty="0"/>
              <a:t>, </a:t>
            </a:r>
            <a:r>
              <a:rPr lang="ko-KR" altLang="en-US" dirty="0"/>
              <a:t>모험적이냐 </a:t>
            </a:r>
            <a:r>
              <a:rPr lang="ko-KR" altLang="en-US" dirty="0" err="1"/>
              <a:t>이런느낌</a:t>
            </a:r>
            <a:endParaRPr lang="en-US" altLang="ko-KR" dirty="0"/>
          </a:p>
          <a:p>
            <a:r>
              <a:rPr lang="ko-KR" altLang="en-US" dirty="0" err="1"/>
              <a:t>다음픽셀의</a:t>
            </a:r>
            <a:r>
              <a:rPr lang="ko-KR" altLang="en-US" dirty="0"/>
              <a:t> 값을 </a:t>
            </a:r>
            <a:r>
              <a:rPr lang="ko-KR" altLang="en-US" dirty="0" err="1"/>
              <a:t>선택할때</a:t>
            </a:r>
            <a:r>
              <a:rPr lang="ko-KR" altLang="en-US" dirty="0"/>
              <a:t> 불확실성을 조절하는 파라미터다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온도가 높으면 분포가 평평</a:t>
            </a:r>
            <a:r>
              <a:rPr lang="en-US" altLang="ko-KR" dirty="0"/>
              <a:t>, </a:t>
            </a:r>
            <a:r>
              <a:rPr lang="ko-KR" altLang="en-US" dirty="0"/>
              <a:t>픽셀들의 확률이 </a:t>
            </a:r>
            <a:r>
              <a:rPr lang="ko-KR" altLang="en-US" dirty="0" err="1"/>
              <a:t>비슷해짐</a:t>
            </a:r>
            <a:endParaRPr lang="en-US" altLang="ko-KR" dirty="0"/>
          </a:p>
          <a:p>
            <a:r>
              <a:rPr lang="ko-KR" altLang="en-US" dirty="0"/>
              <a:t>온도가 낮으면 분포가 </a:t>
            </a:r>
            <a:r>
              <a:rPr lang="ko-KR" altLang="en-US" dirty="0" err="1"/>
              <a:t>뾰족해지고</a:t>
            </a:r>
            <a:r>
              <a:rPr lang="ko-KR" altLang="en-US" dirty="0"/>
              <a:t> 가장 가능성이 높은 픽셀의 확률이 상대적으로 높아짐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81DEE6A-CE55-4E34-A123-745590175427}" type="slidenum">
              <a:rPr lang="ko-KR" altLang="en-US" smtClean="0"/>
              <a:pPr lvl="0"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1290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이미지생성을 자기회귀적으로 해봄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81DEE6A-CE55-4E34-A123-745590175427}" type="slidenum">
              <a:rPr lang="ko-KR" altLang="en-US" smtClean="0"/>
              <a:pPr lvl="0"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541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274C92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ko-KR" altLang="en-US"/>
              <a:t>자기회귀모델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서현우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723130" y="5460207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lvl="0">
              <a:defRPr/>
            </a:pPr>
            <a:r>
              <a:rPr lang="en-US" altLang="ko-KR"/>
              <a:t>2024.01.25</a:t>
            </a:r>
          </a:p>
        </p:txBody>
      </p:sp>
      <p:sp>
        <p:nvSpPr>
          <p:cNvPr id="7" name="직사각형 6"/>
          <p:cNvSpPr/>
          <p:nvPr userDrawn="1"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1800" b="1" i="1">
                <a:solidFill>
                  <a:schemeClr val="bg1"/>
                </a:solidFill>
                <a:latin typeface="맑은 고딕"/>
                <a:ea typeface="맑은 고딕"/>
              </a:rPr>
              <a:t>     </a:t>
            </a:r>
            <a:r>
              <a:rPr lang="ko-KR" altLang="ko-KR" sz="1800" b="1" i="1">
                <a:solidFill>
                  <a:schemeClr val="bg1"/>
                </a:solidFill>
                <a:latin typeface="맑은 고딕"/>
                <a:ea typeface="맑은 고딕"/>
              </a:rPr>
              <a:t>IBDP Lab</a:t>
            </a:r>
            <a:r>
              <a:rPr lang="ko-KR" altLang="ko-KR" sz="1800" i="1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ko-KR" altLang="ko-KR" sz="1800" b="1" i="1">
                <a:solidFill>
                  <a:schemeClr val="bg1"/>
                </a:solidFill>
                <a:latin typeface="맑은 고딕"/>
                <a:ea typeface="맑은 고딕"/>
              </a:rPr>
              <a:t>( https://sites.google.com/view/ibdp-lab/ )</a:t>
            </a:r>
            <a:r>
              <a:rPr lang="en-US" altLang="ko-KR" sz="1800" b="1" i="1">
                <a:solidFill>
                  <a:schemeClr val="bg1"/>
                </a:solidFill>
                <a:latin typeface="맑은 고딕"/>
                <a:ea typeface="맑은 고딕"/>
              </a:rPr>
              <a:t>                   	             sho5223@naver.com                   </a:t>
            </a:r>
            <a:endParaRPr lang="ko-KR" altLang="en-US" sz="1800" i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pic>
        <p:nvPicPr>
          <p:cNvPr id="8" name="그림 19" descr="C:/Users/USER/AppData/Roaming/PolarisOffice/ETemp/1604_13551552/fImage56966786500.png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fld id="{513237F5-BA6C-44EB-8611-BE9F046D20F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cxnSp>
        <p:nvCxnSpPr>
          <p:cNvPr id="12" name="직선 연결선 11"/>
          <p:cNvCxnSpPr/>
          <p:nvPr userDrawn="1"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1800" b="1" i="1">
                <a:solidFill>
                  <a:schemeClr val="bg1"/>
                </a:solidFill>
                <a:latin typeface="맑은 고딕"/>
                <a:ea typeface="맑은 고딕"/>
              </a:rPr>
              <a:t>     </a:t>
            </a:r>
            <a:r>
              <a:rPr lang="ko-KR" altLang="ko-KR" sz="1800" b="1" i="1">
                <a:solidFill>
                  <a:schemeClr val="bg1"/>
                </a:solidFill>
                <a:latin typeface="맑은 고딕"/>
                <a:ea typeface="맑은 고딕"/>
              </a:rPr>
              <a:t>IBDP Lab</a:t>
            </a:r>
            <a:r>
              <a:rPr lang="ko-KR" altLang="ko-KR" sz="1800" i="1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ko-KR" altLang="ko-KR" sz="1800" b="1" i="1">
                <a:solidFill>
                  <a:schemeClr val="bg1"/>
                </a:solidFill>
                <a:latin typeface="맑은 고딕"/>
                <a:ea typeface="맑은 고딕"/>
              </a:rPr>
              <a:t>( https://sites.google.com/view/ibdp-lab/ )</a:t>
            </a:r>
            <a:r>
              <a:rPr lang="en-US" altLang="ko-KR" sz="1800" b="1" i="1">
                <a:solidFill>
                  <a:schemeClr val="bg1"/>
                </a:solidFill>
                <a:latin typeface="맑은 고딕"/>
                <a:ea typeface="맑은 고딕"/>
              </a:rPr>
              <a:t>                                       sho5223@naver.com                   </a:t>
            </a:r>
            <a:endParaRPr lang="ko-KR" altLang="en-US" sz="1800" i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5125" y="325437"/>
            <a:ext cx="10515600" cy="79074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100">
                <a:latin typeface="+mj-lt"/>
              </a:defRPr>
            </a:lvl3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fld id="{513237F5-BA6C-44EB-8611-BE9F046D20F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942052"/>
            <a:ext cx="12192000" cy="0"/>
          </a:xfrm>
          <a:prstGeom prst="line">
            <a:avLst/>
          </a:prstGeom>
          <a:ln w="38100">
            <a:solidFill>
              <a:srgbClr val="274C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19" descr="C:/Users/USER/AppData/Roaming/PolarisOffice/ETemp/1604_13551552/fImage56966786500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cxnSp>
        <p:nvCxnSpPr>
          <p:cNvPr id="10" name="직선 연결선 9"/>
          <p:cNvCxnSpPr/>
          <p:nvPr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cxnSp>
        <p:nvCxnSpPr>
          <p:cNvPr id="12" name="직선 연결선 11"/>
          <p:cNvCxnSpPr/>
          <p:nvPr/>
        </p:nvCxnSpPr>
        <p:spPr>
          <a:xfrm>
            <a:off x="0" y="294399"/>
            <a:ext cx="2272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내용 개체 틀 4"/>
          <p:cNvSpPr>
            <a:spLocks noGrp="1"/>
          </p:cNvSpPr>
          <p:nvPr>
            <p:ph sz="quarter" idx="13"/>
          </p:nvPr>
        </p:nvSpPr>
        <p:spPr>
          <a:xfrm>
            <a:off x="227247" y="174515"/>
            <a:ext cx="7142060" cy="25833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1800" b="1" i="1">
                <a:solidFill>
                  <a:schemeClr val="bg1"/>
                </a:solidFill>
                <a:latin typeface="맑은 고딕"/>
                <a:ea typeface="맑은 고딕"/>
              </a:rPr>
              <a:t>     </a:t>
            </a:r>
            <a:r>
              <a:rPr lang="ko-KR" altLang="ko-KR" sz="1800" b="1" i="1">
                <a:solidFill>
                  <a:schemeClr val="bg1"/>
                </a:solidFill>
                <a:latin typeface="맑은 고딕"/>
                <a:ea typeface="맑은 고딕"/>
              </a:rPr>
              <a:t>IBDP Lab</a:t>
            </a:r>
            <a:r>
              <a:rPr lang="ko-KR" altLang="ko-KR" sz="1800" i="1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ko-KR" altLang="ko-KR" sz="1800" b="1" i="1">
                <a:solidFill>
                  <a:schemeClr val="bg1"/>
                </a:solidFill>
                <a:latin typeface="맑은 고딕"/>
                <a:ea typeface="맑은 고딕"/>
              </a:rPr>
              <a:t>( https://sites.google.com/view/ibdp-lab/ )</a:t>
            </a:r>
            <a:r>
              <a:rPr lang="en-US" altLang="ko-KR" sz="1800" b="1" i="1">
                <a:solidFill>
                  <a:schemeClr val="bg1"/>
                </a:solidFill>
                <a:latin typeface="맑은 고딕"/>
                <a:ea typeface="맑은 고딕"/>
              </a:rPr>
              <a:t>                       	             sho5223@naver.com</a:t>
            </a:r>
            <a:endParaRPr lang="ko-KR" altLang="en-US" sz="1800" i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6" name="제목 1"/>
          <p:cNvSpPr txBox="1"/>
          <p:nvPr/>
        </p:nvSpPr>
        <p:spPr>
          <a:xfrm>
            <a:off x="365125" y="325437"/>
            <a:ext cx="10515600" cy="79074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나눔고딕OTF"/>
                <a:cs typeface="+mj-cs"/>
              </a:defRPr>
            </a:lvl1pPr>
          </a:lstStyle>
          <a:p>
            <a:pPr lvl="0">
              <a:defRPr/>
            </a:pPr>
            <a:r>
              <a:rPr lang="en-US" altLang="ko-KR"/>
              <a:t>Q&amp;A</a:t>
            </a:r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>
            <a:off x="0" y="942052"/>
            <a:ext cx="12192000" cy="0"/>
          </a:xfrm>
          <a:prstGeom prst="line">
            <a:avLst/>
          </a:prstGeom>
          <a:ln w="38100">
            <a:solidFill>
              <a:srgbClr val="274C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19" descr="C:/Users/USER/AppData/Roaming/PolarisOffice/ETemp/1604_13551552/fImage56966786500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cxnSp>
        <p:nvCxnSpPr>
          <p:cNvPr id="11" name="직선 연결선 10"/>
          <p:cNvCxnSpPr/>
          <p:nvPr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sp>
        <p:nvSpPr>
          <p:cNvPr id="25" name="제목 1"/>
          <p:cNvSpPr txBox="1"/>
          <p:nvPr/>
        </p:nvSpPr>
        <p:spPr>
          <a:xfrm>
            <a:off x="1524000" y="2341563"/>
            <a:ext cx="9144000" cy="23876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나눔고딕OTF"/>
                <a:cs typeface="+mj-cs"/>
              </a:defRPr>
            </a:lvl1pPr>
          </a:lstStyle>
          <a:p>
            <a:pPr algn="ctr">
              <a:defRPr/>
            </a:pPr>
            <a:endParaRPr lang="ko-KR" altLang="en-US" sz="4000"/>
          </a:p>
        </p:txBody>
      </p:sp>
      <p:sp>
        <p:nvSpPr>
          <p:cNvPr id="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fld id="{513237F5-BA6C-44EB-8611-BE9F046D20F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세미나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284018" y="125483"/>
            <a:ext cx="10515600" cy="79074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510639" y="1080655"/>
            <a:ext cx="11253849" cy="509630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F1D2DA4A-7145-41F4-B5F6-06D0F27E03B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</p:sldLayoutIdLst>
  <p:transition/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나눔고딕OTF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j-lt"/>
          <a:ea typeface="나눔고딕OTF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j-lt"/>
          <a:ea typeface="나눔고딕OTF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j-lt"/>
          <a:ea typeface="나눔고딕OTF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j-lt"/>
          <a:ea typeface="나눔고딕OTF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j-lt"/>
          <a:ea typeface="나눔고딕OTF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자기회귀모델</a:t>
            </a:r>
            <a:br>
              <a:rPr lang="en-US" altLang="ko-KR" dirty="0"/>
            </a:br>
            <a:r>
              <a:rPr lang="en-US" altLang="ko-KR" dirty="0"/>
              <a:t>pixel </a:t>
            </a:r>
            <a:r>
              <a:rPr lang="en-US" altLang="ko-KR" dirty="0" err="1"/>
              <a:t>cnn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서현우</a:t>
            </a:r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2024-02-22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513237F5-BA6C-44EB-8611-BE9F046D20F4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목차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dirty="0"/>
              <a:t>1.</a:t>
            </a:r>
            <a:r>
              <a:rPr lang="ko-KR" altLang="en-US" dirty="0"/>
              <a:t>소개</a:t>
            </a:r>
          </a:p>
          <a:p>
            <a:pPr marL="0" lvl="0" indent="0">
              <a:buNone/>
              <a:defRPr/>
            </a:pPr>
            <a:r>
              <a:rPr lang="en-US" altLang="ko-KR" dirty="0"/>
              <a:t>2.PixelCnn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 err="1"/>
              <a:t>PixelCNN</a:t>
            </a:r>
            <a:r>
              <a:rPr lang="en-US" altLang="ko-KR" dirty="0"/>
              <a:t>?</a:t>
            </a:r>
          </a:p>
          <a:p>
            <a:pPr lvl="1">
              <a:defRPr/>
            </a:pPr>
            <a:r>
              <a:rPr lang="ko-KR" altLang="en-US" dirty="0"/>
              <a:t>이전 픽셀을 기반으로 다음 픽셀을 예측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픽셀단위로 이미지를 생성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marL="457200" lvl="1" indent="0">
              <a:buNone/>
              <a:defRPr/>
            </a:pPr>
            <a:endParaRPr lang="en-US" altLang="ko-KR" dirty="0"/>
          </a:p>
          <a:p>
            <a:pPr lvl="0">
              <a:defRPr/>
            </a:pPr>
            <a:r>
              <a:rPr lang="ko-KR" altLang="en-US" dirty="0" err="1"/>
              <a:t>마스크드</a:t>
            </a:r>
            <a:r>
              <a:rPr lang="ko-KR" altLang="en-US" dirty="0"/>
              <a:t> </a:t>
            </a:r>
            <a:r>
              <a:rPr lang="ko-KR" altLang="en-US" dirty="0" err="1"/>
              <a:t>합성곱</a:t>
            </a:r>
            <a:r>
              <a:rPr lang="ko-KR" altLang="en-US" dirty="0"/>
              <a:t> 층</a:t>
            </a:r>
            <a:r>
              <a:rPr lang="en-US" altLang="ko-KR" dirty="0"/>
              <a:t>(Masked Convolution Layer)</a:t>
            </a:r>
          </a:p>
          <a:p>
            <a:pPr lvl="0">
              <a:defRPr/>
            </a:pPr>
            <a:r>
              <a:rPr lang="ko-KR" altLang="en-US" dirty="0" err="1"/>
              <a:t>잔차블록</a:t>
            </a:r>
            <a:r>
              <a:rPr lang="en-US" altLang="ko-KR" dirty="0"/>
              <a:t>(Residual Block)</a:t>
            </a:r>
          </a:p>
          <a:p>
            <a:pPr lvl="0">
              <a:defRPr/>
            </a:pPr>
            <a:endParaRPr lang="en-US" altLang="ko-KR" sz="1400" dirty="0"/>
          </a:p>
          <a:p>
            <a:pPr lvl="0">
              <a:defRPr/>
            </a:pPr>
            <a:endParaRPr lang="en-US" altLang="ko-KR" sz="1400" dirty="0"/>
          </a:p>
          <a:p>
            <a:pPr lvl="0">
              <a:defRPr/>
            </a:pPr>
            <a:endParaRPr lang="en-US" altLang="ko-KR" sz="1400" dirty="0"/>
          </a:p>
          <a:p>
            <a:pPr lvl="0">
              <a:defRPr/>
            </a:pPr>
            <a:endParaRPr lang="ko-KR" altLang="en-US" sz="1400" dirty="0"/>
          </a:p>
          <a:p>
            <a:pPr lvl="1">
              <a:defRPr/>
            </a:pPr>
            <a:endParaRPr lang="ko-KR" altLang="en-US" sz="1400" dirty="0"/>
          </a:p>
          <a:p>
            <a:pPr lvl="0">
              <a:defRPr/>
            </a:pPr>
            <a:endParaRPr lang="ko-KR" altLang="en-US" dirty="0"/>
          </a:p>
          <a:p>
            <a:pPr lvl="0">
              <a:defRPr/>
            </a:pPr>
            <a:endParaRPr lang="ko-KR" altLang="en-US" dirty="0"/>
          </a:p>
          <a:p>
            <a:pPr lvl="0">
              <a:defRPr/>
            </a:pPr>
            <a:endParaRPr lang="ko-KR" altLang="en-US" dirty="0"/>
          </a:p>
          <a:p>
            <a:pPr lvl="0">
              <a:defRPr/>
            </a:pPr>
            <a:endParaRPr lang="ko-KR" altLang="en-US" dirty="0"/>
          </a:p>
          <a:p>
            <a:pPr lvl="0">
              <a:defRPr/>
            </a:pPr>
            <a:endParaRPr lang="ko-KR" altLang="en-US" dirty="0"/>
          </a:p>
          <a:p>
            <a:pPr lvl="0">
              <a:defRPr/>
            </a:pPr>
            <a:endParaRPr lang="ko-KR" altLang="en-US" dirty="0"/>
          </a:p>
          <a:p>
            <a:pPr lvl="0">
              <a:defRPr/>
            </a:pP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소개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lvl="0">
              <a:defRPr/>
            </a:pPr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1F95650-E816-3D8D-0E17-8306262549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43" r="926"/>
          <a:stretch/>
        </p:blipFill>
        <p:spPr>
          <a:xfrm>
            <a:off x="7144511" y="4112242"/>
            <a:ext cx="4315976" cy="115889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E92A3B4-AD74-A405-13BD-4627327A5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0847" y="982998"/>
            <a:ext cx="2663304" cy="2727480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49071B1D-A709-4EC7-FFC5-BFD3736F2349}"/>
              </a:ext>
            </a:extLst>
          </p:cNvPr>
          <p:cNvGrpSpPr/>
          <p:nvPr/>
        </p:nvGrpSpPr>
        <p:grpSpPr>
          <a:xfrm>
            <a:off x="1307771" y="3628809"/>
            <a:ext cx="3811277" cy="2500935"/>
            <a:chOff x="6002361" y="1074802"/>
            <a:chExt cx="4043804" cy="3003704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62101BA6-1F88-E9D5-5576-7180BF860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10991" y="1074802"/>
              <a:ext cx="1435174" cy="3003704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7FEB076A-528C-2371-0E6A-908E0A761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02361" y="1116177"/>
              <a:ext cx="1454225" cy="2730640"/>
            </a:xfrm>
            <a:prstGeom prst="rect">
              <a:avLst/>
            </a:prstGeom>
          </p:spPr>
        </p:pic>
        <p:sp>
          <p:nvSpPr>
            <p:cNvPr id="20" name="화살표: 오른쪽 19">
              <a:extLst>
                <a:ext uri="{FF2B5EF4-FFF2-40B4-BE49-F238E27FC236}">
                  <a16:creationId xmlns:a16="http://schemas.microsoft.com/office/drawing/2014/main" id="{8421ED9C-3F7F-4323-5B3B-B438563BAA19}"/>
                </a:ext>
              </a:extLst>
            </p:cNvPr>
            <p:cNvSpPr/>
            <p:nvPr/>
          </p:nvSpPr>
          <p:spPr>
            <a:xfrm>
              <a:off x="7632429" y="2359522"/>
              <a:ext cx="804841" cy="265471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3CAEC-5897-5A11-5433-969611861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Masked Convolution Layer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5812A8-781E-0053-77CC-146036111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과거정보 활용을 위한 </a:t>
            </a:r>
            <a:r>
              <a:rPr lang="ko-KR" altLang="en-US" dirty="0" err="1"/>
              <a:t>마스킹</a:t>
            </a:r>
            <a:r>
              <a:rPr lang="ko-KR" altLang="en-US" dirty="0"/>
              <a:t> 층</a:t>
            </a:r>
            <a:endParaRPr lang="en-US" altLang="ko-KR" dirty="0"/>
          </a:p>
          <a:p>
            <a:r>
              <a:rPr lang="ko-KR" altLang="en-US" dirty="0" err="1"/>
              <a:t>과거값</a:t>
            </a:r>
            <a:r>
              <a:rPr lang="ko-KR" altLang="en-US" dirty="0"/>
              <a:t> </a:t>
            </a:r>
            <a:r>
              <a:rPr lang="en-US" altLang="ko-KR" dirty="0"/>
              <a:t>= 1</a:t>
            </a:r>
          </a:p>
          <a:p>
            <a:r>
              <a:rPr lang="ko-KR" altLang="en-US" dirty="0" err="1"/>
              <a:t>미래값</a:t>
            </a:r>
            <a:r>
              <a:rPr lang="ko-KR" altLang="en-US" dirty="0"/>
              <a:t> </a:t>
            </a:r>
            <a:r>
              <a:rPr lang="en-US" altLang="ko-KR" dirty="0"/>
              <a:t>= 0</a:t>
            </a:r>
          </a:p>
          <a:p>
            <a:r>
              <a:rPr lang="en-US" altLang="ko-KR" dirty="0"/>
              <a:t>Type A : </a:t>
            </a:r>
            <a:r>
              <a:rPr lang="ko-KR" altLang="en-US" dirty="0" err="1"/>
              <a:t>중앙픽셀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</a:p>
          <a:p>
            <a:r>
              <a:rPr lang="en-US" altLang="ko-KR" dirty="0"/>
              <a:t>Type B : </a:t>
            </a:r>
            <a:r>
              <a:rPr lang="ko-KR" altLang="en-US" dirty="0" err="1"/>
              <a:t>중앙픽셀</a:t>
            </a:r>
            <a:r>
              <a:rPr lang="ko-KR" altLang="en-US" dirty="0"/>
              <a:t> </a:t>
            </a:r>
            <a:r>
              <a:rPr lang="en-US" altLang="ko-KR" dirty="0"/>
              <a:t>= 1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74B0FB-FDA3-C736-FB53-D7055726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513237F5-BA6C-44EB-8611-BE9F046D20F4}" type="slidenum">
              <a:rPr lang="ko-KR" altLang="en-US" smtClean="0"/>
              <a:pPr lvl="0">
                <a:defRPr/>
              </a:pPr>
              <a:t>4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92C76C6-E49B-DFD8-D1E5-D451F059F9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1026" name="Picture 2" descr="Illustration of 2D masked convolution in the input layer of the... |  Download Scientific Diagram">
            <a:extLst>
              <a:ext uri="{FF2B5EF4-FFF2-40B4-BE49-F238E27FC236}">
                <a16:creationId xmlns:a16="http://schemas.microsoft.com/office/drawing/2014/main" id="{5D41CCE0-AE2A-5F4F-2D32-73A277D31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694" y="999598"/>
            <a:ext cx="4706053" cy="2813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0ACED0A-2426-B5C2-34A1-2A18BB37D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451" y="3894414"/>
            <a:ext cx="2406774" cy="241312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AE6B957-9D6E-617D-9B1F-52DAB6EA3F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390" y="3113221"/>
            <a:ext cx="2966898" cy="251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64938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F6990-8623-56C0-0FED-87B58E867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Residual Block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48497F-B062-3BEF-5EF6-1D412549F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잔여블록</a:t>
            </a:r>
            <a:r>
              <a:rPr lang="en-US" altLang="ko-KR" dirty="0"/>
              <a:t> or </a:t>
            </a:r>
            <a:r>
              <a:rPr lang="ko-KR" altLang="en-US" dirty="0" err="1"/>
              <a:t>잔차블록</a:t>
            </a:r>
            <a:endParaRPr lang="en-US" altLang="ko-KR" dirty="0"/>
          </a:p>
          <a:p>
            <a:r>
              <a:rPr lang="en-US" altLang="ko-KR" dirty="0"/>
              <a:t>Degradation</a:t>
            </a:r>
            <a:r>
              <a:rPr lang="ko-KR" altLang="en-US" dirty="0"/>
              <a:t>문제</a:t>
            </a:r>
            <a:endParaRPr lang="en-US" altLang="ko-KR" dirty="0"/>
          </a:p>
          <a:p>
            <a:r>
              <a:rPr lang="en-US" altLang="ko-KR" dirty="0"/>
              <a:t>Deep Neural Networks</a:t>
            </a:r>
            <a:r>
              <a:rPr lang="ko-KR" altLang="en-US" dirty="0"/>
              <a:t>를 더 학습 시키기 쉬움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69448D-AF10-C7A4-4B8F-52B71C74B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513237F5-BA6C-44EB-8611-BE9F046D20F4}" type="slidenum">
              <a:rPr lang="ko-KR" altLang="en-US" smtClean="0"/>
              <a:pPr lvl="0">
                <a:defRPr/>
              </a:pPr>
              <a:t>5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0FC7105-1FF6-6AD4-CC7B-8ACC374DE5F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391089D-F52B-A978-C9DE-37884EC13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313" y="958900"/>
            <a:ext cx="5589675" cy="222687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7349F4C-9EDB-4019-C4E4-ADB4E5A1C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836" y="3360797"/>
            <a:ext cx="5147951" cy="293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88466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0AE0D8-0DB8-4A5B-322A-304E8FD4E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Residual Block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E40913-6747-6CCC-6F2D-BA035D57E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H(x)-x</a:t>
            </a:r>
            <a:r>
              <a:rPr lang="ko-KR" altLang="en-US" dirty="0"/>
              <a:t>를 최소화</a:t>
            </a:r>
            <a:endParaRPr lang="en-US" altLang="ko-KR" dirty="0"/>
          </a:p>
          <a:p>
            <a:r>
              <a:rPr lang="en-US" altLang="ko-KR" dirty="0"/>
              <a:t>F(x)=H(x)-x : </a:t>
            </a:r>
            <a:r>
              <a:rPr lang="ko-KR" altLang="en-US" dirty="0" err="1"/>
              <a:t>잔차</a:t>
            </a:r>
            <a:r>
              <a:rPr lang="ko-KR" altLang="en-US" dirty="0"/>
              <a:t> </a:t>
            </a:r>
            <a:r>
              <a:rPr lang="en-US" altLang="ko-KR" dirty="0"/>
              <a:t>(0</a:t>
            </a:r>
            <a:r>
              <a:rPr lang="ko-KR" altLang="en-US" dirty="0"/>
              <a:t>에 가까우면 좋음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네트워크</a:t>
            </a:r>
            <a:r>
              <a:rPr lang="en-US" altLang="ko-KR" dirty="0"/>
              <a:t>(F(x) )</a:t>
            </a:r>
            <a:r>
              <a:rPr lang="ko-KR" altLang="en-US" dirty="0"/>
              <a:t>는 </a:t>
            </a:r>
            <a:r>
              <a:rPr lang="en-US" altLang="ko-KR" dirty="0"/>
              <a:t>0</a:t>
            </a:r>
            <a:r>
              <a:rPr lang="ko-KR" altLang="en-US" dirty="0"/>
              <a:t>에 가깝게 학습</a:t>
            </a:r>
            <a:endParaRPr lang="en-US" altLang="ko-KR" dirty="0"/>
          </a:p>
          <a:p>
            <a:r>
              <a:rPr lang="en-US" altLang="ko-KR" dirty="0"/>
              <a:t>Skip connection</a:t>
            </a:r>
            <a:r>
              <a:rPr lang="ko-KR" altLang="en-US" dirty="0"/>
              <a:t>으로 </a:t>
            </a:r>
            <a:r>
              <a:rPr lang="en-US" altLang="ko-KR" dirty="0"/>
              <a:t>x</a:t>
            </a:r>
            <a:r>
              <a:rPr lang="ko-KR" altLang="en-US" dirty="0"/>
              <a:t>를 더함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CA6E55-F242-83B9-5865-B2C4227FE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513237F5-BA6C-44EB-8611-BE9F046D20F4}" type="slidenum">
              <a:rPr lang="ko-KR" altLang="en-US" smtClean="0"/>
              <a:pPr lvl="0">
                <a:defRPr/>
              </a:pPr>
              <a:t>6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13643E2-E3FD-ECB2-3DEF-9BC5CC73666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1FC593A-39A9-E621-35D9-89D7840F1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73" y="2864914"/>
            <a:ext cx="2482978" cy="2552831"/>
          </a:xfrm>
          <a:prstGeom prst="rect">
            <a:avLst/>
          </a:prstGeom>
        </p:spPr>
      </p:pic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23CC6EF0-82EE-18FA-FF25-E85DAEE95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537" y="1026392"/>
            <a:ext cx="6991338" cy="3873699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CE750B5C-A2E1-3EA6-6657-39D2EAD51010}"/>
              </a:ext>
            </a:extLst>
          </p:cNvPr>
          <p:cNvGrpSpPr/>
          <p:nvPr/>
        </p:nvGrpSpPr>
        <p:grpSpPr>
          <a:xfrm>
            <a:off x="7502658" y="4243697"/>
            <a:ext cx="4224077" cy="552478"/>
            <a:chOff x="3668076" y="5355967"/>
            <a:chExt cx="4224077" cy="552478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5314550-49D3-5B13-C5FB-253216FA3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68076" y="5355967"/>
              <a:ext cx="1708238" cy="552478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E591ADC-6E1A-2FF2-D292-5D8D53FBD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83915" y="5355967"/>
              <a:ext cx="1708238" cy="542340"/>
            </a:xfrm>
            <a:prstGeom prst="rect">
              <a:avLst/>
            </a:prstGeom>
          </p:spPr>
        </p:pic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52F4E193-556C-2EEC-6941-2C8F69FD53A8}"/>
                </a:ext>
              </a:extLst>
            </p:cNvPr>
            <p:cNvSpPr/>
            <p:nvPr/>
          </p:nvSpPr>
          <p:spPr>
            <a:xfrm>
              <a:off x="5524324" y="5601046"/>
              <a:ext cx="483762" cy="9604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204914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71094BF-D612-3FFF-1282-ABF3E37E2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EEECA9B-3FDC-D369-3B9C-F1EB2B532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PixelCnn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9F96E4-1D98-5848-6185-322801C9F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513237F5-BA6C-44EB-8611-BE9F046D20F4}" type="slidenum">
              <a:rPr lang="ko-KR" altLang="en-US" smtClean="0"/>
              <a:pPr lvl="0">
                <a:defRPr/>
              </a:pPr>
              <a:t>7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FE939CE-89B8-6870-B382-47F0AC3F42D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C7758D4-1681-05C4-D437-89E39EBF6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607" y="1267099"/>
            <a:ext cx="4141340" cy="450829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CA3250C-AF08-501F-0090-7ABD32CB7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491" y="1642373"/>
            <a:ext cx="2368672" cy="386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65286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A2A0C-B22D-1650-DBCD-BD165EDA0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PixelCnn-MaskedConvLayer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E1D1D7BE-570D-4293-F763-3124AB6557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2508" y="1344357"/>
            <a:ext cx="1447874" cy="126371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EFDF70-B5C2-5611-80BF-A8EBDC244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513237F5-BA6C-44EB-8611-BE9F046D20F4}" type="slidenum">
              <a:rPr lang="ko-KR" altLang="en-US" smtClean="0"/>
              <a:pPr lvl="0">
                <a:defRPr/>
              </a:pPr>
              <a:t>8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168B5B8-E083-8EA5-A1BE-D8DF45DF822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3AEF507-51FF-407E-586A-F61F05289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0293" y="1847758"/>
            <a:ext cx="5753396" cy="372129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A718A1A-F698-3428-3144-3B630AE49D88}"/>
              </a:ext>
            </a:extLst>
          </p:cNvPr>
          <p:cNvSpPr txBox="1"/>
          <p:nvPr/>
        </p:nvSpPr>
        <p:spPr>
          <a:xfrm>
            <a:off x="7413668" y="2249232"/>
            <a:ext cx="473437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1.Masked</a:t>
            </a:r>
            <a:r>
              <a:rPr lang="ko-KR" altLang="en-US" b="1" dirty="0"/>
              <a:t>층은 </a:t>
            </a:r>
            <a:r>
              <a:rPr lang="en-US" altLang="ko-KR" b="1" dirty="0"/>
              <a:t>conv2d</a:t>
            </a:r>
            <a:r>
              <a:rPr lang="ko-KR" altLang="en-US" b="1" dirty="0"/>
              <a:t>층을 기반으로 함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2.</a:t>
            </a:r>
            <a:r>
              <a:rPr lang="ko-KR" altLang="en-US" b="1" dirty="0"/>
              <a:t>마스크는 </a:t>
            </a:r>
            <a:r>
              <a:rPr lang="en-US" altLang="ko-KR" b="1" dirty="0"/>
              <a:t>0</a:t>
            </a:r>
            <a:r>
              <a:rPr lang="ko-KR" altLang="en-US" b="1" dirty="0"/>
              <a:t>으로 초기화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3.</a:t>
            </a:r>
            <a:r>
              <a:rPr lang="ko-KR" altLang="en-US" b="1" dirty="0"/>
              <a:t>이전행의 픽셀을 </a:t>
            </a:r>
            <a:r>
              <a:rPr lang="en-US" altLang="ko-KR" b="1" dirty="0"/>
              <a:t>1</a:t>
            </a:r>
            <a:r>
              <a:rPr lang="ko-KR" altLang="en-US" b="1" dirty="0"/>
              <a:t>로 지정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4.</a:t>
            </a:r>
            <a:r>
              <a:rPr lang="ko-KR" altLang="en-US" b="1" dirty="0" err="1"/>
              <a:t>동일행</a:t>
            </a:r>
            <a:r>
              <a:rPr lang="ko-KR" altLang="en-US" b="1" dirty="0"/>
              <a:t> 이전열의 픽셀을 </a:t>
            </a:r>
            <a:r>
              <a:rPr lang="en-US" altLang="ko-KR" b="1" dirty="0"/>
              <a:t>1</a:t>
            </a:r>
            <a:r>
              <a:rPr lang="ko-KR" altLang="en-US" b="1" dirty="0"/>
              <a:t>로 지정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5.</a:t>
            </a:r>
            <a:r>
              <a:rPr lang="ko-KR" altLang="en-US" b="1" dirty="0" err="1"/>
              <a:t>마스킹</a:t>
            </a:r>
            <a:r>
              <a:rPr lang="ko-KR" altLang="en-US" b="1" dirty="0"/>
              <a:t> </a:t>
            </a:r>
            <a:r>
              <a:rPr lang="en-US" altLang="ko-KR" b="1" dirty="0"/>
              <a:t>B</a:t>
            </a:r>
            <a:r>
              <a:rPr lang="ko-KR" altLang="en-US" b="1" dirty="0"/>
              <a:t>타입이면 </a:t>
            </a:r>
            <a:r>
              <a:rPr lang="ko-KR" altLang="en-US" b="1" dirty="0" err="1"/>
              <a:t>중앙픽셀을</a:t>
            </a:r>
            <a:r>
              <a:rPr lang="ko-KR" altLang="en-US" b="1" dirty="0"/>
              <a:t> </a:t>
            </a:r>
            <a:r>
              <a:rPr lang="en-US" altLang="ko-KR" b="1" dirty="0"/>
              <a:t>1</a:t>
            </a:r>
            <a:r>
              <a:rPr lang="ko-KR" altLang="en-US" b="1" dirty="0"/>
              <a:t>로 지정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6.</a:t>
            </a:r>
            <a:r>
              <a:rPr lang="ko-KR" altLang="en-US" b="1" dirty="0"/>
              <a:t>마스크와 필터를 곱함</a:t>
            </a:r>
          </a:p>
        </p:txBody>
      </p:sp>
    </p:spTree>
    <p:extLst>
      <p:ext uri="{BB962C8B-B14F-4D97-AF65-F5344CB8AC3E}">
        <p14:creationId xmlns:p14="http://schemas.microsoft.com/office/powerpoint/2010/main" val="160472229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4DC046-9D9F-B9A0-E90A-94BEC7944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PixelCnn-ResidualBlock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E62F4A-32FD-A24A-2450-CB88DE44D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513237F5-BA6C-44EB-8611-BE9F046D20F4}" type="slidenum">
              <a:rPr lang="ko-KR" altLang="en-US" smtClean="0"/>
              <a:pPr lvl="0">
                <a:defRPr/>
              </a:pPr>
              <a:t>9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78A43C3-E6CF-D891-D387-84544B0AEED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20B37DE-6B27-1549-0D0E-CE863F600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444" y="1219925"/>
            <a:ext cx="2489328" cy="2991004"/>
          </a:xfrm>
          <a:prstGeom prst="rect">
            <a:avLst/>
          </a:prstGeom>
        </p:spPr>
      </p:pic>
      <p:pic>
        <p:nvPicPr>
          <p:cNvPr id="17" name="내용 개체 틀 16">
            <a:extLst>
              <a:ext uri="{FF2B5EF4-FFF2-40B4-BE49-F238E27FC236}">
                <a16:creationId xmlns:a16="http://schemas.microsoft.com/office/drawing/2014/main" id="{2A393376-3486-0E51-2E91-702B6B68CF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99857" y="1034875"/>
            <a:ext cx="4285715" cy="1616229"/>
          </a:xfr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8030EF-EF77-183F-AE53-D8B3155188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18" y="2651104"/>
            <a:ext cx="4358355" cy="161622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31927D5-C2A4-E9FB-EEA7-19B4E0D34E3D}"/>
              </a:ext>
            </a:extLst>
          </p:cNvPr>
          <p:cNvSpPr txBox="1"/>
          <p:nvPr/>
        </p:nvSpPr>
        <p:spPr>
          <a:xfrm>
            <a:off x="1318900" y="4622796"/>
            <a:ext cx="7503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첫 번째 </a:t>
            </a:r>
            <a:r>
              <a:rPr lang="en-US" altLang="ko-KR" b="1" dirty="0"/>
              <a:t>conv2d</a:t>
            </a:r>
            <a:r>
              <a:rPr lang="ko-KR" altLang="en-US" b="1" dirty="0"/>
              <a:t>를 통해 </a:t>
            </a:r>
            <a:r>
              <a:rPr lang="ko-KR" altLang="en-US" b="1" dirty="0" err="1"/>
              <a:t>채널수를</a:t>
            </a:r>
            <a:r>
              <a:rPr lang="ko-KR" altLang="en-US" b="1" dirty="0"/>
              <a:t> 줄임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해당 마스크는 다섯개의 픽셀정보만 사용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마지막 </a:t>
            </a:r>
            <a:r>
              <a:rPr lang="en-US" altLang="ko-KR" b="1" dirty="0"/>
              <a:t>conv2d</a:t>
            </a:r>
            <a:r>
              <a:rPr lang="ko-KR" altLang="en-US" b="1" dirty="0"/>
              <a:t>를 통해 </a:t>
            </a:r>
            <a:r>
              <a:rPr lang="ko-KR" altLang="en-US" b="1" dirty="0" err="1"/>
              <a:t>채널수를</a:t>
            </a:r>
            <a:r>
              <a:rPr lang="ko-KR" altLang="en-US" b="1" dirty="0"/>
              <a:t> 복원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 err="1"/>
              <a:t>스킵연결을</a:t>
            </a:r>
            <a:r>
              <a:rPr lang="ko-KR" altLang="en-US" b="1" dirty="0"/>
              <a:t> 통해 </a:t>
            </a:r>
            <a:r>
              <a:rPr lang="ko-KR" altLang="en-US" b="1" dirty="0" err="1"/>
              <a:t>합성곱의</a:t>
            </a:r>
            <a:r>
              <a:rPr lang="ko-KR" altLang="en-US" b="1" dirty="0"/>
              <a:t> 출력과 입력을 더함</a:t>
            </a:r>
          </a:p>
        </p:txBody>
      </p:sp>
    </p:spTree>
    <p:extLst>
      <p:ext uri="{BB962C8B-B14F-4D97-AF65-F5344CB8AC3E}">
        <p14:creationId xmlns:p14="http://schemas.microsoft.com/office/powerpoint/2010/main" val="277873714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21A82F-FC9C-BB09-5F6B-A144EF9E0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PixelCnn</a:t>
            </a:r>
            <a:r>
              <a:rPr lang="en-US" altLang="ko-KR" dirty="0"/>
              <a:t>-</a:t>
            </a:r>
            <a:r>
              <a:rPr lang="ko-KR" altLang="en-US" dirty="0"/>
              <a:t>훈련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E8261C10-7371-6A40-687D-9504FBC024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03550" y="1205002"/>
            <a:ext cx="5200697" cy="50958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B72AF8-F4A0-03FE-4AA8-DC2A76A1E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513237F5-BA6C-44EB-8611-BE9F046D20F4}" type="slidenum">
              <a:rPr lang="ko-KR" altLang="en-US" smtClean="0"/>
              <a:pPr lvl="0">
                <a:defRPr/>
              </a:pPr>
              <a:t>10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DD6B3-3556-0433-2E26-1E7705A525E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082434-BC8D-ADBA-11FF-54FB704B97EC}"/>
              </a:ext>
            </a:extLst>
          </p:cNvPr>
          <p:cNvSpPr txBox="1"/>
          <p:nvPr/>
        </p:nvSpPr>
        <p:spPr>
          <a:xfrm>
            <a:off x="6404866" y="1767780"/>
            <a:ext cx="51017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</a:t>
            </a:r>
            <a:r>
              <a:rPr lang="ko-KR" altLang="en-US" b="1" dirty="0"/>
              <a:t>모델 입력은 </a:t>
            </a:r>
            <a:r>
              <a:rPr lang="en-US" altLang="ko-KR" b="1" dirty="0"/>
              <a:t>16*16*1</a:t>
            </a:r>
            <a:r>
              <a:rPr lang="ko-KR" altLang="en-US" b="1" dirty="0"/>
              <a:t>의 흑백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2.</a:t>
            </a:r>
            <a:r>
              <a:rPr lang="ko-KR" altLang="en-US" b="1" dirty="0"/>
              <a:t>첫번째 마스크는 </a:t>
            </a:r>
            <a:r>
              <a:rPr lang="en-US" altLang="ko-KR" b="1" dirty="0"/>
              <a:t>24</a:t>
            </a:r>
            <a:r>
              <a:rPr lang="ko-KR" altLang="en-US" b="1" dirty="0"/>
              <a:t>개의 픽셀정보를 사용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3.5</a:t>
            </a:r>
            <a:r>
              <a:rPr lang="ko-KR" altLang="en-US" b="1" dirty="0"/>
              <a:t>층의 </a:t>
            </a:r>
            <a:r>
              <a:rPr lang="ko-KR" altLang="en-US" b="1" dirty="0" err="1"/>
              <a:t>잔차블록을</a:t>
            </a:r>
            <a:r>
              <a:rPr lang="ko-KR" altLang="en-US" b="1" dirty="0"/>
              <a:t> 쌓음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4.</a:t>
            </a:r>
            <a:r>
              <a:rPr lang="ko-KR" altLang="en-US" b="1" dirty="0"/>
              <a:t>두개의 </a:t>
            </a:r>
            <a:r>
              <a:rPr lang="ko-KR" altLang="en-US" b="1" dirty="0" err="1"/>
              <a:t>마스크합성곱층을</a:t>
            </a:r>
            <a:r>
              <a:rPr lang="ko-KR" altLang="en-US" b="1" dirty="0"/>
              <a:t> 쌓음</a:t>
            </a:r>
            <a:r>
              <a:rPr lang="en-US" altLang="ko-KR" b="1" dirty="0"/>
              <a:t>(Dense</a:t>
            </a:r>
            <a:r>
              <a:rPr lang="ko-KR" altLang="en-US" b="1" dirty="0"/>
              <a:t>층 역할</a:t>
            </a:r>
            <a:r>
              <a:rPr lang="en-US" altLang="ko-KR" b="1" dirty="0"/>
              <a:t>)</a:t>
            </a:r>
          </a:p>
          <a:p>
            <a:endParaRPr lang="en-US" altLang="ko-KR" b="1" dirty="0"/>
          </a:p>
          <a:p>
            <a:r>
              <a:rPr lang="en-US" altLang="ko-KR" b="1" dirty="0"/>
              <a:t>5.</a:t>
            </a:r>
            <a:r>
              <a:rPr lang="ko-KR" altLang="en-US" b="1" dirty="0"/>
              <a:t>최종 </a:t>
            </a:r>
            <a:r>
              <a:rPr lang="en-US" altLang="ko-KR" b="1" dirty="0"/>
              <a:t>Conv2d</a:t>
            </a:r>
            <a:r>
              <a:rPr lang="ko-KR" altLang="en-US" b="1" dirty="0"/>
              <a:t>층이 </a:t>
            </a:r>
            <a:r>
              <a:rPr lang="ko-KR" altLang="en-US" b="1" dirty="0" err="1"/>
              <a:t>채널수를</a:t>
            </a:r>
            <a:r>
              <a:rPr lang="ko-KR" altLang="en-US" b="1" dirty="0"/>
              <a:t> </a:t>
            </a:r>
            <a:r>
              <a:rPr lang="en-US" altLang="ko-KR" b="1" dirty="0"/>
              <a:t>4</a:t>
            </a:r>
            <a:r>
              <a:rPr lang="ko-KR" altLang="en-US" b="1" dirty="0"/>
              <a:t>로 줄임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6.</a:t>
            </a:r>
            <a:r>
              <a:rPr lang="ko-KR" altLang="en-US" b="1" dirty="0"/>
              <a:t>한 이미지를 받고 동일한 크기의 이미지를 출력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7.</a:t>
            </a:r>
            <a:r>
              <a:rPr lang="ko-KR" altLang="en-US" b="1" dirty="0"/>
              <a:t>모델훈련</a:t>
            </a:r>
            <a:r>
              <a:rPr lang="en-US" altLang="ko-KR" b="1" dirty="0"/>
              <a:t> : input</a:t>
            </a:r>
            <a:r>
              <a:rPr lang="ko-KR" altLang="en-US" b="1" dirty="0"/>
              <a:t>은 </a:t>
            </a:r>
            <a:r>
              <a:rPr lang="en-US" altLang="ko-KR" b="1" dirty="0"/>
              <a:t>[0,1]</a:t>
            </a:r>
            <a:r>
              <a:rPr lang="ko-KR" altLang="en-US" b="1" dirty="0"/>
              <a:t>범위</a:t>
            </a:r>
            <a:r>
              <a:rPr lang="en-US" altLang="ko-KR" b="1" dirty="0"/>
              <a:t>(</a:t>
            </a:r>
            <a:r>
              <a:rPr lang="ko-KR" altLang="en-US" b="1" dirty="0"/>
              <a:t>실수</a:t>
            </a:r>
            <a:r>
              <a:rPr lang="en-US" altLang="ko-KR" b="1" dirty="0"/>
              <a:t>)</a:t>
            </a:r>
          </a:p>
          <a:p>
            <a:r>
              <a:rPr lang="en-US" altLang="ko-KR" b="1" dirty="0"/>
              <a:t>	     output</a:t>
            </a:r>
            <a:r>
              <a:rPr lang="ko-KR" altLang="en-US" b="1" dirty="0"/>
              <a:t>은</a:t>
            </a:r>
            <a:r>
              <a:rPr lang="en-US" altLang="ko-KR" b="1" dirty="0"/>
              <a:t> [0,3]</a:t>
            </a:r>
            <a:r>
              <a:rPr lang="ko-KR" altLang="en-US" b="1" dirty="0"/>
              <a:t>범위</a:t>
            </a:r>
            <a:r>
              <a:rPr lang="en-US" altLang="ko-KR" b="1" dirty="0"/>
              <a:t>(</a:t>
            </a:r>
            <a:r>
              <a:rPr lang="ko-KR" altLang="en-US" b="1" dirty="0"/>
              <a:t>정수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48984669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3FC8F1-BD26-8F2D-C13A-EDAFF12D8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PixelCnn</a:t>
            </a:r>
            <a:r>
              <a:rPr lang="en-US" altLang="ko-KR" dirty="0"/>
              <a:t>-</a:t>
            </a:r>
            <a:r>
              <a:rPr lang="ko-KR" altLang="en-US" dirty="0"/>
              <a:t>새 이미지 생성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8D5BCD3-07EF-1DB7-749E-E84F4CE6FE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6202" y="1116177"/>
            <a:ext cx="5399797" cy="2203864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6D69D6-AB0D-DD13-AA93-40E0AB7B4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513237F5-BA6C-44EB-8611-BE9F046D20F4}" type="slidenum">
              <a:rPr lang="ko-KR" altLang="en-US" smtClean="0"/>
              <a:pPr lvl="0">
                <a:defRPr/>
              </a:pPr>
              <a:t>11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E50A4AA-2594-2F8D-78A6-07E386A5F04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BCF2B50-E8DC-8111-726E-1EAE9D468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592" y="3277312"/>
            <a:ext cx="5188407" cy="30178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B80BF8-0796-D127-2521-9A36B798A730}"/>
              </a:ext>
            </a:extLst>
          </p:cNvPr>
          <p:cNvSpPr txBox="1"/>
          <p:nvPr/>
        </p:nvSpPr>
        <p:spPr>
          <a:xfrm>
            <a:off x="6375164" y="2138845"/>
            <a:ext cx="50847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빈</a:t>
            </a:r>
            <a:r>
              <a:rPr lang="en-US" altLang="ko-KR" b="1" dirty="0"/>
              <a:t> </a:t>
            </a:r>
            <a:r>
              <a:rPr lang="ko-KR" altLang="en-US" b="1" dirty="0"/>
              <a:t>이미지의 배치로 시작</a:t>
            </a: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현재 이미지의 행</a:t>
            </a:r>
            <a:r>
              <a:rPr lang="en-US" altLang="ko-KR" b="1" dirty="0"/>
              <a:t>,</a:t>
            </a:r>
            <a:r>
              <a:rPr lang="ko-KR" altLang="en-US" b="1" dirty="0"/>
              <a:t>열</a:t>
            </a:r>
            <a:r>
              <a:rPr lang="en-US" altLang="ko-KR" b="1" dirty="0"/>
              <a:t>,</a:t>
            </a:r>
            <a:r>
              <a:rPr lang="ko-KR" altLang="en-US" b="1" dirty="0"/>
              <a:t>채널에 대해 반복 및 </a:t>
            </a:r>
            <a:endParaRPr lang="en-US" altLang="ko-KR" b="1" dirty="0"/>
          </a:p>
          <a:p>
            <a:r>
              <a:rPr lang="en-US" altLang="ko-KR" b="1" dirty="0"/>
              <a:t>      </a:t>
            </a:r>
            <a:r>
              <a:rPr lang="ko-KR" altLang="en-US" b="1" dirty="0"/>
              <a:t>다음 픽셀 분포 예측</a:t>
            </a: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r>
              <a:rPr lang="en-US" altLang="ko-KR" b="1" dirty="0"/>
              <a:t>3.   </a:t>
            </a:r>
            <a:r>
              <a:rPr lang="ko-KR" altLang="en-US" b="1" dirty="0"/>
              <a:t>예측된 분포에서 픽셀 값 샘플링</a:t>
            </a:r>
            <a:r>
              <a:rPr lang="en-US" altLang="ko-KR" b="1" dirty="0"/>
              <a:t>(0~3</a:t>
            </a:r>
            <a:r>
              <a:rPr lang="ko-KR" altLang="en-US" b="1" dirty="0"/>
              <a:t>의 정수</a:t>
            </a:r>
            <a:r>
              <a:rPr lang="en-US" altLang="ko-KR" b="1" dirty="0"/>
              <a:t>)</a:t>
            </a:r>
          </a:p>
          <a:p>
            <a:pPr marL="342900" indent="-342900">
              <a:buAutoNum type="arabicPeriod"/>
            </a:pPr>
            <a:endParaRPr lang="en-US" altLang="ko-KR" b="1" dirty="0"/>
          </a:p>
          <a:p>
            <a:r>
              <a:rPr lang="en-US" altLang="ko-KR" b="1" dirty="0"/>
              <a:t>4-1. </a:t>
            </a:r>
            <a:r>
              <a:rPr lang="ko-KR" altLang="en-US" b="1" dirty="0" err="1"/>
              <a:t>픽셀값을</a:t>
            </a:r>
            <a:r>
              <a:rPr lang="ko-KR" altLang="en-US" b="1" dirty="0"/>
              <a:t> </a:t>
            </a:r>
            <a:r>
              <a:rPr lang="en-US" altLang="ko-KR" b="1" dirty="0"/>
              <a:t>[0,1]</a:t>
            </a:r>
            <a:r>
              <a:rPr lang="ko-KR" altLang="en-US" b="1" dirty="0"/>
              <a:t>범위로 변환 </a:t>
            </a:r>
            <a:r>
              <a:rPr lang="en-US" altLang="ko-KR" b="1" dirty="0"/>
              <a:t> </a:t>
            </a:r>
          </a:p>
          <a:p>
            <a:endParaRPr lang="en-US" altLang="ko-KR" b="1" dirty="0"/>
          </a:p>
          <a:p>
            <a:r>
              <a:rPr lang="en-US" altLang="ko-KR" b="1" dirty="0"/>
              <a:t>4-2. </a:t>
            </a:r>
            <a:r>
              <a:rPr lang="ko-KR" altLang="en-US" b="1" dirty="0" err="1"/>
              <a:t>현재이미지</a:t>
            </a:r>
            <a:r>
              <a:rPr lang="ko-KR" altLang="en-US" b="1" dirty="0"/>
              <a:t> </a:t>
            </a:r>
            <a:r>
              <a:rPr lang="ko-KR" altLang="en-US" b="1" dirty="0" err="1"/>
              <a:t>픽셀값에</a:t>
            </a:r>
            <a:r>
              <a:rPr lang="ko-KR" altLang="en-US" b="1" dirty="0"/>
              <a:t> 덮어 쓴 후 반복</a:t>
            </a:r>
          </a:p>
        </p:txBody>
      </p:sp>
    </p:spTree>
    <p:extLst>
      <p:ext uri="{BB962C8B-B14F-4D97-AF65-F5344CB8AC3E}">
        <p14:creationId xmlns:p14="http://schemas.microsoft.com/office/powerpoint/2010/main" val="232759876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9A748-CE34-1A22-7209-9F53E90E8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PixelCnn</a:t>
            </a:r>
            <a:r>
              <a:rPr lang="en-US" altLang="ko-KR" dirty="0"/>
              <a:t>-</a:t>
            </a:r>
            <a:r>
              <a:rPr lang="ko-KR" altLang="en-US" dirty="0"/>
              <a:t>새 이미지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4C4E45-17D3-8E33-5D2F-E6702D149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훈련세트의 이미지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생성한 이미지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77D58B-35D1-C9F8-FF45-BD72E3B8D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513237F5-BA6C-44EB-8611-BE9F046D20F4}" type="slidenum">
              <a:rPr lang="ko-KR" altLang="en-US" smtClean="0"/>
              <a:pPr lvl="0">
                <a:defRPr/>
              </a:pPr>
              <a:t>12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FE1C07B-6C04-ECFF-9B37-2981ABBCE35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31B309A-7FDE-F5A2-E0B3-C46C7CC38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87" y="1524893"/>
            <a:ext cx="8363380" cy="95889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5ED4EBC-85AC-7971-21AA-7F18730FD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555" y="3558317"/>
            <a:ext cx="8388781" cy="186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8917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513237F5-BA6C-44EB-8611-BE9F046D20F4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41087" y="5839181"/>
            <a:ext cx="1847138" cy="364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감사합니다</a:t>
            </a:r>
            <a:r>
              <a:rPr lang="en-US" altLang="ko-KR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세미나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">
      <a:majorFont>
        <a:latin typeface="Times New Roman"/>
        <a:ea typeface="맑은 고딕"/>
        <a:cs typeface=""/>
      </a:majorFont>
      <a:minorFont>
        <a:latin typeface="Times New Roman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1848</TotalTime>
  <Words>1053</Words>
  <Application>Microsoft Office PowerPoint</Application>
  <PresentationFormat>와이드스크린</PresentationFormat>
  <Paragraphs>166</Paragraphs>
  <Slides>13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Noto Sans KR</vt:lpstr>
      <vt:lpstr>Noto Serif KR</vt:lpstr>
      <vt:lpstr>Söhne</vt:lpstr>
      <vt:lpstr>맑은 고딕</vt:lpstr>
      <vt:lpstr>Arial</vt:lpstr>
      <vt:lpstr>Times New Roman</vt:lpstr>
      <vt:lpstr>세미나테마</vt:lpstr>
      <vt:lpstr>자기회귀모델 pixel cnn</vt:lpstr>
      <vt:lpstr>목차</vt:lpstr>
      <vt:lpstr>소개</vt:lpstr>
      <vt:lpstr>Masked Convolution Layer</vt:lpstr>
      <vt:lpstr>Residual Block</vt:lpstr>
      <vt:lpstr>Residual Block</vt:lpstr>
      <vt:lpstr>PixelCnn</vt:lpstr>
      <vt:lpstr>PixelCnn-MaskedConvLayer</vt:lpstr>
      <vt:lpstr>PixelCnn-ResidualBlock</vt:lpstr>
      <vt:lpstr>PixelCnn-훈련</vt:lpstr>
      <vt:lpstr>PixelCnn-새 이미지 생성</vt:lpstr>
      <vt:lpstr>PixelCnn-새 이미지 생성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그래프 이론과 개념</dc:title>
  <dc:creator>박진우</dc:creator>
  <cp:lastModifiedBy>서현우</cp:lastModifiedBy>
  <cp:revision>78</cp:revision>
  <dcterms:created xsi:type="dcterms:W3CDTF">2023-07-06T03:52:26Z</dcterms:created>
  <dcterms:modified xsi:type="dcterms:W3CDTF">2024-02-22T04:53:17Z</dcterms:modified>
  <cp:version>1000.0000.01</cp:version>
</cp:coreProperties>
</file>