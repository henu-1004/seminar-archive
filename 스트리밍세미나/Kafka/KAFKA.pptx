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6"/>
  </p:notesMasterIdLst>
  <p:sldIdLst>
    <p:sldId id="256" r:id="rId5"/>
    <p:sldId id="258" r:id="rId6"/>
    <p:sldId id="268" r:id="rId7"/>
    <p:sldId id="269" r:id="rId8"/>
    <p:sldId id="276" r:id="rId9"/>
    <p:sldId id="270" r:id="rId10"/>
    <p:sldId id="277" r:id="rId11"/>
    <p:sldId id="271" r:id="rId12"/>
    <p:sldId id="272" r:id="rId13"/>
    <p:sldId id="273" r:id="rId14"/>
    <p:sldId id="274" r:id="rId15"/>
    <p:sldId id="275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67" r:id="rId3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25" autoAdjust="0"/>
  </p:normalViewPr>
  <p:slideViewPr>
    <p:cSldViewPr snapToGrid="0">
      <p:cViewPr varScale="1">
        <p:scale>
          <a:sx n="72" d="100"/>
          <a:sy n="72" d="100"/>
        </p:scale>
        <p:origin x="36" y="7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84CF1-E996-4ED8-8379-4236BB47FB29}" type="datetimeFigureOut">
              <a:rPr lang="ko-KR" altLang="en-US" smtClean="0"/>
              <a:t>2025-01-07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DEE6A-CE55-4E34-A123-745590175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0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초기에는 </a:t>
            </a:r>
            <a:r>
              <a:rPr lang="en-US" altLang="ko-KR" dirty="0" err="1"/>
              <a:t>src</a:t>
            </a:r>
            <a:r>
              <a:rPr lang="en-US" altLang="ko-KR" dirty="0"/>
              <a:t>, </a:t>
            </a:r>
            <a:r>
              <a:rPr lang="en-US" altLang="ko-KR" dirty="0" err="1"/>
              <a:t>traget</a:t>
            </a:r>
            <a:r>
              <a:rPr lang="ko-KR" altLang="en-US" dirty="0"/>
              <a:t>의 구조였음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dirty="0" err="1"/>
              <a:t>src</a:t>
            </a:r>
            <a:r>
              <a:rPr lang="ko-KR" altLang="en-US" dirty="0"/>
              <a:t>와 </a:t>
            </a:r>
            <a:r>
              <a:rPr lang="en-US" altLang="ko-KR" dirty="0"/>
              <a:t>target</a:t>
            </a:r>
            <a:r>
              <a:rPr lang="ko-KR" altLang="en-US" dirty="0"/>
              <a:t>가 많아지니 데이터 전송라인이 너무 </a:t>
            </a:r>
            <a:r>
              <a:rPr lang="ko-KR" altLang="en-US" dirty="0" err="1"/>
              <a:t>많아짐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복잡해짐</a:t>
            </a:r>
            <a:r>
              <a:rPr lang="en-US" altLang="ko-KR" dirty="0"/>
              <a:t>, </a:t>
            </a:r>
            <a:r>
              <a:rPr lang="ko-KR" altLang="en-US" dirty="0"/>
              <a:t>유지보수도 힘듦</a:t>
            </a:r>
            <a:endParaRPr lang="en-US" altLang="ko-KR" dirty="0"/>
          </a:p>
          <a:p>
            <a:r>
              <a:rPr lang="en-US" altLang="ko-KR" dirty="0"/>
              <a:t>3.src app</a:t>
            </a:r>
            <a:r>
              <a:rPr lang="ko-KR" altLang="en-US" dirty="0"/>
              <a:t>과 </a:t>
            </a:r>
            <a:r>
              <a:rPr lang="en-US" altLang="ko-KR" dirty="0"/>
              <a:t>target app</a:t>
            </a:r>
            <a:r>
              <a:rPr lang="ko-KR" altLang="en-US" dirty="0"/>
              <a:t>의 커플링을 약하게 하기위해 카프카 등장</a:t>
            </a:r>
            <a:endParaRPr lang="en-US" altLang="ko-KR" dirty="0"/>
          </a:p>
          <a:p>
            <a:r>
              <a:rPr lang="en-US" altLang="ko-KR" dirty="0"/>
              <a:t>4.src</a:t>
            </a:r>
            <a:r>
              <a:rPr lang="ko-KR" altLang="en-US" dirty="0"/>
              <a:t>는 카프카에 데이터를 </a:t>
            </a:r>
            <a:r>
              <a:rPr lang="ko-KR" altLang="en-US" dirty="0" err="1"/>
              <a:t>전송만하면되고</a:t>
            </a:r>
            <a:r>
              <a:rPr lang="ko-KR" altLang="en-US" dirty="0"/>
              <a:t> 타겟은 카프카에서 데이터를 </a:t>
            </a:r>
            <a:r>
              <a:rPr lang="ko-KR" altLang="en-US" dirty="0" err="1"/>
              <a:t>갖고오면됨</a:t>
            </a:r>
            <a:endParaRPr lang="en-US" altLang="ko-KR" dirty="0"/>
          </a:p>
          <a:p>
            <a:pPr lvl="1"/>
            <a:r>
              <a:rPr lang="en-US" altLang="ko-KR" dirty="0"/>
              <a:t>Ex)</a:t>
            </a:r>
            <a:r>
              <a:rPr lang="en-US" altLang="ko-KR" dirty="0" err="1"/>
              <a:t>src</a:t>
            </a:r>
            <a:r>
              <a:rPr lang="ko-KR" altLang="en-US" dirty="0"/>
              <a:t>는 클릭로그</a:t>
            </a:r>
            <a:r>
              <a:rPr lang="en-US" altLang="ko-KR" dirty="0"/>
              <a:t>, </a:t>
            </a:r>
            <a:r>
              <a:rPr lang="ko-KR" altLang="en-US" dirty="0"/>
              <a:t>결제로그를 카프카에 </a:t>
            </a:r>
            <a:r>
              <a:rPr lang="ko-KR" altLang="en-US" dirty="0" err="1"/>
              <a:t>보내면되고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r>
              <a:rPr lang="ko-KR" altLang="en-US" dirty="0"/>
              <a:t>은 카프카에서 데이터를 받아 로그적재</a:t>
            </a:r>
            <a:r>
              <a:rPr lang="en-US" altLang="ko-KR" dirty="0"/>
              <a:t>, </a:t>
            </a:r>
            <a:r>
              <a:rPr lang="ko-KR" altLang="en-US" dirty="0"/>
              <a:t>로그처리 등을 </a:t>
            </a:r>
            <a:r>
              <a:rPr lang="ko-KR" altLang="en-US" dirty="0" err="1"/>
              <a:t>하면됨</a:t>
            </a:r>
            <a:endParaRPr lang="en-US" altLang="ko-KR" dirty="0"/>
          </a:p>
          <a:p>
            <a:pPr lvl="1"/>
            <a:r>
              <a:rPr lang="en-US" altLang="ko-KR" dirty="0" err="1"/>
              <a:t>Src</a:t>
            </a:r>
            <a:r>
              <a:rPr lang="ko-KR" altLang="en-US" dirty="0"/>
              <a:t>에서 보내는 데이터는 제한이 거의 없음</a:t>
            </a:r>
            <a:endParaRPr lang="en-US" altLang="ko-KR" dirty="0"/>
          </a:p>
          <a:p>
            <a:pPr lvl="1"/>
            <a:r>
              <a:rPr lang="ko-KR" altLang="en-US" dirty="0"/>
              <a:t>카프카에 중앙집중화 한 개념 </a:t>
            </a:r>
            <a:endParaRPr lang="en-US" altLang="ko-KR" dirty="0"/>
          </a:p>
          <a:p>
            <a:r>
              <a:rPr lang="en-US" altLang="ko-KR" dirty="0"/>
              <a:t>5.</a:t>
            </a:r>
            <a:r>
              <a:rPr lang="ko-KR" altLang="en-US" dirty="0"/>
              <a:t>카프카는 각종데이터를 </a:t>
            </a:r>
            <a:r>
              <a:rPr lang="en-US" altLang="ko-KR" dirty="0"/>
              <a:t>topic</a:t>
            </a:r>
            <a:r>
              <a:rPr lang="ko-KR" altLang="en-US" dirty="0"/>
              <a:t>에 담는다</a:t>
            </a:r>
            <a:r>
              <a:rPr lang="en-US" altLang="ko-KR" dirty="0"/>
              <a:t>.(</a:t>
            </a:r>
            <a:r>
              <a:rPr lang="ko-KR" altLang="en-US" dirty="0"/>
              <a:t>쉽게 큐라고 </a:t>
            </a:r>
            <a:r>
              <a:rPr lang="ko-KR" altLang="en-US" dirty="0" err="1"/>
              <a:t>생각하면됨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DEE6A-CE55-4E34-A123-74559017542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229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222222"/>
                </a:solidFill>
                <a:effectLst/>
                <a:latin typeface="OTWelcomeRA"/>
              </a:rPr>
              <a:t>서비스가 커질수록 데이터 파이프라인 연결 구조도 복잡해지기 때문에 이점 또한 확장에 비효율적입니다</a:t>
            </a:r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초기에는 </a:t>
            </a:r>
            <a:r>
              <a:rPr lang="en-US" altLang="ko-KR" dirty="0" err="1"/>
              <a:t>src</a:t>
            </a:r>
            <a:r>
              <a:rPr lang="en-US" altLang="ko-KR" dirty="0"/>
              <a:t>, </a:t>
            </a:r>
            <a:r>
              <a:rPr lang="en-US" altLang="ko-KR" dirty="0" err="1"/>
              <a:t>traget</a:t>
            </a:r>
            <a:r>
              <a:rPr lang="ko-KR" altLang="en-US" dirty="0"/>
              <a:t>의 구조였음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dirty="0" err="1"/>
              <a:t>src</a:t>
            </a:r>
            <a:r>
              <a:rPr lang="ko-KR" altLang="en-US" dirty="0"/>
              <a:t>와 </a:t>
            </a:r>
            <a:r>
              <a:rPr lang="en-US" altLang="ko-KR" dirty="0"/>
              <a:t>target</a:t>
            </a:r>
            <a:r>
              <a:rPr lang="ko-KR" altLang="en-US" dirty="0"/>
              <a:t>가 많아지니 데이터 전송라인이 너무 </a:t>
            </a:r>
            <a:r>
              <a:rPr lang="ko-KR" altLang="en-US" dirty="0" err="1"/>
              <a:t>많아짐</a:t>
            </a:r>
            <a:r>
              <a:rPr lang="ko-KR" altLang="en-US" dirty="0"/>
              <a:t> </a:t>
            </a:r>
            <a:r>
              <a:rPr lang="en-US" altLang="ko-KR" dirty="0"/>
              <a:t>&gt; </a:t>
            </a:r>
            <a:r>
              <a:rPr lang="ko-KR" altLang="en-US" dirty="0"/>
              <a:t>복잡해짐</a:t>
            </a:r>
            <a:r>
              <a:rPr lang="en-US" altLang="ko-KR" dirty="0"/>
              <a:t>, </a:t>
            </a:r>
            <a:r>
              <a:rPr lang="ko-KR" altLang="en-US" dirty="0"/>
              <a:t>유지보수도 힘듦</a:t>
            </a:r>
            <a:endParaRPr lang="en-US" altLang="ko-KR" dirty="0"/>
          </a:p>
          <a:p>
            <a:r>
              <a:rPr lang="en-US" altLang="ko-KR" dirty="0"/>
              <a:t>3.src app</a:t>
            </a:r>
            <a:r>
              <a:rPr lang="ko-KR" altLang="en-US" dirty="0"/>
              <a:t>과 </a:t>
            </a:r>
            <a:r>
              <a:rPr lang="en-US" altLang="ko-KR" dirty="0"/>
              <a:t>target app</a:t>
            </a:r>
            <a:r>
              <a:rPr lang="ko-KR" altLang="en-US" dirty="0"/>
              <a:t>의 커플링을 약하게 하기위해 카프카 등장</a:t>
            </a:r>
            <a:endParaRPr lang="en-US" altLang="ko-KR" dirty="0"/>
          </a:p>
          <a:p>
            <a:r>
              <a:rPr lang="en-US" altLang="ko-KR" dirty="0"/>
              <a:t>4.src</a:t>
            </a:r>
            <a:r>
              <a:rPr lang="ko-KR" altLang="en-US" dirty="0"/>
              <a:t>는 카프카에 데이터를 </a:t>
            </a:r>
            <a:r>
              <a:rPr lang="ko-KR" altLang="en-US" dirty="0" err="1"/>
              <a:t>전송만하면되고</a:t>
            </a:r>
            <a:r>
              <a:rPr lang="ko-KR" altLang="en-US" dirty="0"/>
              <a:t> 타겟은 카프카에서 데이터를 </a:t>
            </a:r>
            <a:r>
              <a:rPr lang="ko-KR" altLang="en-US" dirty="0" err="1"/>
              <a:t>갖고오면됨</a:t>
            </a:r>
            <a:endParaRPr lang="en-US" altLang="ko-KR" dirty="0"/>
          </a:p>
          <a:p>
            <a:pPr lvl="1"/>
            <a:r>
              <a:rPr lang="en-US" altLang="ko-KR" dirty="0"/>
              <a:t>Ex)</a:t>
            </a:r>
            <a:r>
              <a:rPr lang="en-US" altLang="ko-KR" dirty="0" err="1"/>
              <a:t>src</a:t>
            </a:r>
            <a:r>
              <a:rPr lang="ko-KR" altLang="en-US" dirty="0"/>
              <a:t>는 클릭로그</a:t>
            </a:r>
            <a:r>
              <a:rPr lang="en-US" altLang="ko-KR" dirty="0"/>
              <a:t>, </a:t>
            </a:r>
            <a:r>
              <a:rPr lang="ko-KR" altLang="en-US" dirty="0"/>
              <a:t>결제로그를 카프카에 </a:t>
            </a:r>
            <a:r>
              <a:rPr lang="ko-KR" altLang="en-US" dirty="0" err="1"/>
              <a:t>보내면되고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r>
              <a:rPr lang="ko-KR" altLang="en-US" dirty="0"/>
              <a:t>은 카프카에서 데이터를 받아 로그적재</a:t>
            </a:r>
            <a:r>
              <a:rPr lang="en-US" altLang="ko-KR" dirty="0"/>
              <a:t>, </a:t>
            </a:r>
            <a:r>
              <a:rPr lang="ko-KR" altLang="en-US" dirty="0"/>
              <a:t>로그처리 등을 </a:t>
            </a:r>
            <a:r>
              <a:rPr lang="ko-KR" altLang="en-US" dirty="0" err="1"/>
              <a:t>하면됨</a:t>
            </a:r>
            <a:endParaRPr lang="en-US" altLang="ko-KR" dirty="0"/>
          </a:p>
          <a:p>
            <a:pPr lvl="1"/>
            <a:r>
              <a:rPr lang="en-US" altLang="ko-KR" dirty="0" err="1"/>
              <a:t>Src</a:t>
            </a:r>
            <a:r>
              <a:rPr lang="ko-KR" altLang="en-US" dirty="0"/>
              <a:t>에서 보내는 데이터는 제한이 거의 없음</a:t>
            </a:r>
            <a:endParaRPr lang="en-US" altLang="ko-KR" dirty="0"/>
          </a:p>
          <a:p>
            <a:pPr lvl="1"/>
            <a:r>
              <a:rPr lang="ko-KR" altLang="en-US" dirty="0"/>
              <a:t>카프카에 중앙집중화 한 개념 </a:t>
            </a:r>
            <a:endParaRPr lang="en-US" altLang="ko-KR" dirty="0"/>
          </a:p>
          <a:p>
            <a:r>
              <a:rPr lang="en-US" altLang="ko-KR" dirty="0"/>
              <a:t>5.</a:t>
            </a:r>
            <a:r>
              <a:rPr lang="ko-KR" altLang="en-US" dirty="0"/>
              <a:t>카프카는 각종데이터를 </a:t>
            </a:r>
            <a:r>
              <a:rPr lang="en-US" altLang="ko-KR" dirty="0"/>
              <a:t>topic</a:t>
            </a:r>
            <a:r>
              <a:rPr lang="ko-KR" altLang="en-US" dirty="0"/>
              <a:t>에 담는다</a:t>
            </a:r>
            <a:r>
              <a:rPr lang="en-US" altLang="ko-KR" dirty="0"/>
              <a:t>.(</a:t>
            </a:r>
            <a:r>
              <a:rPr lang="ko-KR" altLang="en-US" dirty="0"/>
              <a:t>쉽게 큐라고 </a:t>
            </a:r>
            <a:r>
              <a:rPr lang="ko-KR" altLang="en-US" dirty="0" err="1"/>
              <a:t>생각하면됨</a:t>
            </a:r>
            <a:r>
              <a:rPr lang="en-US" altLang="ko-KR" dirty="0"/>
              <a:t>)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DEE6A-CE55-4E34-A123-74559017542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806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추가가 마지막 오프셋에서부터 되는 모습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DEE6A-CE55-4E34-A123-74559017542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562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_</a:t>
            </a:r>
            <a:r>
              <a:rPr lang="en-US" altLang="ko-KR" dirty="0" err="1"/>
              <a:t>consumer_offset</a:t>
            </a:r>
            <a:r>
              <a:rPr lang="ko-KR" altLang="en-US" dirty="0"/>
              <a:t>도 토픽처럼 관리돼서 특정 브로커에 저장되고 장애가 발생해도 </a:t>
            </a:r>
            <a:r>
              <a:rPr lang="ko-KR" altLang="en-US" dirty="0" err="1"/>
              <a:t>읽을수있음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DEE6A-CE55-4E34-A123-74559017542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9446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F324-871E-A1BF-1C91-DC509F94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5DA082-912F-D6FD-5404-EF955C2C1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B9C1BF-2E55-17C3-D853-53F12D552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_</a:t>
            </a:r>
            <a:r>
              <a:rPr lang="en-US" altLang="ko-KR" dirty="0" err="1"/>
              <a:t>consumer_offset</a:t>
            </a:r>
            <a:r>
              <a:rPr lang="ko-KR" altLang="en-US" dirty="0"/>
              <a:t>도 토픽처럼 관리돼서 특정 브로커에 저장되고 장애가 발생해도 </a:t>
            </a:r>
            <a:r>
              <a:rPr lang="ko-KR" altLang="en-US" dirty="0" err="1"/>
              <a:t>읽을수있음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60B257-6F49-3803-2168-70BD84CF9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1DEE6A-CE55-4E34-A123-74559017542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8078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F5A8-C999-96AA-83C8-D1FB8EDB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074DD9-A09E-85EA-ADFE-6231AFEA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2D652-E551-7F60-6FB6-1978794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3130" y="546020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8662992-F692-434D-88E2-565F8B3261B8}" type="datetime1">
              <a:rPr lang="ko-KR" altLang="en-US" smtClean="0"/>
              <a:t>2025-01-07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58968-C259-0919-9FA4-066E317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330" y="59650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252020-3FA6-3D95-00AB-182ADC945BD1}"/>
              </a:ext>
            </a:extLst>
          </p:cNvPr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	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8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BD5E8045-FD7C-FCE8-5EC1-DBC6DDB98C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5C49649-1653-6811-1077-45C424DA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6B4809-2B4D-E2FF-E41F-285F9C6153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62BD96-E085-E804-0FA9-E9AAB26246D9}"/>
              </a:ext>
            </a:extLst>
          </p:cNvPr>
          <p:cNvCxnSpPr>
            <a:cxnSpLocks/>
          </p:cNvCxnSpPr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376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6A48F9-5C8F-76A1-82D8-DFFDAA529820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   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C3F41E-8D88-0259-E8F4-F58C38D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616CB-243D-DB29-A5A9-B51B20CE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6667A-34CE-92A1-B512-ADD8DB6B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F93BAD-88E7-F67B-A03B-01A185809E78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60E36177-B8C0-8174-C937-F1FB43DB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7C8817-71D5-9E3B-6E69-B1D7278BBD31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2085F2A-E3B6-45E3-8A40-970C196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3102637-BBFC-4395-AADB-E220011C5B67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9FE1BE-E53A-4F04-AA56-5AB08A63F9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506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DA40F44-2B89-4E24-B458-AEAF8F968DF5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	             sho5223@naver.com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7209AB-84A3-46E8-B972-52FA582D728E}"/>
              </a:ext>
            </a:extLst>
          </p:cNvPr>
          <p:cNvSpPr txBox="1">
            <a:spLocks/>
          </p:cNvSpPr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r>
              <a:rPr lang="en-US" altLang="ko-KR" dirty="0"/>
              <a:t>Q&amp;A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EB4BA1-B44E-4F0D-874C-4ED2D475D58A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92686B94-703A-4016-ADC6-2A17D5F8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684D4C4-C0AE-452D-AA04-DFDC8ECB11A3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91B738-5599-4692-A0B7-D45D2F62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E41C8CFB-0D87-4D00-8590-3192384135ED}"/>
              </a:ext>
            </a:extLst>
          </p:cNvPr>
          <p:cNvSpPr txBox="1">
            <a:spLocks/>
          </p:cNvSpPr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pPr algn="ctr"/>
            <a:endParaRPr lang="ko-KR" altLang="en-US" sz="4000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5763AD6-0B72-7607-A200-984DB4D9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9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1C316-90E1-B3FA-1D90-7643936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6A861-75D0-5928-B0BC-309C7B22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6116F-5369-9AC0-886A-EB4C6ED8B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DA4A-7145-41F4-B5F6-06D0F27E03B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4A51-2EED-E69B-5B50-6113017C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6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 panose="020D0604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9944C-5DB4-4B55-8E66-4FC130F84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Kafka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8F877-8C6A-4253-949C-100C892D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서현우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27E4B46B-2022-0DC7-E8DF-4F6C5FE0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21E3-F023-4EF0-927C-33CC47FB618B}" type="datetime1">
              <a:rPr lang="ko-KR" altLang="en-US" smtClean="0"/>
              <a:t>2025-01-07</a:t>
            </a:fld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ECDC2-B5DA-7B1C-A730-94CF29B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56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5450D-6E2E-3DC7-6261-1149A664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E9F0A-315B-FEA0-59F4-32AF863C8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</a:t>
            </a:r>
            <a:r>
              <a:rPr lang="ko-KR" altLang="en-US" dirty="0"/>
              <a:t> 탄생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dirty="0" err="1"/>
              <a:t>kafka</a:t>
            </a:r>
            <a:r>
              <a:rPr lang="en-US" altLang="ko-KR" dirty="0"/>
              <a:t> </a:t>
            </a:r>
            <a:r>
              <a:rPr lang="ko-KR" altLang="en-US" dirty="0"/>
              <a:t>기본개념</a:t>
            </a:r>
            <a:endParaRPr lang="en-US" altLang="ko-KR" dirty="0"/>
          </a:p>
          <a:p>
            <a:pPr lvl="1"/>
            <a:r>
              <a:rPr lang="en-US" altLang="ko-KR" dirty="0"/>
              <a:t>Pub/Sub </a:t>
            </a:r>
            <a:r>
              <a:rPr lang="ko-KR" altLang="en-US" dirty="0"/>
              <a:t>모델</a:t>
            </a:r>
            <a:endParaRPr lang="en-US" altLang="ko-KR" dirty="0"/>
          </a:p>
          <a:p>
            <a:pPr lvl="1"/>
            <a:r>
              <a:rPr lang="en-US" altLang="ko-KR" dirty="0"/>
              <a:t>Message Queue</a:t>
            </a:r>
          </a:p>
          <a:p>
            <a:pPr lvl="1"/>
            <a:r>
              <a:rPr lang="en-US" altLang="ko-KR" dirty="0"/>
              <a:t>Zookeeper</a:t>
            </a:r>
          </a:p>
          <a:p>
            <a:pPr lvl="1"/>
            <a:r>
              <a:rPr lang="en-US" altLang="ko-KR" dirty="0"/>
              <a:t>Broker</a:t>
            </a:r>
          </a:p>
          <a:p>
            <a:pPr lvl="1"/>
            <a:r>
              <a:rPr lang="en-US" altLang="ko-KR" dirty="0"/>
              <a:t>Topic</a:t>
            </a:r>
          </a:p>
          <a:p>
            <a:pPr lvl="1"/>
            <a:r>
              <a:rPr lang="en-US" altLang="ko-KR" dirty="0"/>
              <a:t>Offset</a:t>
            </a:r>
          </a:p>
          <a:p>
            <a:pPr lvl="1"/>
            <a:r>
              <a:rPr lang="ko-KR" altLang="en-US" dirty="0" err="1"/>
              <a:t>컨슈머</a:t>
            </a:r>
            <a:r>
              <a:rPr lang="ko-KR" altLang="en-US" dirty="0"/>
              <a:t> 그룹 </a:t>
            </a:r>
            <a:r>
              <a:rPr lang="ko-KR" altLang="en-US" dirty="0" err="1"/>
              <a:t>리밸런싱</a:t>
            </a:r>
            <a:endParaRPr lang="en-US" altLang="ko-KR" dirty="0"/>
          </a:p>
          <a:p>
            <a:pPr lvl="1"/>
            <a:r>
              <a:rPr lang="en-US" altLang="ko-KR" dirty="0"/>
              <a:t>Broker Partition Replication</a:t>
            </a:r>
          </a:p>
          <a:p>
            <a:pPr lvl="1"/>
            <a:r>
              <a:rPr lang="en-US" altLang="ko-KR" dirty="0"/>
              <a:t>ISR</a:t>
            </a:r>
          </a:p>
          <a:p>
            <a:r>
              <a:rPr lang="en-US" altLang="ko-KR" dirty="0"/>
              <a:t>After-</a:t>
            </a:r>
          </a:p>
          <a:p>
            <a:pPr lvl="1"/>
            <a:r>
              <a:rPr lang="en-US" altLang="ko-KR" dirty="0"/>
              <a:t>AWS</a:t>
            </a:r>
            <a:r>
              <a:rPr lang="ko-KR" altLang="en-US" dirty="0"/>
              <a:t>로 </a:t>
            </a:r>
            <a:r>
              <a:rPr lang="en-US" altLang="ko-KR" dirty="0" err="1"/>
              <a:t>kafka</a:t>
            </a:r>
            <a:r>
              <a:rPr lang="en-US" altLang="ko-KR" dirty="0"/>
              <a:t> </a:t>
            </a:r>
            <a:r>
              <a:rPr lang="ko-KR" altLang="en-US" dirty="0"/>
              <a:t>구축</a:t>
            </a:r>
            <a:endParaRPr lang="en-US" altLang="ko-KR" dirty="0"/>
          </a:p>
          <a:p>
            <a:pPr lvl="1"/>
            <a:r>
              <a:rPr lang="en-US" altLang="ko-KR" dirty="0"/>
              <a:t>Mind Data Set </a:t>
            </a:r>
            <a:r>
              <a:rPr lang="ko-KR" altLang="en-US" dirty="0"/>
              <a:t>구축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A61D3-399B-4CDD-9F66-48CE6230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EE6127-AA9D-1DF3-8910-7C62BE3771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B855A12-A914-4226-229B-67759D26DB62}"/>
              </a:ext>
            </a:extLst>
          </p:cNvPr>
          <p:cNvGrpSpPr/>
          <p:nvPr/>
        </p:nvGrpSpPr>
        <p:grpSpPr>
          <a:xfrm>
            <a:off x="3798277" y="2107236"/>
            <a:ext cx="7602670" cy="2643527"/>
            <a:chOff x="1544714" y="2789751"/>
            <a:chExt cx="7988913" cy="298759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A632CE0-9FA3-F640-2418-D969DCFBAA7A}"/>
                </a:ext>
              </a:extLst>
            </p:cNvPr>
            <p:cNvGrpSpPr/>
            <p:nvPr/>
          </p:nvGrpSpPr>
          <p:grpSpPr>
            <a:xfrm>
              <a:off x="1544714" y="2789751"/>
              <a:ext cx="7988913" cy="2987594"/>
              <a:chOff x="2595354" y="3007570"/>
              <a:chExt cx="7541955" cy="2421383"/>
            </a:xfrm>
          </p:grpSpPr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C194CC7E-A91C-46E7-C7FA-F693529851E6}"/>
                  </a:ext>
                </a:extLst>
              </p:cNvPr>
              <p:cNvGrpSpPr/>
              <p:nvPr/>
            </p:nvGrpSpPr>
            <p:grpSpPr>
              <a:xfrm>
                <a:off x="4464817" y="3007570"/>
                <a:ext cx="3930283" cy="2421383"/>
                <a:chOff x="6429958" y="2586144"/>
                <a:chExt cx="5128768" cy="3264239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BC442ABB-4D8A-71AE-9A46-76DDE1A6FA2B}"/>
                    </a:ext>
                  </a:extLst>
                </p:cNvPr>
                <p:cNvSpPr/>
                <p:nvPr/>
              </p:nvSpPr>
              <p:spPr>
                <a:xfrm>
                  <a:off x="6429958" y="2586144"/>
                  <a:ext cx="5128768" cy="326423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Broker</a:t>
                  </a: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DD90DB99-E279-D015-FA1D-D4F6319771ED}"/>
                    </a:ext>
                  </a:extLst>
                </p:cNvPr>
                <p:cNvSpPr/>
                <p:nvPr/>
              </p:nvSpPr>
              <p:spPr>
                <a:xfrm>
                  <a:off x="6779769" y="3243296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638CFEFB-E5CC-3A30-C02B-227B3E2EA876}"/>
                    </a:ext>
                  </a:extLst>
                </p:cNvPr>
                <p:cNvSpPr/>
                <p:nvPr/>
              </p:nvSpPr>
              <p:spPr>
                <a:xfrm>
                  <a:off x="8404804" y="3243295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3A8B4EB-CD3E-4927-81D2-3E7EECD3CB67}"/>
                    </a:ext>
                  </a:extLst>
                </p:cNvPr>
                <p:cNvSpPr/>
                <p:nvPr/>
              </p:nvSpPr>
              <p:spPr>
                <a:xfrm>
                  <a:off x="10098757" y="3236633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3" name="순서도: 자기 디스크 32">
                <a:extLst>
                  <a:ext uri="{FF2B5EF4-FFF2-40B4-BE49-F238E27FC236}">
                    <a16:creationId xmlns:a16="http://schemas.microsoft.com/office/drawing/2014/main" id="{BF5AB9E5-B0E5-215D-A6F0-6BE7E396F350}"/>
                  </a:ext>
                </a:extLst>
              </p:cNvPr>
              <p:cNvSpPr/>
              <p:nvPr/>
            </p:nvSpPr>
            <p:spPr>
              <a:xfrm>
                <a:off x="2595354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순서도: 자기 디스크 33">
                <a:extLst>
                  <a:ext uri="{FF2B5EF4-FFF2-40B4-BE49-F238E27FC236}">
                    <a16:creationId xmlns:a16="http://schemas.microsoft.com/office/drawing/2014/main" id="{1E0243CE-9DFC-BEC1-242C-D6756BA0D3C7}"/>
                  </a:ext>
                </a:extLst>
              </p:cNvPr>
              <p:cNvSpPr/>
              <p:nvPr/>
            </p:nvSpPr>
            <p:spPr>
              <a:xfrm>
                <a:off x="9055983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B4A3F798-C453-D828-6781-96025EF776F6}"/>
                  </a:ext>
                </a:extLst>
              </p:cNvPr>
              <p:cNvCxnSpPr>
                <a:cxnSpLocks/>
                <a:stCxn id="33" idx="4"/>
                <a:endCxn id="37" idx="1"/>
              </p:cNvCxnSpPr>
              <p:nvPr/>
            </p:nvCxnSpPr>
            <p:spPr>
              <a:xfrm>
                <a:off x="3676680" y="4218262"/>
                <a:ext cx="7881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F87ACF55-9E3E-8FE4-86E1-74CCC28E7E69}"/>
                  </a:ext>
                </a:extLst>
              </p:cNvPr>
              <p:cNvCxnSpPr>
                <a:cxnSpLocks/>
                <a:stCxn id="37" idx="3"/>
                <a:endCxn id="34" idx="2"/>
              </p:cNvCxnSpPr>
              <p:nvPr/>
            </p:nvCxnSpPr>
            <p:spPr>
              <a:xfrm>
                <a:off x="8395100" y="4218262"/>
                <a:ext cx="66088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B563EA2-6C71-1874-4811-041B3ECEAD37}"/>
                </a:ext>
              </a:extLst>
            </p:cNvPr>
            <p:cNvSpPr/>
            <p:nvPr/>
          </p:nvSpPr>
          <p:spPr>
            <a:xfrm>
              <a:off x="3906589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D1599F6-2D5E-E32C-891C-8F40178A188C}"/>
                </a:ext>
              </a:extLst>
            </p:cNvPr>
            <p:cNvSpPr/>
            <p:nvPr/>
          </p:nvSpPr>
          <p:spPr>
            <a:xfrm>
              <a:off x="4360685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DFAA455-623E-8BF9-F0CB-F3BD0204A5A4}"/>
                </a:ext>
              </a:extLst>
            </p:cNvPr>
            <p:cNvSpPr/>
            <p:nvPr/>
          </p:nvSpPr>
          <p:spPr>
            <a:xfrm>
              <a:off x="3906589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93225E9-6DAB-48FE-B328-1657FF8B6377}"/>
                </a:ext>
              </a:extLst>
            </p:cNvPr>
            <p:cNvSpPr/>
            <p:nvPr/>
          </p:nvSpPr>
          <p:spPr>
            <a:xfrm>
              <a:off x="4354266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D87D8B0-9721-A84B-E0F0-2BFC1D8FDF3D}"/>
                </a:ext>
              </a:extLst>
            </p:cNvPr>
            <p:cNvSpPr/>
            <p:nvPr/>
          </p:nvSpPr>
          <p:spPr>
            <a:xfrm>
              <a:off x="3906589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D7FB366-39A1-0D9D-4661-DF6FEC466950}"/>
                </a:ext>
              </a:extLst>
            </p:cNvPr>
            <p:cNvSpPr/>
            <p:nvPr/>
          </p:nvSpPr>
          <p:spPr>
            <a:xfrm>
              <a:off x="4360685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D3BD15E-0450-8D41-1672-65944F7C8B22}"/>
                </a:ext>
              </a:extLst>
            </p:cNvPr>
            <p:cNvSpPr/>
            <p:nvPr/>
          </p:nvSpPr>
          <p:spPr>
            <a:xfrm>
              <a:off x="3906589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7BABA09-7CF7-B92F-B916-546F3CE948CA}"/>
                </a:ext>
              </a:extLst>
            </p:cNvPr>
            <p:cNvSpPr/>
            <p:nvPr/>
          </p:nvSpPr>
          <p:spPr>
            <a:xfrm>
              <a:off x="4354266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53D9549-0B75-F8FC-BB42-83739A23793D}"/>
                </a:ext>
              </a:extLst>
            </p:cNvPr>
            <p:cNvSpPr/>
            <p:nvPr/>
          </p:nvSpPr>
          <p:spPr>
            <a:xfrm>
              <a:off x="5256773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9A9F351-E9E7-1BC1-A3D5-E35D524F8E0E}"/>
                </a:ext>
              </a:extLst>
            </p:cNvPr>
            <p:cNvSpPr/>
            <p:nvPr/>
          </p:nvSpPr>
          <p:spPr>
            <a:xfrm>
              <a:off x="5710869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24204B9-A447-F36A-EB12-6559213077F1}"/>
                </a:ext>
              </a:extLst>
            </p:cNvPr>
            <p:cNvSpPr/>
            <p:nvPr/>
          </p:nvSpPr>
          <p:spPr>
            <a:xfrm>
              <a:off x="5256773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E3CD2D7-FA39-6EE0-BD11-6AD969F02F4E}"/>
                </a:ext>
              </a:extLst>
            </p:cNvPr>
            <p:cNvSpPr/>
            <p:nvPr/>
          </p:nvSpPr>
          <p:spPr>
            <a:xfrm>
              <a:off x="5704450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C096BB1-D3C0-04C8-0587-7DD3DEF02CCB}"/>
                </a:ext>
              </a:extLst>
            </p:cNvPr>
            <p:cNvSpPr/>
            <p:nvPr/>
          </p:nvSpPr>
          <p:spPr>
            <a:xfrm>
              <a:off x="5256773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A3FB60E-5D91-3318-782A-DFA34E6C34CD}"/>
                </a:ext>
              </a:extLst>
            </p:cNvPr>
            <p:cNvSpPr/>
            <p:nvPr/>
          </p:nvSpPr>
          <p:spPr>
            <a:xfrm>
              <a:off x="5710869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A2C732B-4F66-0C16-7EEF-928AE89CDA8B}"/>
                </a:ext>
              </a:extLst>
            </p:cNvPr>
            <p:cNvSpPr/>
            <p:nvPr/>
          </p:nvSpPr>
          <p:spPr>
            <a:xfrm>
              <a:off x="5256773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8C2E5EB-E56F-CBFE-74FD-E4B31D47AF34}"/>
                </a:ext>
              </a:extLst>
            </p:cNvPr>
            <p:cNvSpPr/>
            <p:nvPr/>
          </p:nvSpPr>
          <p:spPr>
            <a:xfrm>
              <a:off x="5704450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F61173B-36AE-16FD-770D-CB6D1C8719B9}"/>
                </a:ext>
              </a:extLst>
            </p:cNvPr>
            <p:cNvSpPr/>
            <p:nvPr/>
          </p:nvSpPr>
          <p:spPr>
            <a:xfrm>
              <a:off x="6655300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3937031D-2236-9253-B151-32FA48BA8CC0}"/>
                </a:ext>
              </a:extLst>
            </p:cNvPr>
            <p:cNvSpPr/>
            <p:nvPr/>
          </p:nvSpPr>
          <p:spPr>
            <a:xfrm>
              <a:off x="7109396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537F7E35-32E3-8021-A6B9-3EF78FC6F671}"/>
                </a:ext>
              </a:extLst>
            </p:cNvPr>
            <p:cNvSpPr/>
            <p:nvPr/>
          </p:nvSpPr>
          <p:spPr>
            <a:xfrm>
              <a:off x="6655300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B26790B3-B3EE-F08A-6D2C-B8024CAA34F8}"/>
                </a:ext>
              </a:extLst>
            </p:cNvPr>
            <p:cNvSpPr/>
            <p:nvPr/>
          </p:nvSpPr>
          <p:spPr>
            <a:xfrm>
              <a:off x="7102977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24B2C36-FCBD-A96A-DC70-145A7D0B0F2B}"/>
                </a:ext>
              </a:extLst>
            </p:cNvPr>
            <p:cNvSpPr/>
            <p:nvPr/>
          </p:nvSpPr>
          <p:spPr>
            <a:xfrm>
              <a:off x="6655300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89D6538F-1D68-A3E0-7BF5-FC0D3E6177AF}"/>
                </a:ext>
              </a:extLst>
            </p:cNvPr>
            <p:cNvSpPr/>
            <p:nvPr/>
          </p:nvSpPr>
          <p:spPr>
            <a:xfrm>
              <a:off x="7109396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AF6BFFF-45C9-5696-4C34-C1B7943AEC05}"/>
                </a:ext>
              </a:extLst>
            </p:cNvPr>
            <p:cNvSpPr/>
            <p:nvPr/>
          </p:nvSpPr>
          <p:spPr>
            <a:xfrm>
              <a:off x="6655300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3CEEDC6-72EE-3A04-6AEE-BA63D2857A4E}"/>
                </a:ext>
              </a:extLst>
            </p:cNvPr>
            <p:cNvSpPr/>
            <p:nvPr/>
          </p:nvSpPr>
          <p:spPr>
            <a:xfrm>
              <a:off x="7102977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9D08CEF4-5E45-25F0-A282-60CB12C62617}"/>
              </a:ext>
            </a:extLst>
          </p:cNvPr>
          <p:cNvSpPr/>
          <p:nvPr/>
        </p:nvSpPr>
        <p:spPr>
          <a:xfrm>
            <a:off x="6810601" y="1297887"/>
            <a:ext cx="1706300" cy="3450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Zookeeper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010F2169-C070-C42C-7EE8-147417DDBAFB}"/>
              </a:ext>
            </a:extLst>
          </p:cNvPr>
          <p:cNvCxnSpPr>
            <a:cxnSpLocks/>
            <a:stCxn id="76" idx="2"/>
            <a:endCxn id="37" idx="0"/>
          </p:cNvCxnSpPr>
          <p:nvPr/>
        </p:nvCxnSpPr>
        <p:spPr>
          <a:xfrm>
            <a:off x="7663751" y="1642973"/>
            <a:ext cx="1" cy="4642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58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17024-C0BF-EA9B-1901-9E0D70988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CC303E-6784-6A5D-A2C7-546D22D02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639" y="5386222"/>
            <a:ext cx="11253849" cy="790740"/>
          </a:xfrm>
        </p:spPr>
        <p:txBody>
          <a:bodyPr/>
          <a:lstStyle/>
          <a:p>
            <a:r>
              <a:rPr lang="ko-KR" altLang="en-US" dirty="0"/>
              <a:t>초기에는 데이터의 생성과 전달이 </a:t>
            </a:r>
            <a:r>
              <a:rPr lang="en-US" altLang="ko-KR" dirty="0"/>
              <a:t>end to end </a:t>
            </a:r>
            <a:r>
              <a:rPr lang="ko-KR" altLang="en-US" dirty="0"/>
              <a:t>구조 였음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434980-C5AF-4823-727B-0B68E9355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D652972-41F3-B5C2-98F8-91F89233B1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D31598A-08B7-04AC-EA57-4DDF348B0F25}"/>
              </a:ext>
            </a:extLst>
          </p:cNvPr>
          <p:cNvGrpSpPr/>
          <p:nvPr/>
        </p:nvGrpSpPr>
        <p:grpSpPr>
          <a:xfrm>
            <a:off x="4986172" y="1740654"/>
            <a:ext cx="1109828" cy="2529873"/>
            <a:chOff x="651917" y="998475"/>
            <a:chExt cx="1109828" cy="2529873"/>
          </a:xfrm>
        </p:grpSpPr>
        <p:sp>
          <p:nvSpPr>
            <p:cNvPr id="15" name="순서도: 자기 디스크 14">
              <a:extLst>
                <a:ext uri="{FF2B5EF4-FFF2-40B4-BE49-F238E27FC236}">
                  <a16:creationId xmlns:a16="http://schemas.microsoft.com/office/drawing/2014/main" id="{99AEB448-B7FB-54B2-1D81-B8650A41F0CB}"/>
                </a:ext>
              </a:extLst>
            </p:cNvPr>
            <p:cNvSpPr/>
            <p:nvPr/>
          </p:nvSpPr>
          <p:spPr>
            <a:xfrm>
              <a:off x="651917" y="998475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1"/>
                  </a:solidFill>
                </a:rPr>
                <a:t>src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순서도: 자기 디스크 15">
              <a:extLst>
                <a:ext uri="{FF2B5EF4-FFF2-40B4-BE49-F238E27FC236}">
                  <a16:creationId xmlns:a16="http://schemas.microsoft.com/office/drawing/2014/main" id="{982A7D95-DA10-2E59-1B2F-B7DF9D70D2AF}"/>
                </a:ext>
              </a:extLst>
            </p:cNvPr>
            <p:cNvSpPr/>
            <p:nvPr/>
          </p:nvSpPr>
          <p:spPr>
            <a:xfrm>
              <a:off x="651917" y="2801727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target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A0ED9D15-774A-D879-C519-EF49908E3CAB}"/>
                </a:ext>
              </a:extLst>
            </p:cNvPr>
            <p:cNvCxnSpPr>
              <a:stCxn id="15" idx="3"/>
              <a:endCxn id="16" idx="1"/>
            </p:cNvCxnSpPr>
            <p:nvPr/>
          </p:nvCxnSpPr>
          <p:spPr>
            <a:xfrm>
              <a:off x="1206831" y="1725096"/>
              <a:ext cx="0" cy="107663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E6EE44B-B1E7-7371-01D0-5409A3A8A075}"/>
              </a:ext>
            </a:extLst>
          </p:cNvPr>
          <p:cNvGrpSpPr/>
          <p:nvPr/>
        </p:nvGrpSpPr>
        <p:grpSpPr>
          <a:xfrm>
            <a:off x="6497019" y="1740653"/>
            <a:ext cx="1109828" cy="2529873"/>
            <a:chOff x="651917" y="998475"/>
            <a:chExt cx="1109828" cy="2529873"/>
          </a:xfrm>
        </p:grpSpPr>
        <p:sp>
          <p:nvSpPr>
            <p:cNvPr id="23" name="순서도: 자기 디스크 22">
              <a:extLst>
                <a:ext uri="{FF2B5EF4-FFF2-40B4-BE49-F238E27FC236}">
                  <a16:creationId xmlns:a16="http://schemas.microsoft.com/office/drawing/2014/main" id="{0403892B-84F7-2DB9-8A6F-C00E5C5F7B40}"/>
                </a:ext>
              </a:extLst>
            </p:cNvPr>
            <p:cNvSpPr/>
            <p:nvPr/>
          </p:nvSpPr>
          <p:spPr>
            <a:xfrm>
              <a:off x="651917" y="998475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1"/>
                  </a:solidFill>
                </a:rPr>
                <a:t>src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순서도: 자기 디스크 23">
              <a:extLst>
                <a:ext uri="{FF2B5EF4-FFF2-40B4-BE49-F238E27FC236}">
                  <a16:creationId xmlns:a16="http://schemas.microsoft.com/office/drawing/2014/main" id="{D613BBFA-6E2B-5FC1-0624-943C6B494BEE}"/>
                </a:ext>
              </a:extLst>
            </p:cNvPr>
            <p:cNvSpPr/>
            <p:nvPr/>
          </p:nvSpPr>
          <p:spPr>
            <a:xfrm>
              <a:off x="651917" y="2801727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target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D78FD187-502B-253C-F27F-C427484CBC3C}"/>
                </a:ext>
              </a:extLst>
            </p:cNvPr>
            <p:cNvCxnSpPr>
              <a:stCxn id="23" idx="3"/>
              <a:endCxn id="24" idx="1"/>
            </p:cNvCxnSpPr>
            <p:nvPr/>
          </p:nvCxnSpPr>
          <p:spPr>
            <a:xfrm>
              <a:off x="1206831" y="1725096"/>
              <a:ext cx="0" cy="107663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AA0CE77-B4E3-C5A9-7FC0-21E378D24BED}"/>
              </a:ext>
            </a:extLst>
          </p:cNvPr>
          <p:cNvGrpSpPr/>
          <p:nvPr/>
        </p:nvGrpSpPr>
        <p:grpSpPr>
          <a:xfrm>
            <a:off x="3442669" y="1778755"/>
            <a:ext cx="1109828" cy="2529873"/>
            <a:chOff x="651917" y="998475"/>
            <a:chExt cx="1109828" cy="2529873"/>
          </a:xfrm>
        </p:grpSpPr>
        <p:sp>
          <p:nvSpPr>
            <p:cNvPr id="27" name="순서도: 자기 디스크 26">
              <a:extLst>
                <a:ext uri="{FF2B5EF4-FFF2-40B4-BE49-F238E27FC236}">
                  <a16:creationId xmlns:a16="http://schemas.microsoft.com/office/drawing/2014/main" id="{3015CBA2-5BF2-6EF4-BB93-E3152ECA871B}"/>
                </a:ext>
              </a:extLst>
            </p:cNvPr>
            <p:cNvSpPr/>
            <p:nvPr/>
          </p:nvSpPr>
          <p:spPr>
            <a:xfrm>
              <a:off x="651917" y="998475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>
                  <a:solidFill>
                    <a:schemeClr val="tx1"/>
                  </a:solidFill>
                </a:rPr>
                <a:t>src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순서도: 자기 디스크 27">
              <a:extLst>
                <a:ext uri="{FF2B5EF4-FFF2-40B4-BE49-F238E27FC236}">
                  <a16:creationId xmlns:a16="http://schemas.microsoft.com/office/drawing/2014/main" id="{98A346DE-EF15-4B74-B4C1-84F77B42D8D5}"/>
                </a:ext>
              </a:extLst>
            </p:cNvPr>
            <p:cNvSpPr/>
            <p:nvPr/>
          </p:nvSpPr>
          <p:spPr>
            <a:xfrm>
              <a:off x="651917" y="2801727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target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ECE4029E-4660-80CD-DA86-61777F02FD24}"/>
                </a:ext>
              </a:extLst>
            </p:cNvPr>
            <p:cNvCxnSpPr>
              <a:stCxn id="27" idx="3"/>
              <a:endCxn id="28" idx="1"/>
            </p:cNvCxnSpPr>
            <p:nvPr/>
          </p:nvCxnSpPr>
          <p:spPr>
            <a:xfrm>
              <a:off x="1206831" y="1725096"/>
              <a:ext cx="0" cy="107663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5F16149-DCDE-53D5-A601-6AFD3FE38A93}"/>
              </a:ext>
            </a:extLst>
          </p:cNvPr>
          <p:cNvCxnSpPr>
            <a:cxnSpLocks/>
            <a:stCxn id="27" idx="3"/>
            <a:endCxn id="16" idx="1"/>
          </p:cNvCxnSpPr>
          <p:nvPr/>
        </p:nvCxnSpPr>
        <p:spPr>
          <a:xfrm>
            <a:off x="3997583" y="2505376"/>
            <a:ext cx="1543503" cy="10385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3334A1E-EAD5-C7DA-B20C-4DFD021E9085}"/>
              </a:ext>
            </a:extLst>
          </p:cNvPr>
          <p:cNvCxnSpPr>
            <a:cxnSpLocks/>
            <a:stCxn id="23" idx="3"/>
            <a:endCxn id="16" idx="1"/>
          </p:cNvCxnSpPr>
          <p:nvPr/>
        </p:nvCxnSpPr>
        <p:spPr>
          <a:xfrm flipH="1">
            <a:off x="5541086" y="2467274"/>
            <a:ext cx="1510847" cy="10766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7198357-8B8F-DE5B-24AE-7929FCB9BB33}"/>
              </a:ext>
            </a:extLst>
          </p:cNvPr>
          <p:cNvCxnSpPr>
            <a:cxnSpLocks/>
            <a:stCxn id="15" idx="3"/>
            <a:endCxn id="28" idx="1"/>
          </p:cNvCxnSpPr>
          <p:nvPr/>
        </p:nvCxnSpPr>
        <p:spPr>
          <a:xfrm flipH="1">
            <a:off x="3997583" y="2467275"/>
            <a:ext cx="1543503" cy="11147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6926499-6E15-DCFE-87EF-9342A92D578E}"/>
              </a:ext>
            </a:extLst>
          </p:cNvPr>
          <p:cNvCxnSpPr>
            <a:cxnSpLocks/>
            <a:stCxn id="15" idx="3"/>
            <a:endCxn id="24" idx="1"/>
          </p:cNvCxnSpPr>
          <p:nvPr/>
        </p:nvCxnSpPr>
        <p:spPr>
          <a:xfrm>
            <a:off x="5541086" y="2467275"/>
            <a:ext cx="1510847" cy="10766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5CC8BFEB-67F2-3EE4-2E80-3D4BDBFD54EF}"/>
              </a:ext>
            </a:extLst>
          </p:cNvPr>
          <p:cNvCxnSpPr>
            <a:cxnSpLocks/>
            <a:stCxn id="27" idx="3"/>
            <a:endCxn id="24" idx="1"/>
          </p:cNvCxnSpPr>
          <p:nvPr/>
        </p:nvCxnSpPr>
        <p:spPr>
          <a:xfrm>
            <a:off x="3997583" y="2505376"/>
            <a:ext cx="3054350" cy="1038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B18C4ED2-D20D-7FC8-967D-E8245AF89E5A}"/>
              </a:ext>
            </a:extLst>
          </p:cNvPr>
          <p:cNvCxnSpPr>
            <a:cxnSpLocks/>
            <a:stCxn id="23" idx="3"/>
            <a:endCxn id="28" idx="1"/>
          </p:cNvCxnSpPr>
          <p:nvPr/>
        </p:nvCxnSpPr>
        <p:spPr>
          <a:xfrm flipH="1">
            <a:off x="3997583" y="2467274"/>
            <a:ext cx="3054350" cy="11147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곱하기 기호 52">
            <a:extLst>
              <a:ext uri="{FF2B5EF4-FFF2-40B4-BE49-F238E27FC236}">
                <a16:creationId xmlns:a16="http://schemas.microsoft.com/office/drawing/2014/main" id="{98CB8FF8-9354-C286-14FA-B738DBE8B6BE}"/>
              </a:ext>
            </a:extLst>
          </p:cNvPr>
          <p:cNvSpPr/>
          <p:nvPr/>
        </p:nvSpPr>
        <p:spPr>
          <a:xfrm>
            <a:off x="3282043" y="1355580"/>
            <a:ext cx="1436914" cy="149980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곱하기 기호 53">
            <a:extLst>
              <a:ext uri="{FF2B5EF4-FFF2-40B4-BE49-F238E27FC236}">
                <a16:creationId xmlns:a16="http://schemas.microsoft.com/office/drawing/2014/main" id="{47DBE768-CE08-25E6-1BEB-B1EBB8C5A7A9}"/>
              </a:ext>
            </a:extLst>
          </p:cNvPr>
          <p:cNvSpPr/>
          <p:nvPr/>
        </p:nvSpPr>
        <p:spPr>
          <a:xfrm>
            <a:off x="3271801" y="3252712"/>
            <a:ext cx="1436914" cy="149980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곱하기 기호 54">
            <a:extLst>
              <a:ext uri="{FF2B5EF4-FFF2-40B4-BE49-F238E27FC236}">
                <a16:creationId xmlns:a16="http://schemas.microsoft.com/office/drawing/2014/main" id="{A031B20D-C90C-59B6-D0CD-DDA124DAE7E7}"/>
              </a:ext>
            </a:extLst>
          </p:cNvPr>
          <p:cNvSpPr/>
          <p:nvPr/>
        </p:nvSpPr>
        <p:spPr>
          <a:xfrm>
            <a:off x="4866234" y="3252712"/>
            <a:ext cx="1436914" cy="149980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곱하기 기호 55">
            <a:extLst>
              <a:ext uri="{FF2B5EF4-FFF2-40B4-BE49-F238E27FC236}">
                <a16:creationId xmlns:a16="http://schemas.microsoft.com/office/drawing/2014/main" id="{B4CAC894-D596-AE66-7976-A04C2B50DDB5}"/>
              </a:ext>
            </a:extLst>
          </p:cNvPr>
          <p:cNvSpPr/>
          <p:nvPr/>
        </p:nvSpPr>
        <p:spPr>
          <a:xfrm>
            <a:off x="6386770" y="3252712"/>
            <a:ext cx="1436914" cy="149980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462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00C95-07A4-227A-AF33-A2A803A5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84307D-03C7-10F1-3345-F3899CD2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A997303-5993-0EA0-F6FC-BABAEFFD00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CF90DCF-F80F-9929-7638-186BEDEDC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472" y="1103186"/>
            <a:ext cx="8172450" cy="4110713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C1606C1-501E-EBDE-B40E-CD2B07DE0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639" y="5386222"/>
            <a:ext cx="11253849" cy="790740"/>
          </a:xfrm>
        </p:spPr>
        <p:txBody>
          <a:bodyPr>
            <a:normAutofit/>
          </a:bodyPr>
          <a:lstStyle/>
          <a:p>
            <a:r>
              <a:rPr lang="ko-KR" altLang="en-US" dirty="0"/>
              <a:t>한 쪽의 서비스 장애가 발생 </a:t>
            </a:r>
            <a:r>
              <a:rPr lang="en-US" altLang="ko-KR" dirty="0"/>
              <a:t>– </a:t>
            </a:r>
            <a:r>
              <a:rPr lang="ko-KR" altLang="en-US" dirty="0"/>
              <a:t>연결된 모든 서비스에 영향</a:t>
            </a:r>
            <a:endParaRPr lang="en-US" altLang="ko-KR" dirty="0"/>
          </a:p>
          <a:p>
            <a:r>
              <a:rPr lang="ko-KR" altLang="en-US" dirty="0"/>
              <a:t>각기 다른 데이터 파이프라인을 가짐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03266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6F19BD-4A17-C318-F569-8239B48C7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5CE3DA-3ED2-840A-927F-3F20501DD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파이프라인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단계적으로 연결 되어있는 프로세스</a:t>
            </a:r>
            <a:endParaRPr lang="en-US" altLang="ko-KR" dirty="0"/>
          </a:p>
          <a:p>
            <a:r>
              <a:rPr lang="ko-KR" altLang="en-US" dirty="0"/>
              <a:t>데이터를 한시스템에서 또다른 시스템으로 옮기는 작업</a:t>
            </a:r>
            <a:endParaRPr lang="en-US" altLang="ko-KR" dirty="0"/>
          </a:p>
          <a:p>
            <a:r>
              <a:rPr lang="en-US" altLang="ko-KR" dirty="0"/>
              <a:t>ETL</a:t>
            </a:r>
          </a:p>
          <a:p>
            <a:pPr lvl="1"/>
            <a:r>
              <a:rPr lang="en-US" altLang="ko-KR" dirty="0"/>
              <a:t>Extract(</a:t>
            </a:r>
            <a:r>
              <a:rPr lang="ko-KR" altLang="en-US" dirty="0"/>
              <a:t>추출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Transform(</a:t>
            </a:r>
            <a:r>
              <a:rPr lang="ko-KR" altLang="en-US" dirty="0"/>
              <a:t>변환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Load(</a:t>
            </a:r>
            <a:r>
              <a:rPr lang="ko-KR" altLang="en-US" dirty="0"/>
              <a:t>적재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945F0C-D2D1-B31A-A930-61B446C7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340C334-D05A-79C8-1DBF-B0E1409B63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20145A7-466B-0349-279D-52A1460C7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372" y="2386818"/>
            <a:ext cx="7742353" cy="3152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6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C1A29-892A-0ED6-7C86-6893D608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24B434-33E4-6F20-1436-21226157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5525C0D-B968-7631-04B8-3C99F76DEA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99ED44B-3C7D-B4B9-B66F-14F5D9DE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639" y="4889547"/>
            <a:ext cx="11253849" cy="1287415"/>
          </a:xfrm>
        </p:spPr>
        <p:txBody>
          <a:bodyPr>
            <a:normAutofit/>
          </a:bodyPr>
          <a:lstStyle/>
          <a:p>
            <a:r>
              <a:rPr lang="ko-KR" altLang="en-US" dirty="0"/>
              <a:t>데이터의 흐름을 중앙에서 관리하는 </a:t>
            </a:r>
            <a:r>
              <a:rPr lang="en-US" altLang="ko-KR" dirty="0" err="1"/>
              <a:t>kafka</a:t>
            </a:r>
            <a:r>
              <a:rPr lang="ko-KR" altLang="en-US" dirty="0"/>
              <a:t>가 탄생함</a:t>
            </a:r>
            <a:endParaRPr lang="en-US" altLang="ko-KR" dirty="0"/>
          </a:p>
          <a:p>
            <a:r>
              <a:rPr lang="en-US" altLang="ko-KR" dirty="0"/>
              <a:t>Kafka</a:t>
            </a:r>
            <a:r>
              <a:rPr lang="ko-KR" altLang="en-US" dirty="0"/>
              <a:t>에서 </a:t>
            </a:r>
            <a:r>
              <a:rPr lang="en-US" altLang="ko-KR" dirty="0" err="1"/>
              <a:t>src</a:t>
            </a:r>
            <a:r>
              <a:rPr lang="en-US" altLang="ko-KR" dirty="0"/>
              <a:t> = producer, target=consumer</a:t>
            </a:r>
          </a:p>
        </p:txBody>
      </p:sp>
      <p:sp>
        <p:nvSpPr>
          <p:cNvPr id="23" name="순서도: 자기 디스크 22">
            <a:extLst>
              <a:ext uri="{FF2B5EF4-FFF2-40B4-BE49-F238E27FC236}">
                <a16:creationId xmlns:a16="http://schemas.microsoft.com/office/drawing/2014/main" id="{09D0D9BE-9284-A423-629E-7ECCC43DFABC}"/>
              </a:ext>
            </a:extLst>
          </p:cNvPr>
          <p:cNvSpPr/>
          <p:nvPr/>
        </p:nvSpPr>
        <p:spPr>
          <a:xfrm>
            <a:off x="4986172" y="1239244"/>
            <a:ext cx="1109828" cy="726621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src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순서도: 자기 디스크 23">
            <a:extLst>
              <a:ext uri="{FF2B5EF4-FFF2-40B4-BE49-F238E27FC236}">
                <a16:creationId xmlns:a16="http://schemas.microsoft.com/office/drawing/2014/main" id="{A070CF3B-5E21-A919-5DB6-94CBAC5576E9}"/>
              </a:ext>
            </a:extLst>
          </p:cNvPr>
          <p:cNvSpPr/>
          <p:nvPr/>
        </p:nvSpPr>
        <p:spPr>
          <a:xfrm>
            <a:off x="5027735" y="3976273"/>
            <a:ext cx="1109828" cy="726621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target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83333B6-4FBF-A1A2-CA75-C51EF347F646}"/>
              </a:ext>
            </a:extLst>
          </p:cNvPr>
          <p:cNvCxnSpPr>
            <a:cxnSpLocks/>
            <a:stCxn id="23" idx="3"/>
            <a:endCxn id="51" idx="0"/>
          </p:cNvCxnSpPr>
          <p:nvPr/>
        </p:nvCxnSpPr>
        <p:spPr>
          <a:xfrm>
            <a:off x="5541086" y="1965865"/>
            <a:ext cx="0" cy="5857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순서도: 자기 디스크 19">
            <a:extLst>
              <a:ext uri="{FF2B5EF4-FFF2-40B4-BE49-F238E27FC236}">
                <a16:creationId xmlns:a16="http://schemas.microsoft.com/office/drawing/2014/main" id="{50BFC817-35A4-4CB0-194E-5A5E28F78665}"/>
              </a:ext>
            </a:extLst>
          </p:cNvPr>
          <p:cNvSpPr/>
          <p:nvPr/>
        </p:nvSpPr>
        <p:spPr>
          <a:xfrm>
            <a:off x="6477647" y="1237514"/>
            <a:ext cx="1109828" cy="726621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src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순서도: 자기 디스크 20">
            <a:extLst>
              <a:ext uri="{FF2B5EF4-FFF2-40B4-BE49-F238E27FC236}">
                <a16:creationId xmlns:a16="http://schemas.microsoft.com/office/drawing/2014/main" id="{66993CAE-BA61-7F04-4190-D27CB2E3B202}"/>
              </a:ext>
            </a:extLst>
          </p:cNvPr>
          <p:cNvSpPr/>
          <p:nvPr/>
        </p:nvSpPr>
        <p:spPr>
          <a:xfrm>
            <a:off x="6529677" y="3942722"/>
            <a:ext cx="1109828" cy="726621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target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09F3F3D-ADE0-316A-0A9E-645A4F6444AC}"/>
              </a:ext>
            </a:extLst>
          </p:cNvPr>
          <p:cNvCxnSpPr>
            <a:cxnSpLocks/>
            <a:stCxn id="20" idx="3"/>
          </p:cNvCxnSpPr>
          <p:nvPr/>
        </p:nvCxnSpPr>
        <p:spPr>
          <a:xfrm flipH="1">
            <a:off x="6477647" y="1964135"/>
            <a:ext cx="554914" cy="5857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순서도: 자기 디스크 16">
            <a:extLst>
              <a:ext uri="{FF2B5EF4-FFF2-40B4-BE49-F238E27FC236}">
                <a16:creationId xmlns:a16="http://schemas.microsoft.com/office/drawing/2014/main" id="{CA95F180-6E20-907F-B16B-509D9032D8F1}"/>
              </a:ext>
            </a:extLst>
          </p:cNvPr>
          <p:cNvSpPr/>
          <p:nvPr/>
        </p:nvSpPr>
        <p:spPr>
          <a:xfrm>
            <a:off x="3444318" y="1240109"/>
            <a:ext cx="1109828" cy="726621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src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순서도: 자기 디스크 17">
            <a:extLst>
              <a:ext uri="{FF2B5EF4-FFF2-40B4-BE49-F238E27FC236}">
                <a16:creationId xmlns:a16="http://schemas.microsoft.com/office/drawing/2014/main" id="{BB641676-8AAC-A8CF-2555-4A1D4BF626B4}"/>
              </a:ext>
            </a:extLst>
          </p:cNvPr>
          <p:cNvSpPr/>
          <p:nvPr/>
        </p:nvSpPr>
        <p:spPr>
          <a:xfrm>
            <a:off x="3442669" y="3976273"/>
            <a:ext cx="1109828" cy="726621"/>
          </a:xfrm>
          <a:prstGeom prst="flowChartMagneticDisk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target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92D7F02-A75C-5A6B-BA4E-E52F98BB7F3A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3999232" y="1966730"/>
            <a:ext cx="680100" cy="583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FA31065-3E5F-CBD2-1AF7-261D40AE49A5}"/>
              </a:ext>
            </a:extLst>
          </p:cNvPr>
          <p:cNvSpPr/>
          <p:nvPr/>
        </p:nvSpPr>
        <p:spPr>
          <a:xfrm>
            <a:off x="4222204" y="2551664"/>
            <a:ext cx="2637764" cy="902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</a:rPr>
              <a:t>Kafka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1EA9B222-6537-1AD4-A53C-A66FF4AF4313}"/>
              </a:ext>
            </a:extLst>
          </p:cNvPr>
          <p:cNvCxnSpPr>
            <a:cxnSpLocks/>
          </p:cNvCxnSpPr>
          <p:nvPr/>
        </p:nvCxnSpPr>
        <p:spPr>
          <a:xfrm>
            <a:off x="5582649" y="3461656"/>
            <a:ext cx="0" cy="5857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119A757A-F167-60B8-84C6-24F7C1A5F0B3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6359979" y="3454060"/>
            <a:ext cx="724612" cy="4886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9D9F03DD-1E13-056E-B43B-4D3408E8AA32}"/>
              </a:ext>
            </a:extLst>
          </p:cNvPr>
          <p:cNvCxnSpPr>
            <a:cxnSpLocks/>
            <a:endCxn id="18" idx="1"/>
          </p:cNvCxnSpPr>
          <p:nvPr/>
        </p:nvCxnSpPr>
        <p:spPr>
          <a:xfrm flipH="1">
            <a:off x="3997583" y="3441530"/>
            <a:ext cx="777886" cy="5347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576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2FEDD-FF33-312C-417B-DB4FF4323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2C1E6D-1C12-8AF9-4C1E-DC6184944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6579C0-93E6-9166-5CD9-4ACE4BD6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F20140B-F90F-FD71-823C-879A81DF8AA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CD34BFD-4E09-1FFA-C29E-4530E2CA395D}"/>
              </a:ext>
            </a:extLst>
          </p:cNvPr>
          <p:cNvGrpSpPr/>
          <p:nvPr/>
        </p:nvGrpSpPr>
        <p:grpSpPr>
          <a:xfrm>
            <a:off x="3442669" y="1237514"/>
            <a:ext cx="4196836" cy="3465380"/>
            <a:chOff x="3442669" y="1237514"/>
            <a:chExt cx="4196836" cy="3465380"/>
          </a:xfrm>
        </p:grpSpPr>
        <p:sp>
          <p:nvSpPr>
            <p:cNvPr id="23" name="순서도: 자기 디스크 22">
              <a:extLst>
                <a:ext uri="{FF2B5EF4-FFF2-40B4-BE49-F238E27FC236}">
                  <a16:creationId xmlns:a16="http://schemas.microsoft.com/office/drawing/2014/main" id="{05C63A6F-CAFE-8A0E-1B84-B71A28821243}"/>
                </a:ext>
              </a:extLst>
            </p:cNvPr>
            <p:cNvSpPr/>
            <p:nvPr/>
          </p:nvSpPr>
          <p:spPr>
            <a:xfrm>
              <a:off x="4986172" y="1239244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순서도: 자기 디스크 23">
              <a:extLst>
                <a:ext uri="{FF2B5EF4-FFF2-40B4-BE49-F238E27FC236}">
                  <a16:creationId xmlns:a16="http://schemas.microsoft.com/office/drawing/2014/main" id="{AC30A2EB-4810-80FC-6153-C836D8F2E040}"/>
                </a:ext>
              </a:extLst>
            </p:cNvPr>
            <p:cNvSpPr/>
            <p:nvPr/>
          </p:nvSpPr>
          <p:spPr>
            <a:xfrm>
              <a:off x="5027735" y="3976273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99A99804-EDC9-8710-7C6E-201618E99002}"/>
                </a:ext>
              </a:extLst>
            </p:cNvPr>
            <p:cNvCxnSpPr>
              <a:cxnSpLocks/>
              <a:stCxn id="23" idx="3"/>
              <a:endCxn id="51" idx="0"/>
            </p:cNvCxnSpPr>
            <p:nvPr/>
          </p:nvCxnSpPr>
          <p:spPr>
            <a:xfrm>
              <a:off x="5541086" y="1965865"/>
              <a:ext cx="0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순서도: 자기 디스크 19">
              <a:extLst>
                <a:ext uri="{FF2B5EF4-FFF2-40B4-BE49-F238E27FC236}">
                  <a16:creationId xmlns:a16="http://schemas.microsoft.com/office/drawing/2014/main" id="{418131C9-C0D0-A4AD-EBE2-C419BDBB382E}"/>
                </a:ext>
              </a:extLst>
            </p:cNvPr>
            <p:cNvSpPr/>
            <p:nvPr/>
          </p:nvSpPr>
          <p:spPr>
            <a:xfrm>
              <a:off x="6477647" y="1237514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순서도: 자기 디스크 20">
              <a:extLst>
                <a:ext uri="{FF2B5EF4-FFF2-40B4-BE49-F238E27FC236}">
                  <a16:creationId xmlns:a16="http://schemas.microsoft.com/office/drawing/2014/main" id="{B1ABC086-7F1D-7B04-317D-8165344C0617}"/>
                </a:ext>
              </a:extLst>
            </p:cNvPr>
            <p:cNvSpPr/>
            <p:nvPr/>
          </p:nvSpPr>
          <p:spPr>
            <a:xfrm>
              <a:off x="6529677" y="3942722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E4B838D-2747-43CD-A8CD-2966730662CA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 flipH="1">
              <a:off x="6477647" y="1964135"/>
              <a:ext cx="554914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순서도: 자기 디스크 16">
              <a:extLst>
                <a:ext uri="{FF2B5EF4-FFF2-40B4-BE49-F238E27FC236}">
                  <a16:creationId xmlns:a16="http://schemas.microsoft.com/office/drawing/2014/main" id="{BD3BFA99-8285-7198-D9BC-6B100FEEEA53}"/>
                </a:ext>
              </a:extLst>
            </p:cNvPr>
            <p:cNvSpPr/>
            <p:nvPr/>
          </p:nvSpPr>
          <p:spPr>
            <a:xfrm>
              <a:off x="3444318" y="1240109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순서도: 자기 디스크 17">
              <a:extLst>
                <a:ext uri="{FF2B5EF4-FFF2-40B4-BE49-F238E27FC236}">
                  <a16:creationId xmlns:a16="http://schemas.microsoft.com/office/drawing/2014/main" id="{8A7045F7-4DE4-7088-983A-D4A674678AFE}"/>
                </a:ext>
              </a:extLst>
            </p:cNvPr>
            <p:cNvSpPr/>
            <p:nvPr/>
          </p:nvSpPr>
          <p:spPr>
            <a:xfrm>
              <a:off x="3442669" y="3976273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373D476-22DF-13F8-B079-C837624D4E37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3999232" y="1966730"/>
              <a:ext cx="680100" cy="5832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E997E8CA-72F7-B8E8-D3C2-79D63D0AA8F8}"/>
                </a:ext>
              </a:extLst>
            </p:cNvPr>
            <p:cNvSpPr/>
            <p:nvPr/>
          </p:nvSpPr>
          <p:spPr>
            <a:xfrm>
              <a:off x="4222204" y="2551664"/>
              <a:ext cx="2637764" cy="9023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solidFill>
                    <a:schemeClr val="tx1"/>
                  </a:solidFill>
                </a:rPr>
                <a:t>Kafka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6A252EF8-F211-E096-CC89-ED8E6FD10A11}"/>
                </a:ext>
              </a:extLst>
            </p:cNvPr>
            <p:cNvCxnSpPr>
              <a:cxnSpLocks/>
            </p:cNvCxnSpPr>
            <p:nvPr/>
          </p:nvCxnSpPr>
          <p:spPr>
            <a:xfrm>
              <a:off x="5582649" y="3461656"/>
              <a:ext cx="0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716B547A-174C-1287-6A5B-F789EF549FAD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6359979" y="3454060"/>
              <a:ext cx="724612" cy="4886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4B176626-9186-7BAB-400A-C614AA24E142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 flipH="1">
              <a:off x="3997583" y="3441530"/>
              <a:ext cx="777886" cy="53474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D4C9E96-CBE6-39AB-E5A4-1C0D8F22EB5A}"/>
              </a:ext>
            </a:extLst>
          </p:cNvPr>
          <p:cNvSpPr txBox="1">
            <a:spLocks/>
          </p:cNvSpPr>
          <p:nvPr/>
        </p:nvSpPr>
        <p:spPr>
          <a:xfrm>
            <a:off x="510639" y="4845117"/>
            <a:ext cx="11253849" cy="13318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특징</a:t>
            </a:r>
            <a:endParaRPr lang="en-US" altLang="ko-KR" dirty="0"/>
          </a:p>
          <a:p>
            <a:r>
              <a:rPr lang="ko-KR" altLang="en-US" dirty="0"/>
              <a:t>데이터의 흐름을 중앙에서 관리하는 </a:t>
            </a:r>
            <a:r>
              <a:rPr lang="en-US" altLang="ko-KR" dirty="0" err="1"/>
              <a:t>kafka</a:t>
            </a:r>
            <a:r>
              <a:rPr lang="ko-KR" altLang="en-US" dirty="0"/>
              <a:t>가 탄생함</a:t>
            </a:r>
            <a:endParaRPr lang="en-US" altLang="ko-KR" dirty="0"/>
          </a:p>
          <a:p>
            <a:r>
              <a:rPr lang="ko-KR" altLang="en-US" dirty="0"/>
              <a:t>한쪽의 장애가 발생해도 </a:t>
            </a:r>
            <a:r>
              <a:rPr lang="en-US" altLang="ko-KR" dirty="0" err="1"/>
              <a:t>kafka</a:t>
            </a:r>
            <a:r>
              <a:rPr lang="ko-KR" altLang="en-US" dirty="0"/>
              <a:t>로 장애를 유연하게 처리가능</a:t>
            </a:r>
            <a:endParaRPr lang="en-US" altLang="ko-KR" dirty="0"/>
          </a:p>
          <a:p>
            <a:r>
              <a:rPr lang="ko-KR" altLang="en-US" dirty="0"/>
              <a:t>동일한 데이터를 여러 서비스에 전달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06338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AA9F7-66D8-2B21-E08C-6C71C62F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382A34-8AB3-D292-FFB4-F3C54A031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탄생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89D15-7E3D-0859-1067-6B6CCEFCB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B94599E-FD44-A227-0198-ABD08B18D60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6FD2D0D-FCA5-6162-23B5-44E206CDE6E0}"/>
              </a:ext>
            </a:extLst>
          </p:cNvPr>
          <p:cNvGrpSpPr/>
          <p:nvPr/>
        </p:nvGrpSpPr>
        <p:grpSpPr>
          <a:xfrm>
            <a:off x="3442669" y="1237514"/>
            <a:ext cx="4196836" cy="3465380"/>
            <a:chOff x="3442669" y="1237514"/>
            <a:chExt cx="4196836" cy="3465380"/>
          </a:xfrm>
        </p:grpSpPr>
        <p:sp>
          <p:nvSpPr>
            <p:cNvPr id="23" name="순서도: 자기 디스크 22">
              <a:extLst>
                <a:ext uri="{FF2B5EF4-FFF2-40B4-BE49-F238E27FC236}">
                  <a16:creationId xmlns:a16="http://schemas.microsoft.com/office/drawing/2014/main" id="{FA595927-A90A-8728-3D67-2B6E5539A876}"/>
                </a:ext>
              </a:extLst>
            </p:cNvPr>
            <p:cNvSpPr/>
            <p:nvPr/>
          </p:nvSpPr>
          <p:spPr>
            <a:xfrm>
              <a:off x="4986172" y="1239244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순서도: 자기 디스크 23">
              <a:extLst>
                <a:ext uri="{FF2B5EF4-FFF2-40B4-BE49-F238E27FC236}">
                  <a16:creationId xmlns:a16="http://schemas.microsoft.com/office/drawing/2014/main" id="{53B7B194-A5FC-1012-72D3-AF8D3ED7C7BB}"/>
                </a:ext>
              </a:extLst>
            </p:cNvPr>
            <p:cNvSpPr/>
            <p:nvPr/>
          </p:nvSpPr>
          <p:spPr>
            <a:xfrm>
              <a:off x="5027735" y="3976273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B0FD210E-4D6C-EAFC-2F85-EEB73B903CE3}"/>
                </a:ext>
              </a:extLst>
            </p:cNvPr>
            <p:cNvCxnSpPr>
              <a:cxnSpLocks/>
              <a:stCxn id="23" idx="3"/>
              <a:endCxn id="51" idx="0"/>
            </p:cNvCxnSpPr>
            <p:nvPr/>
          </p:nvCxnSpPr>
          <p:spPr>
            <a:xfrm>
              <a:off x="5541086" y="1965865"/>
              <a:ext cx="0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순서도: 자기 디스크 19">
              <a:extLst>
                <a:ext uri="{FF2B5EF4-FFF2-40B4-BE49-F238E27FC236}">
                  <a16:creationId xmlns:a16="http://schemas.microsoft.com/office/drawing/2014/main" id="{7B3B8853-3E02-0FC5-C676-2CF1272F1C86}"/>
                </a:ext>
              </a:extLst>
            </p:cNvPr>
            <p:cNvSpPr/>
            <p:nvPr/>
          </p:nvSpPr>
          <p:spPr>
            <a:xfrm>
              <a:off x="6477647" y="1237514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순서도: 자기 디스크 20">
              <a:extLst>
                <a:ext uri="{FF2B5EF4-FFF2-40B4-BE49-F238E27FC236}">
                  <a16:creationId xmlns:a16="http://schemas.microsoft.com/office/drawing/2014/main" id="{5AA2307B-E714-CF31-3B94-54BC74C9D43C}"/>
                </a:ext>
              </a:extLst>
            </p:cNvPr>
            <p:cNvSpPr/>
            <p:nvPr/>
          </p:nvSpPr>
          <p:spPr>
            <a:xfrm>
              <a:off x="6529677" y="3942722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4FFA521B-0B69-900F-1633-BB8245D7BF10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 flipH="1">
              <a:off x="6477647" y="1964135"/>
              <a:ext cx="554914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순서도: 자기 디스크 16">
              <a:extLst>
                <a:ext uri="{FF2B5EF4-FFF2-40B4-BE49-F238E27FC236}">
                  <a16:creationId xmlns:a16="http://schemas.microsoft.com/office/drawing/2014/main" id="{48783539-FB7A-0E87-9B17-7223CC8F91EC}"/>
                </a:ext>
              </a:extLst>
            </p:cNvPr>
            <p:cNvSpPr/>
            <p:nvPr/>
          </p:nvSpPr>
          <p:spPr>
            <a:xfrm>
              <a:off x="3444318" y="1240109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순서도: 자기 디스크 17">
              <a:extLst>
                <a:ext uri="{FF2B5EF4-FFF2-40B4-BE49-F238E27FC236}">
                  <a16:creationId xmlns:a16="http://schemas.microsoft.com/office/drawing/2014/main" id="{5BB50BBE-6987-722D-9081-ED964E2AA510}"/>
                </a:ext>
              </a:extLst>
            </p:cNvPr>
            <p:cNvSpPr/>
            <p:nvPr/>
          </p:nvSpPr>
          <p:spPr>
            <a:xfrm>
              <a:off x="3442669" y="3976273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16BEEA0A-8D27-FDD0-C908-F767F8C2D5B7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3999232" y="1966730"/>
              <a:ext cx="680100" cy="5832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D8BD8749-2CBD-8B2C-9E45-A2222181BCE0}"/>
                </a:ext>
              </a:extLst>
            </p:cNvPr>
            <p:cNvSpPr/>
            <p:nvPr/>
          </p:nvSpPr>
          <p:spPr>
            <a:xfrm>
              <a:off x="4222204" y="2551664"/>
              <a:ext cx="2637764" cy="9023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solidFill>
                    <a:schemeClr val="tx1"/>
                  </a:solidFill>
                </a:rPr>
                <a:t>Kafka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070FBA14-F530-F138-B54A-64955403F032}"/>
                </a:ext>
              </a:extLst>
            </p:cNvPr>
            <p:cNvCxnSpPr>
              <a:cxnSpLocks/>
            </p:cNvCxnSpPr>
            <p:nvPr/>
          </p:nvCxnSpPr>
          <p:spPr>
            <a:xfrm>
              <a:off x="5582649" y="3461656"/>
              <a:ext cx="0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2053B9FB-26D7-157F-5604-7F683253F3DC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6359979" y="3454060"/>
              <a:ext cx="724612" cy="4886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id="{11236499-12C2-A454-53E1-E25230A3DC87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 flipH="1">
              <a:off x="3997583" y="3441530"/>
              <a:ext cx="777886" cy="53474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4610DEC-4B63-EC67-18E5-7441A76DD83A}"/>
              </a:ext>
            </a:extLst>
          </p:cNvPr>
          <p:cNvSpPr txBox="1">
            <a:spLocks/>
          </p:cNvSpPr>
          <p:nvPr/>
        </p:nvSpPr>
        <p:spPr>
          <a:xfrm>
            <a:off x="510639" y="4790679"/>
            <a:ext cx="11253849" cy="13862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b="1" dirty="0"/>
              <a:t>특징</a:t>
            </a:r>
            <a:endParaRPr lang="en-US" altLang="ko-KR" b="1" dirty="0"/>
          </a:p>
          <a:p>
            <a:r>
              <a:rPr lang="ko-KR" altLang="en-US" dirty="0"/>
              <a:t>높은 처리량 </a:t>
            </a:r>
            <a:r>
              <a:rPr lang="en-US" altLang="ko-KR" dirty="0"/>
              <a:t>: </a:t>
            </a:r>
            <a:r>
              <a:rPr lang="ko-KR" altLang="en-US" dirty="0"/>
              <a:t>배치로 데이터를 처리</a:t>
            </a:r>
            <a:r>
              <a:rPr lang="en-US" altLang="ko-KR" dirty="0"/>
              <a:t>(</a:t>
            </a:r>
            <a:r>
              <a:rPr lang="ko-KR" altLang="en-US" dirty="0"/>
              <a:t>묶음</a:t>
            </a:r>
            <a:r>
              <a:rPr lang="en-US" altLang="ko-KR" dirty="0"/>
              <a:t> </a:t>
            </a:r>
            <a:r>
              <a:rPr lang="ko-KR" altLang="en-US" dirty="0"/>
              <a:t>단위</a:t>
            </a:r>
            <a:r>
              <a:rPr lang="en-US" altLang="ko-KR" dirty="0"/>
              <a:t>), </a:t>
            </a:r>
            <a:r>
              <a:rPr lang="ko-KR" altLang="en-US" dirty="0"/>
              <a:t>파티션단위로 병렬 처리</a:t>
            </a:r>
            <a:endParaRPr lang="en-US" altLang="ko-KR" dirty="0"/>
          </a:p>
          <a:p>
            <a:r>
              <a:rPr lang="ko-KR" altLang="en-US" dirty="0"/>
              <a:t>확장성 </a:t>
            </a:r>
            <a:r>
              <a:rPr lang="en-US" altLang="ko-KR" dirty="0"/>
              <a:t>: </a:t>
            </a:r>
            <a:r>
              <a:rPr lang="ko-KR" altLang="en-US" dirty="0"/>
              <a:t>필요한 만큼만 서버</a:t>
            </a:r>
            <a:r>
              <a:rPr lang="en-US" altLang="ko-KR" dirty="0"/>
              <a:t>(</a:t>
            </a:r>
            <a:r>
              <a:rPr lang="ko-KR" altLang="en-US" dirty="0"/>
              <a:t>브로커</a:t>
            </a:r>
            <a:r>
              <a:rPr lang="en-US" altLang="ko-KR" dirty="0"/>
              <a:t>)</a:t>
            </a:r>
            <a:r>
              <a:rPr lang="ko-KR" altLang="en-US" dirty="0"/>
              <a:t>를 확장</a:t>
            </a:r>
            <a:r>
              <a:rPr lang="en-US" altLang="ko-KR" dirty="0"/>
              <a:t>, </a:t>
            </a:r>
            <a:r>
              <a:rPr lang="ko-KR" altLang="en-US" dirty="0"/>
              <a:t>축소 가능</a:t>
            </a:r>
            <a:endParaRPr lang="en-US" altLang="ko-KR" dirty="0"/>
          </a:p>
          <a:p>
            <a:r>
              <a:rPr lang="ko-KR" altLang="en-US" dirty="0"/>
              <a:t>영속성 </a:t>
            </a:r>
            <a:r>
              <a:rPr lang="en-US" altLang="ko-KR" dirty="0"/>
              <a:t>: </a:t>
            </a:r>
            <a:r>
              <a:rPr lang="ko-KR" altLang="en-US" dirty="0"/>
              <a:t>파일시스템</a:t>
            </a:r>
            <a:r>
              <a:rPr lang="en-US" altLang="ko-KR" dirty="0"/>
              <a:t>(</a:t>
            </a:r>
            <a:r>
              <a:rPr lang="ko-KR" altLang="en-US" dirty="0"/>
              <a:t>디스크</a:t>
            </a:r>
            <a:r>
              <a:rPr lang="en-US" altLang="ko-KR" dirty="0"/>
              <a:t>)</a:t>
            </a:r>
            <a:r>
              <a:rPr lang="ko-KR" altLang="en-US" dirty="0"/>
              <a:t>에 데이터를 저장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462780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43D82-3711-8228-A9A2-1B4A3475D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Kafka </a:t>
            </a:r>
            <a:r>
              <a:rPr lang="ko-KR" altLang="en-US" dirty="0"/>
              <a:t>기본개념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4731B9-F707-5B07-11CF-DB604D76D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Pub/Sub </a:t>
            </a:r>
            <a:r>
              <a:rPr lang="ko-KR" altLang="en-US" dirty="0"/>
              <a:t>모델</a:t>
            </a:r>
            <a:endParaRPr lang="en-US" altLang="ko-KR" dirty="0"/>
          </a:p>
          <a:p>
            <a:r>
              <a:rPr lang="en-US" altLang="ko-KR" dirty="0"/>
              <a:t>Message Queue</a:t>
            </a:r>
          </a:p>
          <a:p>
            <a:r>
              <a:rPr lang="en-US" altLang="ko-KR" dirty="0"/>
              <a:t>Zookeeper</a:t>
            </a:r>
          </a:p>
          <a:p>
            <a:r>
              <a:rPr lang="en-US" altLang="ko-KR" dirty="0"/>
              <a:t>Broker</a:t>
            </a:r>
          </a:p>
          <a:p>
            <a:r>
              <a:rPr lang="en-US" altLang="ko-KR" dirty="0"/>
              <a:t>Topic</a:t>
            </a:r>
          </a:p>
          <a:p>
            <a:r>
              <a:rPr lang="en-US" altLang="ko-KR" dirty="0"/>
              <a:t>Partition</a:t>
            </a:r>
          </a:p>
          <a:p>
            <a:r>
              <a:rPr lang="en-US" altLang="ko-KR" dirty="0"/>
              <a:t>Offset</a:t>
            </a:r>
          </a:p>
          <a:p>
            <a:r>
              <a:rPr lang="ko-KR" altLang="en-US" dirty="0" err="1"/>
              <a:t>컨슈머</a:t>
            </a:r>
            <a:r>
              <a:rPr lang="ko-KR" altLang="en-US" dirty="0"/>
              <a:t> 그룹 </a:t>
            </a:r>
            <a:r>
              <a:rPr lang="ko-KR" altLang="en-US" dirty="0" err="1"/>
              <a:t>리밸런싱</a:t>
            </a:r>
            <a:endParaRPr lang="en-US" altLang="ko-KR" dirty="0"/>
          </a:p>
          <a:p>
            <a:r>
              <a:rPr lang="en-US" altLang="ko-KR" dirty="0"/>
              <a:t>Broker Partition Replication</a:t>
            </a:r>
          </a:p>
          <a:p>
            <a:r>
              <a:rPr lang="en-US" altLang="ko-KR" dirty="0"/>
              <a:t>ISR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001704-E9E9-BD89-EF9B-6776365F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1E25F5A-CE82-3250-3677-EACDFBEF51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BA532A9-72BA-6081-0B78-934BE0C23283}"/>
              </a:ext>
            </a:extLst>
          </p:cNvPr>
          <p:cNvGrpSpPr/>
          <p:nvPr/>
        </p:nvGrpSpPr>
        <p:grpSpPr>
          <a:xfrm>
            <a:off x="3567972" y="2324806"/>
            <a:ext cx="7602670" cy="2643527"/>
            <a:chOff x="1544714" y="2789751"/>
            <a:chExt cx="7988913" cy="298759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ECA7A75-8235-3A4C-B9A9-9669A71D9FBE}"/>
                </a:ext>
              </a:extLst>
            </p:cNvPr>
            <p:cNvGrpSpPr/>
            <p:nvPr/>
          </p:nvGrpSpPr>
          <p:grpSpPr>
            <a:xfrm>
              <a:off x="1544714" y="2789751"/>
              <a:ext cx="7988913" cy="2987594"/>
              <a:chOff x="2595354" y="3007570"/>
              <a:chExt cx="7541955" cy="2421383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CAA060D6-E9A7-4CF0-CE4B-1A51045431D2}"/>
                  </a:ext>
                </a:extLst>
              </p:cNvPr>
              <p:cNvGrpSpPr/>
              <p:nvPr/>
            </p:nvGrpSpPr>
            <p:grpSpPr>
              <a:xfrm>
                <a:off x="4464817" y="3007570"/>
                <a:ext cx="3930283" cy="2421383"/>
                <a:chOff x="6429958" y="2586144"/>
                <a:chExt cx="5128768" cy="3264239"/>
              </a:xfrm>
            </p:grpSpPr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352C01D4-6B9B-3E1D-4F06-092160548877}"/>
                    </a:ext>
                  </a:extLst>
                </p:cNvPr>
                <p:cNvSpPr/>
                <p:nvPr/>
              </p:nvSpPr>
              <p:spPr>
                <a:xfrm>
                  <a:off x="6429958" y="2586144"/>
                  <a:ext cx="5128768" cy="326423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Broker</a:t>
                  </a: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1F43DBA8-C552-8902-91B5-03B92A42A7FD}"/>
                    </a:ext>
                  </a:extLst>
                </p:cNvPr>
                <p:cNvSpPr/>
                <p:nvPr/>
              </p:nvSpPr>
              <p:spPr>
                <a:xfrm>
                  <a:off x="6779769" y="3243296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82329812-E437-1581-8A3E-34A5E7CA3C0E}"/>
                    </a:ext>
                  </a:extLst>
                </p:cNvPr>
                <p:cNvSpPr/>
                <p:nvPr/>
              </p:nvSpPr>
              <p:spPr>
                <a:xfrm>
                  <a:off x="8404804" y="3243295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2D1AC46B-3F4C-69AB-95FC-F166BF13AA08}"/>
                    </a:ext>
                  </a:extLst>
                </p:cNvPr>
                <p:cNvSpPr/>
                <p:nvPr/>
              </p:nvSpPr>
              <p:spPr>
                <a:xfrm>
                  <a:off x="10098757" y="3236633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7" name="순서도: 자기 디스크 36">
                <a:extLst>
                  <a:ext uri="{FF2B5EF4-FFF2-40B4-BE49-F238E27FC236}">
                    <a16:creationId xmlns:a16="http://schemas.microsoft.com/office/drawing/2014/main" id="{1BCE47A9-1C31-572B-CB8F-DA00BF9C3DF2}"/>
                  </a:ext>
                </a:extLst>
              </p:cNvPr>
              <p:cNvSpPr/>
              <p:nvPr/>
            </p:nvSpPr>
            <p:spPr>
              <a:xfrm>
                <a:off x="2595354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순서도: 자기 디스크 37">
                <a:extLst>
                  <a:ext uri="{FF2B5EF4-FFF2-40B4-BE49-F238E27FC236}">
                    <a16:creationId xmlns:a16="http://schemas.microsoft.com/office/drawing/2014/main" id="{4A8A5EBF-2246-CC05-8703-7D1837C136B8}"/>
                  </a:ext>
                </a:extLst>
              </p:cNvPr>
              <p:cNvSpPr/>
              <p:nvPr/>
            </p:nvSpPr>
            <p:spPr>
              <a:xfrm>
                <a:off x="9055983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E3A06077-7D58-5A9F-4C57-60EEC426BC13}"/>
                  </a:ext>
                </a:extLst>
              </p:cNvPr>
              <p:cNvCxnSpPr>
                <a:cxnSpLocks/>
                <a:stCxn id="37" idx="4"/>
                <a:endCxn id="41" idx="1"/>
              </p:cNvCxnSpPr>
              <p:nvPr/>
            </p:nvCxnSpPr>
            <p:spPr>
              <a:xfrm>
                <a:off x="3676680" y="4218262"/>
                <a:ext cx="7881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98E7354C-FC9C-5789-331C-0193F706E640}"/>
                  </a:ext>
                </a:extLst>
              </p:cNvPr>
              <p:cNvCxnSpPr>
                <a:cxnSpLocks/>
                <a:stCxn id="41" idx="3"/>
                <a:endCxn id="38" idx="2"/>
              </p:cNvCxnSpPr>
              <p:nvPr/>
            </p:nvCxnSpPr>
            <p:spPr>
              <a:xfrm>
                <a:off x="8395100" y="4218262"/>
                <a:ext cx="66088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64BBFE5-9EA1-00AC-26D5-F806D80E91C7}"/>
                </a:ext>
              </a:extLst>
            </p:cNvPr>
            <p:cNvSpPr/>
            <p:nvPr/>
          </p:nvSpPr>
          <p:spPr>
            <a:xfrm>
              <a:off x="3906589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4166F49-4C07-353B-7A1F-5CA110266B9A}"/>
                </a:ext>
              </a:extLst>
            </p:cNvPr>
            <p:cNvSpPr/>
            <p:nvPr/>
          </p:nvSpPr>
          <p:spPr>
            <a:xfrm>
              <a:off x="4360685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BEFC4BE-A991-91A6-6446-EA07287D9C46}"/>
                </a:ext>
              </a:extLst>
            </p:cNvPr>
            <p:cNvSpPr/>
            <p:nvPr/>
          </p:nvSpPr>
          <p:spPr>
            <a:xfrm>
              <a:off x="3906589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44CD766-F3E5-CF8B-5C30-2D7BD83D9B1B}"/>
                </a:ext>
              </a:extLst>
            </p:cNvPr>
            <p:cNvSpPr/>
            <p:nvPr/>
          </p:nvSpPr>
          <p:spPr>
            <a:xfrm>
              <a:off x="4354266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900982B-EB3C-E973-1B17-00476C1A2D65}"/>
                </a:ext>
              </a:extLst>
            </p:cNvPr>
            <p:cNvSpPr/>
            <p:nvPr/>
          </p:nvSpPr>
          <p:spPr>
            <a:xfrm>
              <a:off x="3906589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ACD9E95-067F-16AE-2746-AA39470521BE}"/>
                </a:ext>
              </a:extLst>
            </p:cNvPr>
            <p:cNvSpPr/>
            <p:nvPr/>
          </p:nvSpPr>
          <p:spPr>
            <a:xfrm>
              <a:off x="4360685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DDA0617-585F-7CDA-A301-117EE75FD09E}"/>
                </a:ext>
              </a:extLst>
            </p:cNvPr>
            <p:cNvSpPr/>
            <p:nvPr/>
          </p:nvSpPr>
          <p:spPr>
            <a:xfrm>
              <a:off x="3906589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7608BB6-8DC5-AB12-5918-C7D49F893BE5}"/>
                </a:ext>
              </a:extLst>
            </p:cNvPr>
            <p:cNvSpPr/>
            <p:nvPr/>
          </p:nvSpPr>
          <p:spPr>
            <a:xfrm>
              <a:off x="4354266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76DD254-0EE5-7656-632B-0580E2F74AF4}"/>
                </a:ext>
              </a:extLst>
            </p:cNvPr>
            <p:cNvSpPr/>
            <p:nvPr/>
          </p:nvSpPr>
          <p:spPr>
            <a:xfrm>
              <a:off x="5256773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DECB211-94B0-4961-AAD8-8F20B7206B66}"/>
                </a:ext>
              </a:extLst>
            </p:cNvPr>
            <p:cNvSpPr/>
            <p:nvPr/>
          </p:nvSpPr>
          <p:spPr>
            <a:xfrm>
              <a:off x="5710869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37FB2EE-4CF2-AFDC-88D3-16FE1E3A31B1}"/>
                </a:ext>
              </a:extLst>
            </p:cNvPr>
            <p:cNvSpPr/>
            <p:nvPr/>
          </p:nvSpPr>
          <p:spPr>
            <a:xfrm>
              <a:off x="5256773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1116AEB-808B-DE14-203C-A4ECB5465486}"/>
                </a:ext>
              </a:extLst>
            </p:cNvPr>
            <p:cNvSpPr/>
            <p:nvPr/>
          </p:nvSpPr>
          <p:spPr>
            <a:xfrm>
              <a:off x="5704450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8DA1AC34-F393-0F7D-5D1C-65C8978D4005}"/>
                </a:ext>
              </a:extLst>
            </p:cNvPr>
            <p:cNvSpPr/>
            <p:nvPr/>
          </p:nvSpPr>
          <p:spPr>
            <a:xfrm>
              <a:off x="5256773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6804103-F514-D9BF-550D-E70CC195CB84}"/>
                </a:ext>
              </a:extLst>
            </p:cNvPr>
            <p:cNvSpPr/>
            <p:nvPr/>
          </p:nvSpPr>
          <p:spPr>
            <a:xfrm>
              <a:off x="5710869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FF4A0E4-61EE-C87B-CD06-CA73CBEC8469}"/>
                </a:ext>
              </a:extLst>
            </p:cNvPr>
            <p:cNvSpPr/>
            <p:nvPr/>
          </p:nvSpPr>
          <p:spPr>
            <a:xfrm>
              <a:off x="5256773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F43D48D-B236-3EF4-0FC0-CABF5182B6E3}"/>
                </a:ext>
              </a:extLst>
            </p:cNvPr>
            <p:cNvSpPr/>
            <p:nvPr/>
          </p:nvSpPr>
          <p:spPr>
            <a:xfrm>
              <a:off x="5704450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15487F5-4E55-6D74-E98D-090379E20528}"/>
                </a:ext>
              </a:extLst>
            </p:cNvPr>
            <p:cNvSpPr/>
            <p:nvPr/>
          </p:nvSpPr>
          <p:spPr>
            <a:xfrm>
              <a:off x="6655300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A2CA2A7-0AA9-AD32-EFF8-0E2EFD2EA682}"/>
                </a:ext>
              </a:extLst>
            </p:cNvPr>
            <p:cNvSpPr/>
            <p:nvPr/>
          </p:nvSpPr>
          <p:spPr>
            <a:xfrm>
              <a:off x="7109396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5EE5363-7830-80B4-7858-800705C19EC3}"/>
                </a:ext>
              </a:extLst>
            </p:cNvPr>
            <p:cNvSpPr/>
            <p:nvPr/>
          </p:nvSpPr>
          <p:spPr>
            <a:xfrm>
              <a:off x="6655300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675600C-9361-790D-B27F-EE15453C1BE3}"/>
                </a:ext>
              </a:extLst>
            </p:cNvPr>
            <p:cNvSpPr/>
            <p:nvPr/>
          </p:nvSpPr>
          <p:spPr>
            <a:xfrm>
              <a:off x="7102977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C8C0747-541E-A5B5-0B32-ECF21976B31B}"/>
                </a:ext>
              </a:extLst>
            </p:cNvPr>
            <p:cNvSpPr/>
            <p:nvPr/>
          </p:nvSpPr>
          <p:spPr>
            <a:xfrm>
              <a:off x="6655300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223A8DF9-EE0B-8D0F-7B60-725CB4427986}"/>
                </a:ext>
              </a:extLst>
            </p:cNvPr>
            <p:cNvSpPr/>
            <p:nvPr/>
          </p:nvSpPr>
          <p:spPr>
            <a:xfrm>
              <a:off x="7109396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E23BB15-2F24-A979-F3D0-A4B931433DF3}"/>
                </a:ext>
              </a:extLst>
            </p:cNvPr>
            <p:cNvSpPr/>
            <p:nvPr/>
          </p:nvSpPr>
          <p:spPr>
            <a:xfrm>
              <a:off x="6655300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19B1853-A98B-D66F-FBD3-E5C4AAECC809}"/>
                </a:ext>
              </a:extLst>
            </p:cNvPr>
            <p:cNvSpPr/>
            <p:nvPr/>
          </p:nvSpPr>
          <p:spPr>
            <a:xfrm>
              <a:off x="7102977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8453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481AF-DD03-3E59-61F3-D83DF5C59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Pub/Sub </a:t>
            </a:r>
            <a:r>
              <a:rPr lang="ko-KR" altLang="en-US" dirty="0"/>
              <a:t>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3F905A-9D2B-5B15-743F-910993057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Kafka</a:t>
            </a:r>
            <a:r>
              <a:rPr lang="ko-KR" altLang="en-US" dirty="0"/>
              <a:t>는 </a:t>
            </a:r>
            <a:r>
              <a:rPr lang="en-US" altLang="ko-KR" dirty="0"/>
              <a:t>Publisher(</a:t>
            </a:r>
            <a:r>
              <a:rPr lang="ko-KR" altLang="en-US" dirty="0"/>
              <a:t>발행자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Subscriber(</a:t>
            </a:r>
            <a:r>
              <a:rPr lang="ko-KR" altLang="en-US" dirty="0"/>
              <a:t>구독자</a:t>
            </a:r>
            <a:r>
              <a:rPr lang="en-US" altLang="ko-KR" dirty="0"/>
              <a:t>) Channel(Broker)</a:t>
            </a:r>
            <a:r>
              <a:rPr lang="ko-KR" altLang="en-US" dirty="0"/>
              <a:t>의 구조인 </a:t>
            </a:r>
            <a:r>
              <a:rPr lang="en-US" altLang="ko-KR" dirty="0"/>
              <a:t>Pub/Sub </a:t>
            </a:r>
            <a:r>
              <a:rPr lang="ko-KR" altLang="en-US" dirty="0"/>
              <a:t>모델</a:t>
            </a:r>
            <a:endParaRPr lang="en-US" altLang="ko-KR" dirty="0"/>
          </a:p>
          <a:p>
            <a:r>
              <a:rPr lang="ko-KR" altLang="en-US" dirty="0"/>
              <a:t>데이터를 주고받는 구조로 </a:t>
            </a:r>
            <a:r>
              <a:rPr lang="en-US" altLang="ko-KR" dirty="0"/>
              <a:t>Publisher</a:t>
            </a:r>
            <a:r>
              <a:rPr lang="ko-KR" altLang="en-US" dirty="0"/>
              <a:t>와 </a:t>
            </a:r>
            <a:r>
              <a:rPr lang="en-US" altLang="ko-KR" dirty="0"/>
              <a:t>Subscriber </a:t>
            </a:r>
            <a:r>
              <a:rPr lang="ko-KR" altLang="en-US" dirty="0"/>
              <a:t>사이에서 데이터 흐름을 관리</a:t>
            </a:r>
            <a:endParaRPr lang="en-US" altLang="ko-KR" dirty="0"/>
          </a:p>
          <a:p>
            <a:r>
              <a:rPr lang="en-US" altLang="ko-KR" dirty="0"/>
              <a:t>Pub</a:t>
            </a:r>
            <a:r>
              <a:rPr lang="ko-KR" altLang="en-US" dirty="0"/>
              <a:t>는 이벤트</a:t>
            </a:r>
            <a:r>
              <a:rPr lang="en-US" altLang="ko-KR" dirty="0"/>
              <a:t>(</a:t>
            </a:r>
            <a:r>
              <a:rPr lang="ko-KR" altLang="en-US" dirty="0"/>
              <a:t>메시지</a:t>
            </a:r>
            <a:r>
              <a:rPr lang="en-US" altLang="ko-KR" dirty="0"/>
              <a:t>) </a:t>
            </a:r>
            <a:r>
              <a:rPr lang="ko-KR" altLang="en-US" dirty="0"/>
              <a:t>발행</a:t>
            </a:r>
            <a:r>
              <a:rPr lang="en-US" altLang="ko-KR" dirty="0"/>
              <a:t>, </a:t>
            </a:r>
            <a:r>
              <a:rPr lang="ko-KR" altLang="en-US" dirty="0"/>
              <a:t>구독자의 정보를 알 필요 없음</a:t>
            </a:r>
            <a:endParaRPr lang="en-US" altLang="ko-KR" dirty="0"/>
          </a:p>
          <a:p>
            <a:r>
              <a:rPr lang="en-US" altLang="ko-KR" dirty="0"/>
              <a:t>Sub</a:t>
            </a:r>
            <a:r>
              <a:rPr lang="ko-KR" altLang="en-US" dirty="0"/>
              <a:t>는 특정 </a:t>
            </a:r>
            <a:r>
              <a:rPr lang="en-US" altLang="ko-KR" dirty="0"/>
              <a:t>Topic</a:t>
            </a:r>
            <a:r>
              <a:rPr lang="ko-KR" altLang="en-US" dirty="0"/>
              <a:t>을 구독 및 수신함</a:t>
            </a:r>
            <a:r>
              <a:rPr lang="en-US" altLang="ko-KR" dirty="0"/>
              <a:t>, </a:t>
            </a:r>
            <a:r>
              <a:rPr lang="ko-KR" altLang="en-US" dirty="0"/>
              <a:t>발행자의 정보를 알 필요 없음</a:t>
            </a:r>
            <a:endParaRPr lang="en-US" altLang="ko-KR" dirty="0"/>
          </a:p>
          <a:p>
            <a:r>
              <a:rPr lang="en-US" altLang="ko-KR" dirty="0"/>
              <a:t>Channel</a:t>
            </a:r>
            <a:r>
              <a:rPr lang="ko-KR" altLang="en-US" dirty="0"/>
              <a:t>은 이벤트를 수신</a:t>
            </a:r>
            <a:r>
              <a:rPr lang="en-US" altLang="ko-KR" dirty="0"/>
              <a:t>, </a:t>
            </a:r>
            <a:r>
              <a:rPr lang="ko-KR" altLang="en-US" dirty="0"/>
              <a:t>전송함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970A59-5816-5814-6FF8-EFD7C36E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1293368-3893-3B3C-FDFD-35196BB087B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D2DCA6C-5D66-AB2F-990E-98CA242790BB}"/>
              </a:ext>
            </a:extLst>
          </p:cNvPr>
          <p:cNvGrpSpPr/>
          <p:nvPr/>
        </p:nvGrpSpPr>
        <p:grpSpPr>
          <a:xfrm>
            <a:off x="3798277" y="1116177"/>
            <a:ext cx="3645808" cy="2776796"/>
            <a:chOff x="3442669" y="1237514"/>
            <a:chExt cx="4196836" cy="3465380"/>
          </a:xfrm>
        </p:grpSpPr>
        <p:sp>
          <p:nvSpPr>
            <p:cNvPr id="7" name="순서도: 자기 디스크 6">
              <a:extLst>
                <a:ext uri="{FF2B5EF4-FFF2-40B4-BE49-F238E27FC236}">
                  <a16:creationId xmlns:a16="http://schemas.microsoft.com/office/drawing/2014/main" id="{62616418-7F04-40CF-4C83-1C1BBA317E80}"/>
                </a:ext>
              </a:extLst>
            </p:cNvPr>
            <p:cNvSpPr/>
            <p:nvPr/>
          </p:nvSpPr>
          <p:spPr>
            <a:xfrm>
              <a:off x="4986172" y="1239244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pub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순서도: 자기 디스크 7">
              <a:extLst>
                <a:ext uri="{FF2B5EF4-FFF2-40B4-BE49-F238E27FC236}">
                  <a16:creationId xmlns:a16="http://schemas.microsoft.com/office/drawing/2014/main" id="{48AFA193-597F-BCE8-9F2E-9334C298374E}"/>
                </a:ext>
              </a:extLst>
            </p:cNvPr>
            <p:cNvSpPr/>
            <p:nvPr/>
          </p:nvSpPr>
          <p:spPr>
            <a:xfrm>
              <a:off x="5027735" y="3976273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sub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2ABDAA2D-34B2-2CAA-89BD-8D6E5B02BFDC}"/>
                </a:ext>
              </a:extLst>
            </p:cNvPr>
            <p:cNvCxnSpPr>
              <a:cxnSpLocks/>
              <a:stCxn id="7" idx="3"/>
              <a:endCxn id="16" idx="0"/>
            </p:cNvCxnSpPr>
            <p:nvPr/>
          </p:nvCxnSpPr>
          <p:spPr>
            <a:xfrm>
              <a:off x="5541086" y="1965865"/>
              <a:ext cx="0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순서도: 자기 디스크 9">
              <a:extLst>
                <a:ext uri="{FF2B5EF4-FFF2-40B4-BE49-F238E27FC236}">
                  <a16:creationId xmlns:a16="http://schemas.microsoft.com/office/drawing/2014/main" id="{03A6B118-A45D-23F7-A9F4-60721C667026}"/>
                </a:ext>
              </a:extLst>
            </p:cNvPr>
            <p:cNvSpPr/>
            <p:nvPr/>
          </p:nvSpPr>
          <p:spPr>
            <a:xfrm>
              <a:off x="6477647" y="1237514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pub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순서도: 자기 디스크 10">
              <a:extLst>
                <a:ext uri="{FF2B5EF4-FFF2-40B4-BE49-F238E27FC236}">
                  <a16:creationId xmlns:a16="http://schemas.microsoft.com/office/drawing/2014/main" id="{7ACF76C6-A87A-5770-9996-C15DDEACF719}"/>
                </a:ext>
              </a:extLst>
            </p:cNvPr>
            <p:cNvSpPr/>
            <p:nvPr/>
          </p:nvSpPr>
          <p:spPr>
            <a:xfrm>
              <a:off x="6529677" y="3942722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sub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FBF00E37-1DC5-6DC5-26B2-2BCA00741B2F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H="1">
              <a:off x="6477647" y="1964135"/>
              <a:ext cx="554914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순서도: 자기 디스크 12">
              <a:extLst>
                <a:ext uri="{FF2B5EF4-FFF2-40B4-BE49-F238E27FC236}">
                  <a16:creationId xmlns:a16="http://schemas.microsoft.com/office/drawing/2014/main" id="{DE6B4152-45C7-AC25-31C5-C5D197C323B1}"/>
                </a:ext>
              </a:extLst>
            </p:cNvPr>
            <p:cNvSpPr/>
            <p:nvPr/>
          </p:nvSpPr>
          <p:spPr>
            <a:xfrm>
              <a:off x="3444318" y="1240109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pub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2CA32905-46A1-F1C3-F0D7-0CB16B54E7AC}"/>
                </a:ext>
              </a:extLst>
            </p:cNvPr>
            <p:cNvSpPr/>
            <p:nvPr/>
          </p:nvSpPr>
          <p:spPr>
            <a:xfrm>
              <a:off x="3442669" y="3976273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sub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F905ACE0-DEBD-6F01-8BF9-EF0F52FF4241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3999232" y="1966730"/>
              <a:ext cx="680100" cy="5832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0D95561A-B8A4-CFB2-519A-9C4D6657BFA5}"/>
                </a:ext>
              </a:extLst>
            </p:cNvPr>
            <p:cNvSpPr/>
            <p:nvPr/>
          </p:nvSpPr>
          <p:spPr>
            <a:xfrm>
              <a:off x="4222204" y="2551664"/>
              <a:ext cx="2637764" cy="9023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solidFill>
                    <a:schemeClr val="tx1"/>
                  </a:solidFill>
                </a:rPr>
                <a:t>Channel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EBB986FF-6451-991C-1B0D-DA0760912B2C}"/>
                </a:ext>
              </a:extLst>
            </p:cNvPr>
            <p:cNvCxnSpPr>
              <a:cxnSpLocks/>
            </p:cNvCxnSpPr>
            <p:nvPr/>
          </p:nvCxnSpPr>
          <p:spPr>
            <a:xfrm>
              <a:off x="5582649" y="3461656"/>
              <a:ext cx="0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53767555-A8F8-B139-DDF0-E98EA407AAA0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6359979" y="3454060"/>
              <a:ext cx="724612" cy="4886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65474582-6F39-B235-450A-54337BC3AA13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flipH="1">
              <a:off x="3997583" y="3441530"/>
              <a:ext cx="777886" cy="53474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9838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52B2F-443C-E7A9-98EB-4B9D5D0A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0A3D10-B64C-9FA9-427B-7BB721AC7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Pub/Sub </a:t>
            </a:r>
            <a:r>
              <a:rPr lang="ko-KR" altLang="en-US" dirty="0"/>
              <a:t>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6C60EA-5C26-3B87-1F21-892E40EDA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Kafka</a:t>
            </a:r>
            <a:r>
              <a:rPr lang="ko-KR" altLang="en-US" dirty="0"/>
              <a:t>는 </a:t>
            </a:r>
            <a:r>
              <a:rPr lang="en-US" altLang="ko-KR" dirty="0"/>
              <a:t>Publisher(</a:t>
            </a:r>
            <a:r>
              <a:rPr lang="ko-KR" altLang="en-US" dirty="0"/>
              <a:t>발행자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Subscriber(</a:t>
            </a:r>
            <a:r>
              <a:rPr lang="ko-KR" altLang="en-US" dirty="0"/>
              <a:t>구독자</a:t>
            </a:r>
            <a:r>
              <a:rPr lang="en-US" altLang="ko-KR" dirty="0"/>
              <a:t>) Channel(Broker)</a:t>
            </a:r>
            <a:r>
              <a:rPr lang="ko-KR" altLang="en-US" dirty="0"/>
              <a:t>의 구조인 </a:t>
            </a:r>
            <a:r>
              <a:rPr lang="en-US" altLang="ko-KR" dirty="0"/>
              <a:t>Pub/Sub </a:t>
            </a:r>
            <a:r>
              <a:rPr lang="ko-KR" altLang="en-US" dirty="0"/>
              <a:t>모델</a:t>
            </a:r>
            <a:endParaRPr lang="en-US" altLang="ko-KR" dirty="0"/>
          </a:p>
          <a:p>
            <a:r>
              <a:rPr lang="ko-KR" altLang="en-US" dirty="0"/>
              <a:t>데이터를 주고받는 구조로 </a:t>
            </a:r>
            <a:r>
              <a:rPr lang="en-US" altLang="ko-KR" dirty="0"/>
              <a:t>Publisher</a:t>
            </a:r>
            <a:r>
              <a:rPr lang="ko-KR" altLang="en-US" dirty="0"/>
              <a:t>와 </a:t>
            </a:r>
            <a:r>
              <a:rPr lang="en-US" altLang="ko-KR" dirty="0"/>
              <a:t>Subscriber </a:t>
            </a:r>
            <a:r>
              <a:rPr lang="ko-KR" altLang="en-US" dirty="0"/>
              <a:t>사이에서 데이터 흐름을 관리</a:t>
            </a:r>
            <a:endParaRPr lang="en-US" altLang="ko-KR" dirty="0"/>
          </a:p>
          <a:p>
            <a:r>
              <a:rPr lang="en-US" altLang="ko-KR" dirty="0"/>
              <a:t>Pub</a:t>
            </a:r>
            <a:r>
              <a:rPr lang="ko-KR" altLang="en-US" dirty="0"/>
              <a:t>는 이벤트</a:t>
            </a:r>
            <a:r>
              <a:rPr lang="en-US" altLang="ko-KR" dirty="0"/>
              <a:t>(</a:t>
            </a:r>
            <a:r>
              <a:rPr lang="ko-KR" altLang="en-US" dirty="0"/>
              <a:t>메시지</a:t>
            </a:r>
            <a:r>
              <a:rPr lang="en-US" altLang="ko-KR" dirty="0"/>
              <a:t>) </a:t>
            </a:r>
            <a:r>
              <a:rPr lang="ko-KR" altLang="en-US" dirty="0"/>
              <a:t>발행</a:t>
            </a:r>
            <a:endParaRPr lang="en-US" altLang="ko-KR" dirty="0"/>
          </a:p>
          <a:p>
            <a:r>
              <a:rPr lang="en-US" altLang="ko-KR" dirty="0"/>
              <a:t>Sub</a:t>
            </a:r>
            <a:r>
              <a:rPr lang="ko-KR" altLang="en-US" dirty="0"/>
              <a:t>는 특정 </a:t>
            </a:r>
            <a:r>
              <a:rPr lang="en-US" altLang="ko-KR" dirty="0"/>
              <a:t>Topic</a:t>
            </a:r>
            <a:r>
              <a:rPr lang="ko-KR" altLang="en-US" dirty="0"/>
              <a:t>을 구독 및 수신함</a:t>
            </a:r>
            <a:endParaRPr lang="en-US" altLang="ko-KR" dirty="0"/>
          </a:p>
          <a:p>
            <a:r>
              <a:rPr lang="en-US" altLang="ko-KR" dirty="0"/>
              <a:t>Channel</a:t>
            </a:r>
            <a:r>
              <a:rPr lang="ko-KR" altLang="en-US" dirty="0"/>
              <a:t>은 이벤트를 수신</a:t>
            </a:r>
            <a:r>
              <a:rPr lang="en-US" altLang="ko-KR" dirty="0"/>
              <a:t>, </a:t>
            </a:r>
            <a:r>
              <a:rPr lang="ko-KR" altLang="en-US" dirty="0"/>
              <a:t>전송함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7B92-E3FA-13FE-DEC1-14F599D4E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B6FD39C-F4AB-1198-8C5A-17E2F486E51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62162BA-D680-598B-8882-F7443D9A0DE3}"/>
              </a:ext>
            </a:extLst>
          </p:cNvPr>
          <p:cNvGrpSpPr/>
          <p:nvPr/>
        </p:nvGrpSpPr>
        <p:grpSpPr>
          <a:xfrm>
            <a:off x="3798277" y="1116177"/>
            <a:ext cx="3645808" cy="2776796"/>
            <a:chOff x="3442669" y="1237514"/>
            <a:chExt cx="4196836" cy="3465380"/>
          </a:xfrm>
        </p:grpSpPr>
        <p:sp>
          <p:nvSpPr>
            <p:cNvPr id="7" name="순서도: 자기 디스크 6">
              <a:extLst>
                <a:ext uri="{FF2B5EF4-FFF2-40B4-BE49-F238E27FC236}">
                  <a16:creationId xmlns:a16="http://schemas.microsoft.com/office/drawing/2014/main" id="{C86FE71F-8FA3-0586-3E1B-F7E634DD1664}"/>
                </a:ext>
              </a:extLst>
            </p:cNvPr>
            <p:cNvSpPr/>
            <p:nvPr/>
          </p:nvSpPr>
          <p:spPr>
            <a:xfrm>
              <a:off x="4986172" y="1239244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producer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" name="순서도: 자기 디스크 7">
              <a:extLst>
                <a:ext uri="{FF2B5EF4-FFF2-40B4-BE49-F238E27FC236}">
                  <a16:creationId xmlns:a16="http://schemas.microsoft.com/office/drawing/2014/main" id="{BC135F7A-DFE9-6353-03E2-84DEC8001E10}"/>
                </a:ext>
              </a:extLst>
            </p:cNvPr>
            <p:cNvSpPr/>
            <p:nvPr/>
          </p:nvSpPr>
          <p:spPr>
            <a:xfrm>
              <a:off x="5027735" y="3976273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consumer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D356F435-FE50-8335-1C8A-9D485A3B0A72}"/>
                </a:ext>
              </a:extLst>
            </p:cNvPr>
            <p:cNvCxnSpPr>
              <a:cxnSpLocks/>
              <a:stCxn id="7" idx="3"/>
              <a:endCxn id="16" idx="0"/>
            </p:cNvCxnSpPr>
            <p:nvPr/>
          </p:nvCxnSpPr>
          <p:spPr>
            <a:xfrm>
              <a:off x="5541086" y="1965865"/>
              <a:ext cx="0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순서도: 자기 디스크 9">
              <a:extLst>
                <a:ext uri="{FF2B5EF4-FFF2-40B4-BE49-F238E27FC236}">
                  <a16:creationId xmlns:a16="http://schemas.microsoft.com/office/drawing/2014/main" id="{8B3ADC8C-3E7A-9086-A989-A20BD5E69D6E}"/>
                </a:ext>
              </a:extLst>
            </p:cNvPr>
            <p:cNvSpPr/>
            <p:nvPr/>
          </p:nvSpPr>
          <p:spPr>
            <a:xfrm>
              <a:off x="6477647" y="1237514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producer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순서도: 자기 디스크 10">
              <a:extLst>
                <a:ext uri="{FF2B5EF4-FFF2-40B4-BE49-F238E27FC236}">
                  <a16:creationId xmlns:a16="http://schemas.microsoft.com/office/drawing/2014/main" id="{31792D0A-1D55-1750-8EC8-841161E0CE34}"/>
                </a:ext>
              </a:extLst>
            </p:cNvPr>
            <p:cNvSpPr/>
            <p:nvPr/>
          </p:nvSpPr>
          <p:spPr>
            <a:xfrm>
              <a:off x="6529677" y="3942722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consumer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BB5053B3-BAA6-0080-C124-8DF98C12A3CD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H="1">
              <a:off x="6477647" y="1964135"/>
              <a:ext cx="554914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순서도: 자기 디스크 12">
              <a:extLst>
                <a:ext uri="{FF2B5EF4-FFF2-40B4-BE49-F238E27FC236}">
                  <a16:creationId xmlns:a16="http://schemas.microsoft.com/office/drawing/2014/main" id="{B79344BE-B0B6-AD1D-C844-7B9857660A6A}"/>
                </a:ext>
              </a:extLst>
            </p:cNvPr>
            <p:cNvSpPr/>
            <p:nvPr/>
          </p:nvSpPr>
          <p:spPr>
            <a:xfrm>
              <a:off x="3444318" y="1240109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producer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1AFB5A7D-0440-0754-4D41-BCDF468C82E3}"/>
                </a:ext>
              </a:extLst>
            </p:cNvPr>
            <p:cNvSpPr/>
            <p:nvPr/>
          </p:nvSpPr>
          <p:spPr>
            <a:xfrm>
              <a:off x="3442669" y="3976273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consumer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EE0874AE-BE98-500B-2C34-CA59354802AB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3999232" y="1966730"/>
              <a:ext cx="680100" cy="5832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26E8BAE-4C2B-EC9C-2B07-C1159B6ED77C}"/>
                </a:ext>
              </a:extLst>
            </p:cNvPr>
            <p:cNvSpPr/>
            <p:nvPr/>
          </p:nvSpPr>
          <p:spPr>
            <a:xfrm>
              <a:off x="4222204" y="2551663"/>
              <a:ext cx="2637764" cy="9023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solidFill>
                    <a:schemeClr val="tx1"/>
                  </a:solidFill>
                </a:rPr>
                <a:t>Kafka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D23C02A8-C821-9CF5-1336-034C11105635}"/>
                </a:ext>
              </a:extLst>
            </p:cNvPr>
            <p:cNvCxnSpPr>
              <a:cxnSpLocks/>
            </p:cNvCxnSpPr>
            <p:nvPr/>
          </p:nvCxnSpPr>
          <p:spPr>
            <a:xfrm>
              <a:off x="5582649" y="3461656"/>
              <a:ext cx="0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5A0DCB08-9DDC-2781-C73E-D10BD0699121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6359979" y="3454060"/>
              <a:ext cx="724612" cy="4886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F4C9B654-68C6-BFC2-E396-E234224D9F30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flipH="1">
              <a:off x="3997583" y="3441530"/>
              <a:ext cx="777886" cy="53474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81589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CFAE6-9021-7430-8E6F-F0F9F0CE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Message Queue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17156A-F16F-CFF4-AB74-9B6B9F70C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Kafka</a:t>
            </a:r>
            <a:r>
              <a:rPr lang="ko-KR" altLang="en-US" dirty="0"/>
              <a:t>는 </a:t>
            </a:r>
            <a:r>
              <a:rPr lang="en-US" altLang="ko-KR" dirty="0"/>
              <a:t>pub/sub</a:t>
            </a:r>
            <a:r>
              <a:rPr lang="ko-KR" altLang="en-US" dirty="0"/>
              <a:t>모델을 사용하는 메시지 큐의 일종</a:t>
            </a:r>
            <a:r>
              <a:rPr lang="en-US" altLang="ko-KR" dirty="0"/>
              <a:t>(FIFO)</a:t>
            </a:r>
          </a:p>
          <a:p>
            <a:r>
              <a:rPr lang="ko-KR" altLang="en-US" dirty="0"/>
              <a:t>메시지를 임시로 저장하는 간단한 버퍼</a:t>
            </a:r>
            <a:endParaRPr lang="en-US" altLang="ko-KR" dirty="0"/>
          </a:p>
          <a:p>
            <a:r>
              <a:rPr lang="ko-KR" altLang="en-US" dirty="0"/>
              <a:t>비동기적 특성</a:t>
            </a:r>
            <a:endParaRPr lang="en-US" altLang="ko-KR" dirty="0"/>
          </a:p>
          <a:p>
            <a:pPr lvl="1"/>
            <a:r>
              <a:rPr lang="en-US" altLang="ko-KR" dirty="0"/>
              <a:t>Producer</a:t>
            </a:r>
            <a:r>
              <a:rPr lang="ko-KR" altLang="en-US" dirty="0"/>
              <a:t>는 </a:t>
            </a:r>
            <a:r>
              <a:rPr lang="en-US" altLang="ko-KR" dirty="0"/>
              <a:t>consumer</a:t>
            </a:r>
            <a:r>
              <a:rPr lang="ko-KR" altLang="en-US" dirty="0"/>
              <a:t>가 데이터를 언제 가져가도 신경 쓰지 않음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31CD05-C21F-E926-3D6E-2FFD210E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3E719E8-DAB0-74FE-D8DA-F7073FE8F4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B285DB9-3669-F08A-6D15-42965F49FBB9}"/>
              </a:ext>
            </a:extLst>
          </p:cNvPr>
          <p:cNvGrpSpPr/>
          <p:nvPr/>
        </p:nvGrpSpPr>
        <p:grpSpPr>
          <a:xfrm>
            <a:off x="2476678" y="2512044"/>
            <a:ext cx="6482026" cy="902396"/>
            <a:chOff x="1358170" y="2319330"/>
            <a:chExt cx="6482026" cy="902396"/>
          </a:xfrm>
        </p:grpSpPr>
        <p:sp>
          <p:nvSpPr>
            <p:cNvPr id="13" name="순서도: 자기 디스크 12">
              <a:extLst>
                <a:ext uri="{FF2B5EF4-FFF2-40B4-BE49-F238E27FC236}">
                  <a16:creationId xmlns:a16="http://schemas.microsoft.com/office/drawing/2014/main" id="{056AAA6B-FE12-5F00-B696-F64211D711AD}"/>
                </a:ext>
              </a:extLst>
            </p:cNvPr>
            <p:cNvSpPr/>
            <p:nvPr/>
          </p:nvSpPr>
          <p:spPr>
            <a:xfrm>
              <a:off x="1358170" y="2366781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순서도: 자기 디스크 13">
              <a:extLst>
                <a:ext uri="{FF2B5EF4-FFF2-40B4-BE49-F238E27FC236}">
                  <a16:creationId xmlns:a16="http://schemas.microsoft.com/office/drawing/2014/main" id="{05A0F144-5272-E45A-6774-CA1F9721DBBB}"/>
                </a:ext>
              </a:extLst>
            </p:cNvPr>
            <p:cNvSpPr/>
            <p:nvPr/>
          </p:nvSpPr>
          <p:spPr>
            <a:xfrm>
              <a:off x="6730368" y="2408170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B3B3C2B-76C4-6662-63C4-A746BED9930E}"/>
                </a:ext>
              </a:extLst>
            </p:cNvPr>
            <p:cNvCxnSpPr>
              <a:cxnSpLocks/>
            </p:cNvCxnSpPr>
            <p:nvPr/>
          </p:nvCxnSpPr>
          <p:spPr>
            <a:xfrm>
              <a:off x="2467998" y="2735036"/>
              <a:ext cx="81451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1B7E79F-5816-FC43-DD02-93AD5A333116}"/>
                </a:ext>
              </a:extLst>
            </p:cNvPr>
            <p:cNvSpPr/>
            <p:nvPr/>
          </p:nvSpPr>
          <p:spPr>
            <a:xfrm>
              <a:off x="3280301" y="2319330"/>
              <a:ext cx="2637764" cy="9023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solidFill>
                    <a:schemeClr val="tx1"/>
                  </a:solidFill>
                </a:rPr>
                <a:t>Kafka</a:t>
              </a:r>
            </a:p>
            <a:p>
              <a:pPr algn="ctr"/>
              <a:endParaRPr lang="en-US" altLang="ko-KR" sz="2400" dirty="0">
                <a:solidFill>
                  <a:schemeClr val="tx1"/>
                </a:solidFill>
              </a:endParaRPr>
            </a:p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5D94B06A-745E-C77C-892E-59273B45E677}"/>
                </a:ext>
              </a:extLst>
            </p:cNvPr>
            <p:cNvCxnSpPr>
              <a:cxnSpLocks/>
              <a:stCxn id="16" idx="3"/>
              <a:endCxn id="14" idx="2"/>
            </p:cNvCxnSpPr>
            <p:nvPr/>
          </p:nvCxnSpPr>
          <p:spPr>
            <a:xfrm>
              <a:off x="5918065" y="2770528"/>
              <a:ext cx="812303" cy="95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DC35740-F780-E6EC-E5CF-5EDF1EA84462}"/>
              </a:ext>
            </a:extLst>
          </p:cNvPr>
          <p:cNvSpPr/>
          <p:nvPr/>
        </p:nvSpPr>
        <p:spPr>
          <a:xfrm>
            <a:off x="4522038" y="2791798"/>
            <a:ext cx="310243" cy="3428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2304D2-1799-4BE0-5381-3817BC351BC2}"/>
              </a:ext>
            </a:extLst>
          </p:cNvPr>
          <p:cNvSpPr/>
          <p:nvPr/>
        </p:nvSpPr>
        <p:spPr>
          <a:xfrm>
            <a:off x="4920025" y="2791797"/>
            <a:ext cx="310243" cy="3428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960B277-1034-EE11-657C-9B7C2C665016}"/>
              </a:ext>
            </a:extLst>
          </p:cNvPr>
          <p:cNvSpPr/>
          <p:nvPr/>
        </p:nvSpPr>
        <p:spPr>
          <a:xfrm>
            <a:off x="5326798" y="2791797"/>
            <a:ext cx="310243" cy="3428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EE4329C-0196-3AA3-DEA6-DEC68237E031}"/>
              </a:ext>
            </a:extLst>
          </p:cNvPr>
          <p:cNvSpPr/>
          <p:nvPr/>
        </p:nvSpPr>
        <p:spPr>
          <a:xfrm>
            <a:off x="5739835" y="2791797"/>
            <a:ext cx="310243" cy="3428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C401908-9019-D9F0-1110-0F1EE71ED11A}"/>
              </a:ext>
            </a:extLst>
          </p:cNvPr>
          <p:cNvSpPr/>
          <p:nvPr/>
        </p:nvSpPr>
        <p:spPr>
          <a:xfrm>
            <a:off x="6136544" y="2791795"/>
            <a:ext cx="310243" cy="3428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5DFB7DA-14AA-DDA4-4BBC-E397FCEEF4B0}"/>
              </a:ext>
            </a:extLst>
          </p:cNvPr>
          <p:cNvSpPr/>
          <p:nvPr/>
        </p:nvSpPr>
        <p:spPr>
          <a:xfrm>
            <a:off x="6530073" y="2791795"/>
            <a:ext cx="310243" cy="34288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1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3E6EB-B74D-8ACD-04A0-967F0F12B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Zookeeper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F3A62F-DDBF-0A60-24CB-D108AE216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카프카 브로커를 하나의 클러스터로 </a:t>
            </a:r>
            <a:r>
              <a:rPr lang="ko-KR" altLang="en-US" dirty="0" err="1"/>
              <a:t>코디네이팅</a:t>
            </a:r>
            <a:r>
              <a:rPr lang="ko-KR" altLang="en-US" dirty="0"/>
              <a:t> 하는 분산 </a:t>
            </a:r>
            <a:r>
              <a:rPr lang="ko-KR" altLang="en-US" dirty="0" err="1"/>
              <a:t>코디네이션</a:t>
            </a:r>
            <a:r>
              <a:rPr lang="ko-KR" altLang="en-US" dirty="0"/>
              <a:t>  시스템</a:t>
            </a:r>
            <a:endParaRPr lang="en-US" altLang="ko-KR" dirty="0"/>
          </a:p>
          <a:p>
            <a:r>
              <a:rPr lang="ko-KR" altLang="en-US" dirty="0"/>
              <a:t>클러스터 </a:t>
            </a:r>
            <a:r>
              <a:rPr lang="en-US" altLang="ko-KR" dirty="0"/>
              <a:t>: </a:t>
            </a:r>
            <a:r>
              <a:rPr lang="ko-KR" altLang="en-US" dirty="0"/>
              <a:t>여러 개의 서버가 하나의 그룹처럼 동작하도록 구성된 시스템</a:t>
            </a:r>
            <a:endParaRPr lang="en-US" altLang="ko-KR" dirty="0"/>
          </a:p>
          <a:p>
            <a:r>
              <a:rPr lang="ko-KR" altLang="en-US" dirty="0"/>
              <a:t>브로커</a:t>
            </a:r>
            <a:r>
              <a:rPr lang="en-US" altLang="ko-KR" dirty="0"/>
              <a:t> = </a:t>
            </a:r>
            <a:r>
              <a:rPr lang="en-US" altLang="ko-KR" dirty="0" err="1"/>
              <a:t>kafka</a:t>
            </a:r>
            <a:r>
              <a:rPr lang="ko-KR" altLang="en-US" dirty="0"/>
              <a:t>를 구성하는 서버</a:t>
            </a:r>
            <a:endParaRPr lang="en-US" altLang="ko-KR" dirty="0"/>
          </a:p>
          <a:p>
            <a:r>
              <a:rPr lang="ko-KR" altLang="en-US" dirty="0" err="1"/>
              <a:t>주키퍼</a:t>
            </a:r>
            <a:r>
              <a:rPr lang="ko-KR" altLang="en-US" dirty="0"/>
              <a:t> 클러스터는 홀수로 구성</a:t>
            </a:r>
            <a:endParaRPr lang="en-US" altLang="ko-KR" dirty="0"/>
          </a:p>
          <a:p>
            <a:pPr lvl="1"/>
            <a:r>
              <a:rPr lang="en-US" altLang="ko-KR" dirty="0"/>
              <a:t>Quorum(</a:t>
            </a:r>
            <a:r>
              <a:rPr lang="ko-KR" altLang="en-US" dirty="0"/>
              <a:t>투표</a:t>
            </a:r>
            <a:r>
              <a:rPr lang="en-US" altLang="ko-KR" dirty="0"/>
              <a:t>) </a:t>
            </a:r>
            <a:r>
              <a:rPr lang="ko-KR" altLang="en-US" dirty="0"/>
              <a:t>때문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685C78-686B-3B71-01EF-D69814C05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099BBC0-7DDE-C545-034C-A7A1A235E8C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7C6132E-1771-8380-59BD-479C5277E49D}"/>
              </a:ext>
            </a:extLst>
          </p:cNvPr>
          <p:cNvGrpSpPr/>
          <p:nvPr/>
        </p:nvGrpSpPr>
        <p:grpSpPr>
          <a:xfrm>
            <a:off x="4909424" y="2233476"/>
            <a:ext cx="4196836" cy="3465380"/>
            <a:chOff x="3442669" y="1237514"/>
            <a:chExt cx="4196836" cy="3465380"/>
          </a:xfrm>
        </p:grpSpPr>
        <p:sp>
          <p:nvSpPr>
            <p:cNvPr id="24" name="순서도: 자기 디스크 23">
              <a:extLst>
                <a:ext uri="{FF2B5EF4-FFF2-40B4-BE49-F238E27FC236}">
                  <a16:creationId xmlns:a16="http://schemas.microsoft.com/office/drawing/2014/main" id="{436164E7-878B-E16A-957A-6FFCE146C61C}"/>
                </a:ext>
              </a:extLst>
            </p:cNvPr>
            <p:cNvSpPr/>
            <p:nvPr/>
          </p:nvSpPr>
          <p:spPr>
            <a:xfrm>
              <a:off x="4986172" y="1239244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순서도: 자기 디스크 24">
              <a:extLst>
                <a:ext uri="{FF2B5EF4-FFF2-40B4-BE49-F238E27FC236}">
                  <a16:creationId xmlns:a16="http://schemas.microsoft.com/office/drawing/2014/main" id="{73BAD8BF-9308-E985-8529-14FD9345D316}"/>
                </a:ext>
              </a:extLst>
            </p:cNvPr>
            <p:cNvSpPr/>
            <p:nvPr/>
          </p:nvSpPr>
          <p:spPr>
            <a:xfrm>
              <a:off x="5027735" y="3976273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A9E681F1-D4C6-B246-E839-EED1908297BA}"/>
                </a:ext>
              </a:extLst>
            </p:cNvPr>
            <p:cNvCxnSpPr>
              <a:cxnSpLocks/>
              <a:stCxn id="24" idx="3"/>
              <a:endCxn id="33" idx="0"/>
            </p:cNvCxnSpPr>
            <p:nvPr/>
          </p:nvCxnSpPr>
          <p:spPr>
            <a:xfrm>
              <a:off x="5541086" y="1965865"/>
              <a:ext cx="0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순서도: 자기 디스크 26">
              <a:extLst>
                <a:ext uri="{FF2B5EF4-FFF2-40B4-BE49-F238E27FC236}">
                  <a16:creationId xmlns:a16="http://schemas.microsoft.com/office/drawing/2014/main" id="{8A6DAA4F-7DE9-8B31-1317-C5916F621242}"/>
                </a:ext>
              </a:extLst>
            </p:cNvPr>
            <p:cNvSpPr/>
            <p:nvPr/>
          </p:nvSpPr>
          <p:spPr>
            <a:xfrm>
              <a:off x="6477647" y="1237514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순서도: 자기 디스크 27">
              <a:extLst>
                <a:ext uri="{FF2B5EF4-FFF2-40B4-BE49-F238E27FC236}">
                  <a16:creationId xmlns:a16="http://schemas.microsoft.com/office/drawing/2014/main" id="{255128C8-E872-95C9-6A30-98E6479BC376}"/>
                </a:ext>
              </a:extLst>
            </p:cNvPr>
            <p:cNvSpPr/>
            <p:nvPr/>
          </p:nvSpPr>
          <p:spPr>
            <a:xfrm>
              <a:off x="6529677" y="3942722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C5ED0944-F13B-255A-07E3-E66DE468770F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H="1">
              <a:off x="6477647" y="1964135"/>
              <a:ext cx="554914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순서도: 자기 디스크 29">
              <a:extLst>
                <a:ext uri="{FF2B5EF4-FFF2-40B4-BE49-F238E27FC236}">
                  <a16:creationId xmlns:a16="http://schemas.microsoft.com/office/drawing/2014/main" id="{019C2DAB-6F7C-9067-EAC0-201A2712CE03}"/>
                </a:ext>
              </a:extLst>
            </p:cNvPr>
            <p:cNvSpPr/>
            <p:nvPr/>
          </p:nvSpPr>
          <p:spPr>
            <a:xfrm>
              <a:off x="3444318" y="1240109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순서도: 자기 디스크 30">
              <a:extLst>
                <a:ext uri="{FF2B5EF4-FFF2-40B4-BE49-F238E27FC236}">
                  <a16:creationId xmlns:a16="http://schemas.microsoft.com/office/drawing/2014/main" id="{6AD528AD-F916-34EE-BD61-84554A34F71B}"/>
                </a:ext>
              </a:extLst>
            </p:cNvPr>
            <p:cNvSpPr/>
            <p:nvPr/>
          </p:nvSpPr>
          <p:spPr>
            <a:xfrm>
              <a:off x="3442669" y="3976273"/>
              <a:ext cx="1109828" cy="726621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5A5DA46F-FAB7-4EC8-2C1D-8372C8C794A0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3999232" y="1966730"/>
              <a:ext cx="680100" cy="58320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376066C-9D17-044C-F3A0-19B774F41523}"/>
                </a:ext>
              </a:extLst>
            </p:cNvPr>
            <p:cNvSpPr/>
            <p:nvPr/>
          </p:nvSpPr>
          <p:spPr>
            <a:xfrm>
              <a:off x="4222204" y="2551664"/>
              <a:ext cx="2637764" cy="9023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solidFill>
                    <a:schemeClr val="tx1"/>
                  </a:solidFill>
                </a:rPr>
                <a:t>Kafka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73A11DA2-BEB4-A19C-B99D-E3213602F35A}"/>
                </a:ext>
              </a:extLst>
            </p:cNvPr>
            <p:cNvCxnSpPr>
              <a:cxnSpLocks/>
            </p:cNvCxnSpPr>
            <p:nvPr/>
          </p:nvCxnSpPr>
          <p:spPr>
            <a:xfrm>
              <a:off x="5582649" y="3461656"/>
              <a:ext cx="0" cy="58579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4A904DBD-64D6-7F23-ED25-CBCD90D33902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6359979" y="3454060"/>
              <a:ext cx="724612" cy="4886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E9C3559B-2E22-212B-5FC6-AC2BAC416453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flipH="1">
              <a:off x="3997583" y="3441530"/>
              <a:ext cx="777886" cy="53474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823302-E728-E33F-7F30-7EFAED932EF4}"/>
              </a:ext>
            </a:extLst>
          </p:cNvPr>
          <p:cNvSpPr/>
          <p:nvPr/>
        </p:nvSpPr>
        <p:spPr>
          <a:xfrm>
            <a:off x="4043869" y="3863809"/>
            <a:ext cx="1420467" cy="2795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Zookeeper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5CF0ADA-A11E-60B7-FC19-CA874446190E}"/>
              </a:ext>
            </a:extLst>
          </p:cNvPr>
          <p:cNvCxnSpPr>
            <a:stCxn id="22" idx="3"/>
            <a:endCxn id="33" idx="1"/>
          </p:cNvCxnSpPr>
          <p:nvPr/>
        </p:nvCxnSpPr>
        <p:spPr>
          <a:xfrm flipV="1">
            <a:off x="5464336" y="3998824"/>
            <a:ext cx="224623" cy="474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245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0065-785E-FBF8-6336-D4E969C1C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4176B-A691-48A9-6532-12A35D4C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Zookeeper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FE6499-2A26-FF11-F90C-39DC96380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브로커 관리</a:t>
            </a:r>
            <a:endParaRPr lang="en-US" altLang="ko-KR" dirty="0"/>
          </a:p>
          <a:p>
            <a:r>
              <a:rPr lang="ko-KR" altLang="en-US" dirty="0"/>
              <a:t>리더 채택 </a:t>
            </a:r>
            <a:r>
              <a:rPr lang="en-US" altLang="ko-KR" dirty="0"/>
              <a:t>: </a:t>
            </a:r>
            <a:r>
              <a:rPr lang="ko-KR" altLang="en-US" dirty="0"/>
              <a:t>어떤 브로커를 리더로 산출할 지 정하는 로직을 생성</a:t>
            </a:r>
            <a:endParaRPr lang="en-US" altLang="ko-KR" dirty="0"/>
          </a:p>
          <a:p>
            <a:r>
              <a:rPr lang="ko-KR" altLang="en-US" dirty="0"/>
              <a:t>카프카와 </a:t>
            </a:r>
            <a:r>
              <a:rPr lang="ko-KR" altLang="en-US" dirty="0" err="1"/>
              <a:t>주키퍼는</a:t>
            </a:r>
            <a:r>
              <a:rPr lang="ko-KR" altLang="en-US" dirty="0"/>
              <a:t> 통신하며 클러스터 상태를 관리</a:t>
            </a:r>
            <a:endParaRPr lang="en-US" altLang="ko-KR" dirty="0"/>
          </a:p>
          <a:p>
            <a:r>
              <a:rPr lang="ko-KR" altLang="en-US" dirty="0"/>
              <a:t>메타데이터 관리</a:t>
            </a:r>
            <a:r>
              <a:rPr lang="en-US" altLang="ko-KR" sz="1200" dirty="0"/>
              <a:t>(</a:t>
            </a:r>
            <a:r>
              <a:rPr lang="ko-KR" altLang="en-US" sz="1200" dirty="0"/>
              <a:t>브로커</a:t>
            </a:r>
            <a:r>
              <a:rPr lang="en-US" altLang="ko-KR" sz="1200" dirty="0"/>
              <a:t>, </a:t>
            </a:r>
            <a:r>
              <a:rPr lang="ko-KR" altLang="en-US" sz="1200" dirty="0"/>
              <a:t>토픽</a:t>
            </a:r>
            <a:r>
              <a:rPr lang="en-US" altLang="ko-KR" sz="1200" dirty="0"/>
              <a:t>, </a:t>
            </a:r>
            <a:r>
              <a:rPr lang="ko-KR" altLang="en-US" sz="1200" dirty="0"/>
              <a:t>파티션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컨슈머그룹</a:t>
            </a:r>
            <a:r>
              <a:rPr lang="en-US" altLang="ko-KR" sz="1200" dirty="0"/>
              <a:t>,</a:t>
            </a:r>
            <a:r>
              <a:rPr lang="en-US" altLang="ko-KR" dirty="0"/>
              <a:t> </a:t>
            </a:r>
            <a:r>
              <a:rPr lang="ko-KR" altLang="en-US" sz="1200" dirty="0"/>
              <a:t>애플리케이션 등</a:t>
            </a:r>
            <a:r>
              <a:rPr lang="en-US" altLang="ko-KR" sz="1200" dirty="0"/>
              <a:t>)</a:t>
            </a:r>
            <a:endParaRPr lang="en-US" altLang="ko-KR" dirty="0"/>
          </a:p>
          <a:p>
            <a:r>
              <a:rPr lang="ko-KR" altLang="en-US" dirty="0"/>
              <a:t>장애감지와 복구</a:t>
            </a:r>
            <a:endParaRPr lang="en-US" altLang="ko-KR" dirty="0"/>
          </a:p>
          <a:p>
            <a:r>
              <a:rPr lang="ko-KR" altLang="en-US" dirty="0"/>
              <a:t>상태정보를 </a:t>
            </a:r>
            <a:r>
              <a:rPr lang="en-US" altLang="ko-KR" dirty="0" err="1"/>
              <a:t>Znode</a:t>
            </a:r>
            <a:r>
              <a:rPr lang="ko-KR" altLang="en-US" dirty="0"/>
              <a:t>에 저장</a:t>
            </a:r>
            <a:endParaRPr lang="en-US" altLang="ko-KR" dirty="0"/>
          </a:p>
          <a:p>
            <a:r>
              <a:rPr lang="ko-KR" altLang="en-US" dirty="0"/>
              <a:t>고가용성</a:t>
            </a:r>
            <a:r>
              <a:rPr lang="en-US" altLang="ko-KR" dirty="0"/>
              <a:t>(</a:t>
            </a:r>
            <a:r>
              <a:rPr lang="ko-KR" altLang="en-US" dirty="0"/>
              <a:t>복제 및 복구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Kraft</a:t>
            </a:r>
            <a:r>
              <a:rPr lang="ko-KR" altLang="en-US" dirty="0"/>
              <a:t> 프로토콜로 대체 하려는 추세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07AE6B-3379-EE71-9644-B044117E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DE12803-F82C-FF04-1A4C-7C7954F0FF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F21CE9D-16A7-8E4E-C250-7910445FA1C8}"/>
              </a:ext>
            </a:extLst>
          </p:cNvPr>
          <p:cNvGrpSpPr/>
          <p:nvPr/>
        </p:nvGrpSpPr>
        <p:grpSpPr>
          <a:xfrm>
            <a:off x="5535318" y="1913880"/>
            <a:ext cx="5062391" cy="3465380"/>
            <a:chOff x="4070502" y="2311965"/>
            <a:chExt cx="5062391" cy="346538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CB65F49-B87E-C12D-7785-7DC9DAAB231A}"/>
                </a:ext>
              </a:extLst>
            </p:cNvPr>
            <p:cNvGrpSpPr/>
            <p:nvPr/>
          </p:nvGrpSpPr>
          <p:grpSpPr>
            <a:xfrm>
              <a:off x="4936057" y="2311965"/>
              <a:ext cx="4196836" cy="3465380"/>
              <a:chOff x="3442669" y="1237514"/>
              <a:chExt cx="4196836" cy="3465380"/>
            </a:xfrm>
          </p:grpSpPr>
          <p:sp>
            <p:nvSpPr>
              <p:cNvPr id="7" name="순서도: 자기 디스크 6">
                <a:extLst>
                  <a:ext uri="{FF2B5EF4-FFF2-40B4-BE49-F238E27FC236}">
                    <a16:creationId xmlns:a16="http://schemas.microsoft.com/office/drawing/2014/main" id="{6E327428-6EE5-5739-4966-B7265A1F4813}"/>
                  </a:ext>
                </a:extLst>
              </p:cNvPr>
              <p:cNvSpPr/>
              <p:nvPr/>
            </p:nvSpPr>
            <p:spPr>
              <a:xfrm>
                <a:off x="4986172" y="1239244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순서도: 자기 디스크 7">
                <a:extLst>
                  <a:ext uri="{FF2B5EF4-FFF2-40B4-BE49-F238E27FC236}">
                    <a16:creationId xmlns:a16="http://schemas.microsoft.com/office/drawing/2014/main" id="{8C86D9C1-5F73-3DC8-FA35-92A03367A440}"/>
                  </a:ext>
                </a:extLst>
              </p:cNvPr>
              <p:cNvSpPr/>
              <p:nvPr/>
            </p:nvSpPr>
            <p:spPr>
              <a:xfrm>
                <a:off x="5027735" y="3976273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CAD7496D-B9E0-02F2-3558-FD867F785875}"/>
                  </a:ext>
                </a:extLst>
              </p:cNvPr>
              <p:cNvCxnSpPr>
                <a:cxnSpLocks/>
                <a:stCxn id="7" idx="3"/>
                <a:endCxn id="16" idx="0"/>
              </p:cNvCxnSpPr>
              <p:nvPr/>
            </p:nvCxnSpPr>
            <p:spPr>
              <a:xfrm>
                <a:off x="5541086" y="1965865"/>
                <a:ext cx="0" cy="5857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" name="순서도: 자기 디스크 9">
                <a:extLst>
                  <a:ext uri="{FF2B5EF4-FFF2-40B4-BE49-F238E27FC236}">
                    <a16:creationId xmlns:a16="http://schemas.microsoft.com/office/drawing/2014/main" id="{C4586465-9201-33D6-CCA4-E8FA15271CD4}"/>
                  </a:ext>
                </a:extLst>
              </p:cNvPr>
              <p:cNvSpPr/>
              <p:nvPr/>
            </p:nvSpPr>
            <p:spPr>
              <a:xfrm>
                <a:off x="6477647" y="1237514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순서도: 자기 디스크 10">
                <a:extLst>
                  <a:ext uri="{FF2B5EF4-FFF2-40B4-BE49-F238E27FC236}">
                    <a16:creationId xmlns:a16="http://schemas.microsoft.com/office/drawing/2014/main" id="{A46CDB60-8138-9A04-71A6-6E35D44B3079}"/>
                  </a:ext>
                </a:extLst>
              </p:cNvPr>
              <p:cNvSpPr/>
              <p:nvPr/>
            </p:nvSpPr>
            <p:spPr>
              <a:xfrm>
                <a:off x="6529677" y="3942722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" name="직선 화살표 연결선 11">
                <a:extLst>
                  <a:ext uri="{FF2B5EF4-FFF2-40B4-BE49-F238E27FC236}">
                    <a16:creationId xmlns:a16="http://schemas.microsoft.com/office/drawing/2014/main" id="{A6D0CA68-E100-2B83-D412-D563FEE833AE}"/>
                  </a:ext>
                </a:extLst>
              </p:cNvPr>
              <p:cNvCxnSpPr>
                <a:cxnSpLocks/>
                <a:stCxn id="10" idx="3"/>
              </p:cNvCxnSpPr>
              <p:nvPr/>
            </p:nvCxnSpPr>
            <p:spPr>
              <a:xfrm flipH="1">
                <a:off x="6477647" y="1964135"/>
                <a:ext cx="554914" cy="5857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순서도: 자기 디스크 12">
                <a:extLst>
                  <a:ext uri="{FF2B5EF4-FFF2-40B4-BE49-F238E27FC236}">
                    <a16:creationId xmlns:a16="http://schemas.microsoft.com/office/drawing/2014/main" id="{1B3F6A6D-9020-235C-1DB5-3E63238747D9}"/>
                  </a:ext>
                </a:extLst>
              </p:cNvPr>
              <p:cNvSpPr/>
              <p:nvPr/>
            </p:nvSpPr>
            <p:spPr>
              <a:xfrm>
                <a:off x="3444318" y="1240109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순서도: 자기 디스크 13">
                <a:extLst>
                  <a:ext uri="{FF2B5EF4-FFF2-40B4-BE49-F238E27FC236}">
                    <a16:creationId xmlns:a16="http://schemas.microsoft.com/office/drawing/2014/main" id="{4E0AA6AE-D4BB-D71E-935D-127A24FC83E0}"/>
                  </a:ext>
                </a:extLst>
              </p:cNvPr>
              <p:cNvSpPr/>
              <p:nvPr/>
            </p:nvSpPr>
            <p:spPr>
              <a:xfrm>
                <a:off x="3442669" y="3976273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8F0EE515-F277-712E-E978-6C60864ED5C3}"/>
                  </a:ext>
                </a:extLst>
              </p:cNvPr>
              <p:cNvCxnSpPr>
                <a:cxnSpLocks/>
                <a:stCxn id="13" idx="3"/>
              </p:cNvCxnSpPr>
              <p:nvPr/>
            </p:nvCxnSpPr>
            <p:spPr>
              <a:xfrm>
                <a:off x="3999232" y="1966730"/>
                <a:ext cx="680100" cy="5832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B5F9B979-D285-300B-28E8-21CF99D4E51C}"/>
                  </a:ext>
                </a:extLst>
              </p:cNvPr>
              <p:cNvSpPr/>
              <p:nvPr/>
            </p:nvSpPr>
            <p:spPr>
              <a:xfrm>
                <a:off x="4222204" y="2551664"/>
                <a:ext cx="2637764" cy="90239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3200" dirty="0">
                    <a:solidFill>
                      <a:schemeClr val="tx1"/>
                    </a:solidFill>
                  </a:rPr>
                  <a:t>Kafka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직선 화살표 연결선 16">
                <a:extLst>
                  <a:ext uri="{FF2B5EF4-FFF2-40B4-BE49-F238E27FC236}">
                    <a16:creationId xmlns:a16="http://schemas.microsoft.com/office/drawing/2014/main" id="{5A226D1D-4841-33CC-464E-F74920BAEC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2649" y="3461656"/>
                <a:ext cx="0" cy="5857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816D99CE-6B4B-111E-7590-D1A291C00B10}"/>
                  </a:ext>
                </a:extLst>
              </p:cNvPr>
              <p:cNvCxnSpPr>
                <a:cxnSpLocks/>
                <a:endCxn id="11" idx="1"/>
              </p:cNvCxnSpPr>
              <p:nvPr/>
            </p:nvCxnSpPr>
            <p:spPr>
              <a:xfrm>
                <a:off x="6359979" y="3454060"/>
                <a:ext cx="724612" cy="4886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3F540628-0E02-E729-EC7C-C5A4B0682A9E}"/>
                  </a:ext>
                </a:extLst>
              </p:cNvPr>
              <p:cNvCxnSpPr>
                <a:cxnSpLocks/>
                <a:endCxn id="14" idx="1"/>
              </p:cNvCxnSpPr>
              <p:nvPr/>
            </p:nvCxnSpPr>
            <p:spPr>
              <a:xfrm flipH="1">
                <a:off x="3997583" y="3441530"/>
                <a:ext cx="777886" cy="5347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0060129-39EC-0554-8140-B185F323D104}"/>
                </a:ext>
              </a:extLst>
            </p:cNvPr>
            <p:cNvSpPr/>
            <p:nvPr/>
          </p:nvSpPr>
          <p:spPr>
            <a:xfrm>
              <a:off x="4070502" y="3942298"/>
              <a:ext cx="1420467" cy="2795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Zookeeper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770274D-962B-396B-AB36-B53ADE50A829}"/>
                </a:ext>
              </a:extLst>
            </p:cNvPr>
            <p:cNvCxnSpPr>
              <a:stCxn id="20" idx="3"/>
              <a:endCxn id="16" idx="1"/>
            </p:cNvCxnSpPr>
            <p:nvPr/>
          </p:nvCxnSpPr>
          <p:spPr>
            <a:xfrm flipV="1">
              <a:off x="5490969" y="4077313"/>
              <a:ext cx="224623" cy="474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05952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EF188-E120-30CE-171B-E43FB001D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4A754-B7CE-E94E-AD42-CC89A7D9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Zookeeper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1E3564-EAEE-F351-D883-F898F071F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Znode</a:t>
            </a:r>
            <a:r>
              <a:rPr lang="en-US" altLang="ko-KR" dirty="0"/>
              <a:t>?</a:t>
            </a:r>
          </a:p>
          <a:p>
            <a:r>
              <a:rPr lang="ko-KR" altLang="en-US" dirty="0" err="1"/>
              <a:t>주키퍼가</a:t>
            </a:r>
            <a:r>
              <a:rPr lang="ko-KR" altLang="en-US" dirty="0"/>
              <a:t> 데이터를 저장하는 기본단위</a:t>
            </a:r>
            <a:endParaRPr lang="en-US" altLang="ko-KR" dirty="0"/>
          </a:p>
          <a:p>
            <a:r>
              <a:rPr lang="ko-KR" altLang="en-US" dirty="0" err="1"/>
              <a:t>계층적구조</a:t>
            </a:r>
            <a:r>
              <a:rPr lang="en-US" altLang="ko-KR" dirty="0"/>
              <a:t>, </a:t>
            </a:r>
            <a:r>
              <a:rPr lang="ko-KR" altLang="en-US" dirty="0"/>
              <a:t>파일시스템과 유사한 방식</a:t>
            </a:r>
            <a:r>
              <a:rPr lang="en-US" altLang="ko-KR" dirty="0"/>
              <a:t>(</a:t>
            </a:r>
            <a:r>
              <a:rPr lang="ko-KR" altLang="en-US" dirty="0"/>
              <a:t>파일</a:t>
            </a:r>
            <a:r>
              <a:rPr lang="en-US" altLang="ko-KR" dirty="0"/>
              <a:t>, </a:t>
            </a:r>
            <a:r>
              <a:rPr lang="ko-KR" altLang="en-US" dirty="0"/>
              <a:t>폴더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메타데이터와 상태정보를 저장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1E19F9-EB4A-095E-8FE5-3A5A31E1E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38D5007-502A-55C5-5B84-BAC62B4E96A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EF6FECF5-DCD6-D622-D334-8D7EACFD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236" y="2574724"/>
            <a:ext cx="6325527" cy="33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649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E9DD1-05C5-D474-0B93-B5AAB0F9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02EA90-138F-E893-0CAD-53F64B312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Broker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C6A4DB-375E-05C2-E824-6B6271536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실행된 카프카 애플리케이션 서버</a:t>
            </a:r>
            <a:endParaRPr lang="en-US" altLang="ko-KR" dirty="0"/>
          </a:p>
          <a:p>
            <a:r>
              <a:rPr lang="ko-KR" altLang="en-US" dirty="0"/>
              <a:t>카프카 클라이언트</a:t>
            </a:r>
            <a:r>
              <a:rPr lang="en-US" altLang="ko-KR" dirty="0"/>
              <a:t>(</a:t>
            </a:r>
            <a:r>
              <a:rPr lang="en-US" altLang="ko-KR" dirty="0" err="1"/>
              <a:t>pro,con</a:t>
            </a:r>
            <a:r>
              <a:rPr lang="en-US" altLang="ko-KR" dirty="0"/>
              <a:t>)</a:t>
            </a:r>
            <a:r>
              <a:rPr lang="ko-KR" altLang="en-US" dirty="0"/>
              <a:t>와 데이터를 주고 받는 주체</a:t>
            </a:r>
            <a:endParaRPr lang="en-US" altLang="ko-KR" dirty="0"/>
          </a:p>
          <a:p>
            <a:pPr lvl="1"/>
            <a:r>
              <a:rPr lang="ko-KR" altLang="en-US" dirty="0"/>
              <a:t>데이터가 저장되고 이를 </a:t>
            </a:r>
            <a:r>
              <a:rPr lang="ko-KR" altLang="en-US" dirty="0" err="1"/>
              <a:t>읽어감</a:t>
            </a:r>
            <a:endParaRPr lang="en-US" altLang="ko-KR" dirty="0"/>
          </a:p>
          <a:p>
            <a:r>
              <a:rPr lang="ko-KR" altLang="en-US" dirty="0" err="1"/>
              <a:t>브로커중</a:t>
            </a:r>
            <a:r>
              <a:rPr lang="ko-KR" altLang="en-US" dirty="0"/>
              <a:t> 하나는 컨트롤러 기능 수행</a:t>
            </a:r>
            <a:endParaRPr lang="en-US" altLang="ko-KR" dirty="0"/>
          </a:p>
          <a:p>
            <a:r>
              <a:rPr lang="ko-KR" altLang="en-US" dirty="0"/>
              <a:t>컨트롤러는 </a:t>
            </a:r>
            <a:r>
              <a:rPr lang="ko-KR" altLang="en-US" dirty="0" err="1"/>
              <a:t>주키퍼가</a:t>
            </a:r>
            <a:r>
              <a:rPr lang="ko-KR" altLang="en-US" dirty="0"/>
              <a:t> 선정</a:t>
            </a:r>
            <a:r>
              <a:rPr lang="en-US" altLang="ko-KR" dirty="0"/>
              <a:t>, </a:t>
            </a:r>
            <a:r>
              <a:rPr lang="ko-KR" altLang="en-US" dirty="0"/>
              <a:t> 브로커를 관리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CB1CC0-87E4-915E-63EF-538FD671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C4979CF-15DE-F414-2977-626BDCD6C1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F236CF58-50B4-E87B-04C3-54E5E5FDDECE}"/>
              </a:ext>
            </a:extLst>
          </p:cNvPr>
          <p:cNvGrpSpPr/>
          <p:nvPr/>
        </p:nvGrpSpPr>
        <p:grpSpPr>
          <a:xfrm>
            <a:off x="5651380" y="1633491"/>
            <a:ext cx="5392443" cy="3746646"/>
            <a:chOff x="5651380" y="1633491"/>
            <a:chExt cx="5392443" cy="3746646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843CD42B-A3A7-9A7D-2BD3-40787C153C04}"/>
                </a:ext>
              </a:extLst>
            </p:cNvPr>
            <p:cNvGrpSpPr/>
            <p:nvPr/>
          </p:nvGrpSpPr>
          <p:grpSpPr>
            <a:xfrm>
              <a:off x="5651380" y="1633491"/>
              <a:ext cx="5392443" cy="3746646"/>
              <a:chOff x="4307021" y="777494"/>
              <a:chExt cx="7841018" cy="5458640"/>
            </a:xfrm>
          </p:grpSpPr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44DF1985-FD97-524F-E7AC-B1C6C6EB34C4}"/>
                  </a:ext>
                </a:extLst>
              </p:cNvPr>
              <p:cNvGrpSpPr/>
              <p:nvPr/>
            </p:nvGrpSpPr>
            <p:grpSpPr>
              <a:xfrm>
                <a:off x="4307021" y="777494"/>
                <a:ext cx="7841018" cy="5458640"/>
                <a:chOff x="3598317" y="2311965"/>
                <a:chExt cx="5534576" cy="3465380"/>
              </a:xfrm>
            </p:grpSpPr>
            <p:grpSp>
              <p:nvGrpSpPr>
                <p:cNvPr id="6" name="그룹 5">
                  <a:extLst>
                    <a:ext uri="{FF2B5EF4-FFF2-40B4-BE49-F238E27FC236}">
                      <a16:creationId xmlns:a16="http://schemas.microsoft.com/office/drawing/2014/main" id="{90B81026-46B6-65D9-40A7-F57CB66C0BFD}"/>
                    </a:ext>
                  </a:extLst>
                </p:cNvPr>
                <p:cNvGrpSpPr/>
                <p:nvPr/>
              </p:nvGrpSpPr>
              <p:grpSpPr>
                <a:xfrm>
                  <a:off x="4936057" y="2311965"/>
                  <a:ext cx="4196836" cy="3465380"/>
                  <a:chOff x="3442669" y="1237514"/>
                  <a:chExt cx="4196836" cy="3465380"/>
                </a:xfrm>
              </p:grpSpPr>
              <p:sp>
                <p:nvSpPr>
                  <p:cNvPr id="7" name="순서도: 자기 디스크 6">
                    <a:extLst>
                      <a:ext uri="{FF2B5EF4-FFF2-40B4-BE49-F238E27FC236}">
                        <a16:creationId xmlns:a16="http://schemas.microsoft.com/office/drawing/2014/main" id="{513B7CFC-7648-1BFB-CF91-426970B024F6}"/>
                      </a:ext>
                    </a:extLst>
                  </p:cNvPr>
                  <p:cNvSpPr/>
                  <p:nvPr/>
                </p:nvSpPr>
                <p:spPr>
                  <a:xfrm>
                    <a:off x="4986172" y="1239244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producer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" name="순서도: 자기 디스크 7">
                    <a:extLst>
                      <a:ext uri="{FF2B5EF4-FFF2-40B4-BE49-F238E27FC236}">
                        <a16:creationId xmlns:a16="http://schemas.microsoft.com/office/drawing/2014/main" id="{0D95B5A8-51CB-C1B8-0EE8-490FEB627F03}"/>
                      </a:ext>
                    </a:extLst>
                  </p:cNvPr>
                  <p:cNvSpPr/>
                  <p:nvPr/>
                </p:nvSpPr>
                <p:spPr>
                  <a:xfrm>
                    <a:off x="5027735" y="3976273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consumer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9" name="직선 화살표 연결선 8">
                    <a:extLst>
                      <a:ext uri="{FF2B5EF4-FFF2-40B4-BE49-F238E27FC236}">
                        <a16:creationId xmlns:a16="http://schemas.microsoft.com/office/drawing/2014/main" id="{6A6F2032-6736-1BAB-0840-B8BB1FA90D94}"/>
                      </a:ext>
                    </a:extLst>
                  </p:cNvPr>
                  <p:cNvCxnSpPr>
                    <a:cxnSpLocks/>
                    <a:stCxn id="7" idx="3"/>
                    <a:endCxn id="16" idx="0"/>
                  </p:cNvCxnSpPr>
                  <p:nvPr/>
                </p:nvCxnSpPr>
                <p:spPr>
                  <a:xfrm>
                    <a:off x="5541086" y="1965865"/>
                    <a:ext cx="0" cy="58579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" name="순서도: 자기 디스크 9">
                    <a:extLst>
                      <a:ext uri="{FF2B5EF4-FFF2-40B4-BE49-F238E27FC236}">
                        <a16:creationId xmlns:a16="http://schemas.microsoft.com/office/drawing/2014/main" id="{2C34ACFE-8A24-CA0A-E4C8-322DA80261C0}"/>
                      </a:ext>
                    </a:extLst>
                  </p:cNvPr>
                  <p:cNvSpPr/>
                  <p:nvPr/>
                </p:nvSpPr>
                <p:spPr>
                  <a:xfrm>
                    <a:off x="6477647" y="1237514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producer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" name="순서도: 자기 디스크 10">
                    <a:extLst>
                      <a:ext uri="{FF2B5EF4-FFF2-40B4-BE49-F238E27FC236}">
                        <a16:creationId xmlns:a16="http://schemas.microsoft.com/office/drawing/2014/main" id="{DE4A89C5-2B4F-352D-9A9B-1021F38E7470}"/>
                      </a:ext>
                    </a:extLst>
                  </p:cNvPr>
                  <p:cNvSpPr/>
                  <p:nvPr/>
                </p:nvSpPr>
                <p:spPr>
                  <a:xfrm>
                    <a:off x="6529677" y="3942722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consumer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12" name="직선 화살표 연결선 11">
                    <a:extLst>
                      <a:ext uri="{FF2B5EF4-FFF2-40B4-BE49-F238E27FC236}">
                        <a16:creationId xmlns:a16="http://schemas.microsoft.com/office/drawing/2014/main" id="{03C0D808-709D-EAC3-5926-60F679BDD040}"/>
                      </a:ext>
                    </a:extLst>
                  </p:cNvPr>
                  <p:cNvCxnSpPr>
                    <a:cxnSpLocks/>
                    <a:stCxn id="10" idx="3"/>
                  </p:cNvCxnSpPr>
                  <p:nvPr/>
                </p:nvCxnSpPr>
                <p:spPr>
                  <a:xfrm flipH="1">
                    <a:off x="6477647" y="1964135"/>
                    <a:ext cx="554914" cy="58579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순서도: 자기 디스크 12">
                    <a:extLst>
                      <a:ext uri="{FF2B5EF4-FFF2-40B4-BE49-F238E27FC236}">
                        <a16:creationId xmlns:a16="http://schemas.microsoft.com/office/drawing/2014/main" id="{6ACA6079-75CC-482E-3528-13190909AAC4}"/>
                      </a:ext>
                    </a:extLst>
                  </p:cNvPr>
                  <p:cNvSpPr/>
                  <p:nvPr/>
                </p:nvSpPr>
                <p:spPr>
                  <a:xfrm>
                    <a:off x="3444318" y="1240109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producer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4" name="순서도: 자기 디스크 13">
                    <a:extLst>
                      <a:ext uri="{FF2B5EF4-FFF2-40B4-BE49-F238E27FC236}">
                        <a16:creationId xmlns:a16="http://schemas.microsoft.com/office/drawing/2014/main" id="{CD31644A-71DD-D11E-A9FB-9ADB2977135B}"/>
                      </a:ext>
                    </a:extLst>
                  </p:cNvPr>
                  <p:cNvSpPr/>
                  <p:nvPr/>
                </p:nvSpPr>
                <p:spPr>
                  <a:xfrm>
                    <a:off x="3442669" y="3976273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consumer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15" name="직선 화살표 연결선 14">
                    <a:extLst>
                      <a:ext uri="{FF2B5EF4-FFF2-40B4-BE49-F238E27FC236}">
                        <a16:creationId xmlns:a16="http://schemas.microsoft.com/office/drawing/2014/main" id="{49E0FA0C-D676-C340-D7C9-017ED7A5DCDB}"/>
                      </a:ext>
                    </a:extLst>
                  </p:cNvPr>
                  <p:cNvCxnSpPr>
                    <a:cxnSpLocks/>
                    <a:stCxn id="13" idx="3"/>
                  </p:cNvCxnSpPr>
                  <p:nvPr/>
                </p:nvCxnSpPr>
                <p:spPr>
                  <a:xfrm>
                    <a:off x="3999232" y="1966730"/>
                    <a:ext cx="680100" cy="583204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E21EBEB7-0BB5-B62A-021C-DD08E8750BD4}"/>
                      </a:ext>
                    </a:extLst>
                  </p:cNvPr>
                  <p:cNvSpPr/>
                  <p:nvPr/>
                </p:nvSpPr>
                <p:spPr>
                  <a:xfrm>
                    <a:off x="3827300" y="2551664"/>
                    <a:ext cx="3427572" cy="902396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2000" dirty="0">
                        <a:solidFill>
                          <a:schemeClr val="tx1"/>
                        </a:solidFill>
                      </a:rPr>
                      <a:t>Kafka</a:t>
                    </a:r>
                    <a:endParaRPr lang="en-US" altLang="ko-KR" sz="320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US" altLang="ko-KR" sz="320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17" name="직선 화살표 연결선 16">
                    <a:extLst>
                      <a:ext uri="{FF2B5EF4-FFF2-40B4-BE49-F238E27FC236}">
                        <a16:creationId xmlns:a16="http://schemas.microsoft.com/office/drawing/2014/main" id="{D6C19F02-9C6F-F34E-74F3-897C102523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82649" y="3461656"/>
                    <a:ext cx="0" cy="58579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직선 화살표 연결선 17">
                    <a:extLst>
                      <a:ext uri="{FF2B5EF4-FFF2-40B4-BE49-F238E27FC236}">
                        <a16:creationId xmlns:a16="http://schemas.microsoft.com/office/drawing/2014/main" id="{193CC186-CA9C-162E-11BD-BC0F6FA16007}"/>
                      </a:ext>
                    </a:extLst>
                  </p:cNvPr>
                  <p:cNvCxnSpPr>
                    <a:cxnSpLocks/>
                    <a:endCxn id="11" idx="1"/>
                  </p:cNvCxnSpPr>
                  <p:nvPr/>
                </p:nvCxnSpPr>
                <p:spPr>
                  <a:xfrm>
                    <a:off x="6359979" y="3454060"/>
                    <a:ext cx="724612" cy="48866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직선 화살표 연결선 18">
                    <a:extLst>
                      <a:ext uri="{FF2B5EF4-FFF2-40B4-BE49-F238E27FC236}">
                        <a16:creationId xmlns:a16="http://schemas.microsoft.com/office/drawing/2014/main" id="{8AFAF815-48BF-D646-A8DB-CC0E4CBC6BDD}"/>
                      </a:ext>
                    </a:extLst>
                  </p:cNvPr>
                  <p:cNvCxnSpPr>
                    <a:cxnSpLocks/>
                    <a:endCxn id="14" idx="1"/>
                  </p:cNvCxnSpPr>
                  <p:nvPr/>
                </p:nvCxnSpPr>
                <p:spPr>
                  <a:xfrm flipH="1">
                    <a:off x="3997583" y="3441530"/>
                    <a:ext cx="777886" cy="53474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E699F2CE-63A9-47EA-E141-F7213BA50CA5}"/>
                    </a:ext>
                  </a:extLst>
                </p:cNvPr>
                <p:cNvSpPr/>
                <p:nvPr/>
              </p:nvSpPr>
              <p:spPr>
                <a:xfrm>
                  <a:off x="3598317" y="3965020"/>
                  <a:ext cx="1437971" cy="22458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Zookeeper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2" name="직선 화살표 연결선 21">
                  <a:extLst>
                    <a:ext uri="{FF2B5EF4-FFF2-40B4-BE49-F238E27FC236}">
                      <a16:creationId xmlns:a16="http://schemas.microsoft.com/office/drawing/2014/main" id="{A0E3756D-D35C-DC42-803B-D8DD114AB467}"/>
                    </a:ext>
                  </a:extLst>
                </p:cNvPr>
                <p:cNvCxnSpPr>
                  <a:cxnSpLocks/>
                  <a:stCxn id="20" idx="3"/>
                  <a:endCxn id="16" idx="1"/>
                </p:cNvCxnSpPr>
                <p:nvPr/>
              </p:nvCxnSpPr>
              <p:spPr>
                <a:xfrm>
                  <a:off x="5036288" y="4077312"/>
                  <a:ext cx="284400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B9B897B5-3E20-14F7-B162-30CB7A57FA1E}"/>
                  </a:ext>
                </a:extLst>
              </p:cNvPr>
              <p:cNvSpPr/>
              <p:nvPr/>
            </p:nvSpPr>
            <p:spPr>
              <a:xfrm>
                <a:off x="7142444" y="3332817"/>
                <a:ext cx="1226034" cy="3662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Broker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CFEFFC1D-FC03-D921-3627-F0FA76849E7B}"/>
                  </a:ext>
                </a:extLst>
              </p:cNvPr>
              <p:cNvSpPr/>
              <p:nvPr/>
            </p:nvSpPr>
            <p:spPr>
              <a:xfrm>
                <a:off x="8517576" y="3332817"/>
                <a:ext cx="1226034" cy="3662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Broker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EE604844-5ACF-21D2-152E-C2F263755CCC}"/>
                  </a:ext>
                </a:extLst>
              </p:cNvPr>
              <p:cNvSpPr/>
              <p:nvPr/>
            </p:nvSpPr>
            <p:spPr>
              <a:xfrm>
                <a:off x="9955198" y="3332817"/>
                <a:ext cx="1226034" cy="3662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Broker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AC82AF8-4A44-69DA-6FBC-F64EF0E2C271}"/>
                </a:ext>
              </a:extLst>
            </p:cNvPr>
            <p:cNvSpPr/>
            <p:nvPr/>
          </p:nvSpPr>
          <p:spPr>
            <a:xfrm>
              <a:off x="7601363" y="3732045"/>
              <a:ext cx="843171" cy="2513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Broker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C6686305-6FD7-5741-29D0-A7FBB36CDB6E}"/>
                </a:ext>
              </a:extLst>
            </p:cNvPr>
            <p:cNvSpPr/>
            <p:nvPr/>
          </p:nvSpPr>
          <p:spPr>
            <a:xfrm>
              <a:off x="8556188" y="3735069"/>
              <a:ext cx="843171" cy="2513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Broker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BA7CDC8-F385-CB12-BC24-E67F675C1616}"/>
                </a:ext>
              </a:extLst>
            </p:cNvPr>
            <p:cNvSpPr/>
            <p:nvPr/>
          </p:nvSpPr>
          <p:spPr>
            <a:xfrm>
              <a:off x="9535757" y="3716909"/>
              <a:ext cx="843171" cy="2513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Broker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863250B0-3CD2-521C-FE3B-B234E7AF95EC}"/>
              </a:ext>
            </a:extLst>
          </p:cNvPr>
          <p:cNvGrpSpPr/>
          <p:nvPr/>
        </p:nvGrpSpPr>
        <p:grpSpPr>
          <a:xfrm>
            <a:off x="6096000" y="1669013"/>
            <a:ext cx="5062391" cy="3465380"/>
            <a:chOff x="4070502" y="2311965"/>
            <a:chExt cx="5062391" cy="3465380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FD2CB2CF-1B69-FC91-D4A6-9430B3895DAD}"/>
                </a:ext>
              </a:extLst>
            </p:cNvPr>
            <p:cNvGrpSpPr/>
            <p:nvPr/>
          </p:nvGrpSpPr>
          <p:grpSpPr>
            <a:xfrm>
              <a:off x="4936057" y="2311965"/>
              <a:ext cx="4196836" cy="3465380"/>
              <a:chOff x="3442669" y="1237514"/>
              <a:chExt cx="4196836" cy="3465380"/>
            </a:xfrm>
          </p:grpSpPr>
          <p:sp>
            <p:nvSpPr>
              <p:cNvPr id="46" name="순서도: 자기 디스크 45">
                <a:extLst>
                  <a:ext uri="{FF2B5EF4-FFF2-40B4-BE49-F238E27FC236}">
                    <a16:creationId xmlns:a16="http://schemas.microsoft.com/office/drawing/2014/main" id="{0CA79FBE-4B8F-A202-F954-67AF345C4002}"/>
                  </a:ext>
                </a:extLst>
              </p:cNvPr>
              <p:cNvSpPr/>
              <p:nvPr/>
            </p:nvSpPr>
            <p:spPr>
              <a:xfrm>
                <a:off x="4986172" y="1239244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순서도: 자기 디스크 46">
                <a:extLst>
                  <a:ext uri="{FF2B5EF4-FFF2-40B4-BE49-F238E27FC236}">
                    <a16:creationId xmlns:a16="http://schemas.microsoft.com/office/drawing/2014/main" id="{21440637-26A6-4F4D-A1D6-CCBEF266E9C2}"/>
                  </a:ext>
                </a:extLst>
              </p:cNvPr>
              <p:cNvSpPr/>
              <p:nvPr/>
            </p:nvSpPr>
            <p:spPr>
              <a:xfrm>
                <a:off x="5027735" y="3976273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AC00A14C-B0DF-14D7-F964-60C6A4951A43}"/>
                  </a:ext>
                </a:extLst>
              </p:cNvPr>
              <p:cNvCxnSpPr>
                <a:cxnSpLocks/>
                <a:stCxn id="46" idx="3"/>
                <a:endCxn id="55" idx="0"/>
              </p:cNvCxnSpPr>
              <p:nvPr/>
            </p:nvCxnSpPr>
            <p:spPr>
              <a:xfrm>
                <a:off x="5541086" y="1965865"/>
                <a:ext cx="0" cy="5857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순서도: 자기 디스크 48">
                <a:extLst>
                  <a:ext uri="{FF2B5EF4-FFF2-40B4-BE49-F238E27FC236}">
                    <a16:creationId xmlns:a16="http://schemas.microsoft.com/office/drawing/2014/main" id="{6F70FFB2-CFDE-C244-5EDA-4789D969C3EC}"/>
                  </a:ext>
                </a:extLst>
              </p:cNvPr>
              <p:cNvSpPr/>
              <p:nvPr/>
            </p:nvSpPr>
            <p:spPr>
              <a:xfrm>
                <a:off x="6477647" y="1237514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순서도: 자기 디스크 49">
                <a:extLst>
                  <a:ext uri="{FF2B5EF4-FFF2-40B4-BE49-F238E27FC236}">
                    <a16:creationId xmlns:a16="http://schemas.microsoft.com/office/drawing/2014/main" id="{59DE194B-EBD3-7B0F-D89F-8EA75DBF59DF}"/>
                  </a:ext>
                </a:extLst>
              </p:cNvPr>
              <p:cNvSpPr/>
              <p:nvPr/>
            </p:nvSpPr>
            <p:spPr>
              <a:xfrm>
                <a:off x="6529677" y="3942722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1" name="직선 화살표 연결선 50">
                <a:extLst>
                  <a:ext uri="{FF2B5EF4-FFF2-40B4-BE49-F238E27FC236}">
                    <a16:creationId xmlns:a16="http://schemas.microsoft.com/office/drawing/2014/main" id="{D973BCF5-A269-52A1-77CE-B78FEAC13897}"/>
                  </a:ext>
                </a:extLst>
              </p:cNvPr>
              <p:cNvCxnSpPr>
                <a:cxnSpLocks/>
                <a:stCxn id="49" idx="3"/>
              </p:cNvCxnSpPr>
              <p:nvPr/>
            </p:nvCxnSpPr>
            <p:spPr>
              <a:xfrm flipH="1">
                <a:off x="6477647" y="1964135"/>
                <a:ext cx="554914" cy="5857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순서도: 자기 디스크 51">
                <a:extLst>
                  <a:ext uri="{FF2B5EF4-FFF2-40B4-BE49-F238E27FC236}">
                    <a16:creationId xmlns:a16="http://schemas.microsoft.com/office/drawing/2014/main" id="{4D5A16AF-9A1F-0BD5-ECB3-4B8075FBFECB}"/>
                  </a:ext>
                </a:extLst>
              </p:cNvPr>
              <p:cNvSpPr/>
              <p:nvPr/>
            </p:nvSpPr>
            <p:spPr>
              <a:xfrm>
                <a:off x="3444318" y="1240109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순서도: 자기 디스크 52">
                <a:extLst>
                  <a:ext uri="{FF2B5EF4-FFF2-40B4-BE49-F238E27FC236}">
                    <a16:creationId xmlns:a16="http://schemas.microsoft.com/office/drawing/2014/main" id="{A1E841CC-C772-1D73-A138-FE40FD78554F}"/>
                  </a:ext>
                </a:extLst>
              </p:cNvPr>
              <p:cNvSpPr/>
              <p:nvPr/>
            </p:nvSpPr>
            <p:spPr>
              <a:xfrm>
                <a:off x="3442669" y="3976273"/>
                <a:ext cx="1109828" cy="726621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4" name="직선 화살표 연결선 53">
                <a:extLst>
                  <a:ext uri="{FF2B5EF4-FFF2-40B4-BE49-F238E27FC236}">
                    <a16:creationId xmlns:a16="http://schemas.microsoft.com/office/drawing/2014/main" id="{17DE7EE5-7E6B-760C-EA4D-2DE96D413866}"/>
                  </a:ext>
                </a:extLst>
              </p:cNvPr>
              <p:cNvCxnSpPr>
                <a:cxnSpLocks/>
                <a:stCxn id="52" idx="3"/>
              </p:cNvCxnSpPr>
              <p:nvPr/>
            </p:nvCxnSpPr>
            <p:spPr>
              <a:xfrm>
                <a:off x="3999232" y="1966730"/>
                <a:ext cx="680100" cy="58320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66DC5EBA-DEB0-0A52-9F9C-B51FFEB3BABB}"/>
                  </a:ext>
                </a:extLst>
              </p:cNvPr>
              <p:cNvSpPr/>
              <p:nvPr/>
            </p:nvSpPr>
            <p:spPr>
              <a:xfrm>
                <a:off x="4222204" y="2551664"/>
                <a:ext cx="2637764" cy="90239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3200" dirty="0">
                    <a:solidFill>
                      <a:schemeClr val="tx1"/>
                    </a:solidFill>
                  </a:rPr>
                  <a:t>Kafka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6" name="직선 화살표 연결선 55">
                <a:extLst>
                  <a:ext uri="{FF2B5EF4-FFF2-40B4-BE49-F238E27FC236}">
                    <a16:creationId xmlns:a16="http://schemas.microsoft.com/office/drawing/2014/main" id="{B71D959C-A96B-3EB1-7BA3-4557A9519B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2649" y="3461656"/>
                <a:ext cx="0" cy="5857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직선 화살표 연결선 56">
                <a:extLst>
                  <a:ext uri="{FF2B5EF4-FFF2-40B4-BE49-F238E27FC236}">
                    <a16:creationId xmlns:a16="http://schemas.microsoft.com/office/drawing/2014/main" id="{BE4A99E6-7CB3-89EF-4D42-FA580688C825}"/>
                  </a:ext>
                </a:extLst>
              </p:cNvPr>
              <p:cNvCxnSpPr>
                <a:cxnSpLocks/>
                <a:endCxn id="50" idx="1"/>
              </p:cNvCxnSpPr>
              <p:nvPr/>
            </p:nvCxnSpPr>
            <p:spPr>
              <a:xfrm>
                <a:off x="6359979" y="3454060"/>
                <a:ext cx="724612" cy="4886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직선 화살표 연결선 57">
                <a:extLst>
                  <a:ext uri="{FF2B5EF4-FFF2-40B4-BE49-F238E27FC236}">
                    <a16:creationId xmlns:a16="http://schemas.microsoft.com/office/drawing/2014/main" id="{098EC06F-616B-186C-2A76-0AB412ED267D}"/>
                  </a:ext>
                </a:extLst>
              </p:cNvPr>
              <p:cNvCxnSpPr>
                <a:cxnSpLocks/>
                <a:endCxn id="53" idx="1"/>
              </p:cNvCxnSpPr>
              <p:nvPr/>
            </p:nvCxnSpPr>
            <p:spPr>
              <a:xfrm flipH="1">
                <a:off x="3997583" y="3441530"/>
                <a:ext cx="777886" cy="5347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034AF5CF-BE78-FAA6-C4DB-649001C7476E}"/>
                </a:ext>
              </a:extLst>
            </p:cNvPr>
            <p:cNvSpPr/>
            <p:nvPr/>
          </p:nvSpPr>
          <p:spPr>
            <a:xfrm>
              <a:off x="4070502" y="3942298"/>
              <a:ext cx="1420467" cy="2795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Zookeeper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77D53F0B-00A0-4FAF-F761-7CC4800E1497}"/>
                </a:ext>
              </a:extLst>
            </p:cNvPr>
            <p:cNvCxnSpPr>
              <a:stCxn id="44" idx="3"/>
              <a:endCxn id="55" idx="1"/>
            </p:cNvCxnSpPr>
            <p:nvPr/>
          </p:nvCxnSpPr>
          <p:spPr>
            <a:xfrm flipV="1">
              <a:off x="5490969" y="4077313"/>
              <a:ext cx="224623" cy="474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2239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8AA80-2869-EB37-B5DC-8B6AFD97E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Broker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6B7A01-182D-0DA2-FFBD-B1A44B6ED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0F8501-9430-9FF4-66CA-7CC65BE0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B10B84B-B1C8-7533-ABD6-C7A6A8806D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868F5AA-9A44-5EEF-974D-75C9C719E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141" y="1763983"/>
            <a:ext cx="8842439" cy="392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84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C80947-CA47-E604-25A0-CBC31A50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Topic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7D48D6-0B9A-83C1-78A6-4012CCA52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데이터를 분류하고 저장하기 위한 논리적인 공감</a:t>
            </a:r>
            <a:r>
              <a:rPr lang="en-US" altLang="ko-KR" dirty="0"/>
              <a:t>(</a:t>
            </a:r>
            <a:r>
              <a:rPr lang="ko-KR" altLang="en-US" dirty="0" err="1"/>
              <a:t>주문토픽</a:t>
            </a:r>
            <a:r>
              <a:rPr lang="en-US" altLang="ko-KR" dirty="0"/>
              <a:t>, </a:t>
            </a:r>
            <a:r>
              <a:rPr lang="ko-KR" altLang="en-US" dirty="0" err="1"/>
              <a:t>로그토픽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하나의 토픽에 여러 프로듀서들이 데이터 전송 가능</a:t>
            </a:r>
            <a:endParaRPr lang="en-US" altLang="ko-KR" dirty="0"/>
          </a:p>
          <a:p>
            <a:r>
              <a:rPr lang="ko-KR" altLang="en-US" dirty="0"/>
              <a:t>여러 </a:t>
            </a:r>
            <a:r>
              <a:rPr lang="ko-KR" altLang="en-US" dirty="0" err="1"/>
              <a:t>컨슈머들이</a:t>
            </a:r>
            <a:r>
              <a:rPr lang="ko-KR" altLang="en-US" dirty="0"/>
              <a:t> 하나의 토픽에서 데이터 읽기 가능</a:t>
            </a:r>
            <a:endParaRPr lang="en-US" altLang="ko-KR" dirty="0"/>
          </a:p>
          <a:p>
            <a:r>
              <a:rPr lang="ko-KR" altLang="en-US" dirty="0"/>
              <a:t>토픽은 파티션으로 나뉘어 분산 저장됨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68DB08-9A3F-5CD6-FDF5-F312E36F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45C7568-A0ED-24ED-DC15-C64708ACD1F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FDDE06E-9ACF-A76B-B05F-D71F9E16A2B9}"/>
              </a:ext>
            </a:extLst>
          </p:cNvPr>
          <p:cNvGrpSpPr/>
          <p:nvPr/>
        </p:nvGrpSpPr>
        <p:grpSpPr>
          <a:xfrm>
            <a:off x="6137563" y="1773247"/>
            <a:ext cx="5392443" cy="3746646"/>
            <a:chOff x="5651380" y="1633491"/>
            <a:chExt cx="5392443" cy="3746646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64031C75-0D0B-15A3-21A0-BB7144459D13}"/>
                </a:ext>
              </a:extLst>
            </p:cNvPr>
            <p:cNvGrpSpPr/>
            <p:nvPr/>
          </p:nvGrpSpPr>
          <p:grpSpPr>
            <a:xfrm>
              <a:off x="5651380" y="1633491"/>
              <a:ext cx="5392443" cy="3746646"/>
              <a:chOff x="4307021" y="777494"/>
              <a:chExt cx="7841018" cy="5458640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BA1CF172-1B64-6122-EC37-23A2B24CFBA9}"/>
                  </a:ext>
                </a:extLst>
              </p:cNvPr>
              <p:cNvGrpSpPr/>
              <p:nvPr/>
            </p:nvGrpSpPr>
            <p:grpSpPr>
              <a:xfrm>
                <a:off x="4307021" y="777494"/>
                <a:ext cx="7841018" cy="5458640"/>
                <a:chOff x="3598317" y="2311965"/>
                <a:chExt cx="5534576" cy="3465380"/>
              </a:xfrm>
            </p:grpSpPr>
            <p:grpSp>
              <p:nvGrpSpPr>
                <p:cNvPr id="16" name="그룹 15">
                  <a:extLst>
                    <a:ext uri="{FF2B5EF4-FFF2-40B4-BE49-F238E27FC236}">
                      <a16:creationId xmlns:a16="http://schemas.microsoft.com/office/drawing/2014/main" id="{4C8E50EC-A42C-6DD7-E367-2BFAAC0EA715}"/>
                    </a:ext>
                  </a:extLst>
                </p:cNvPr>
                <p:cNvGrpSpPr/>
                <p:nvPr/>
              </p:nvGrpSpPr>
              <p:grpSpPr>
                <a:xfrm>
                  <a:off x="4936057" y="2311965"/>
                  <a:ext cx="4196836" cy="3465380"/>
                  <a:chOff x="3442669" y="1237514"/>
                  <a:chExt cx="4196836" cy="3465380"/>
                </a:xfrm>
              </p:grpSpPr>
              <p:sp>
                <p:nvSpPr>
                  <p:cNvPr id="19" name="순서도: 자기 디스크 18">
                    <a:extLst>
                      <a:ext uri="{FF2B5EF4-FFF2-40B4-BE49-F238E27FC236}">
                        <a16:creationId xmlns:a16="http://schemas.microsoft.com/office/drawing/2014/main" id="{5714D781-BCC1-2CE4-B6C3-63312C067BB9}"/>
                      </a:ext>
                    </a:extLst>
                  </p:cNvPr>
                  <p:cNvSpPr/>
                  <p:nvPr/>
                </p:nvSpPr>
                <p:spPr>
                  <a:xfrm>
                    <a:off x="4986172" y="1239244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producer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" name="순서도: 자기 디스크 19">
                    <a:extLst>
                      <a:ext uri="{FF2B5EF4-FFF2-40B4-BE49-F238E27FC236}">
                        <a16:creationId xmlns:a16="http://schemas.microsoft.com/office/drawing/2014/main" id="{4E6673D9-A790-2E28-6185-1389D029E09D}"/>
                      </a:ext>
                    </a:extLst>
                  </p:cNvPr>
                  <p:cNvSpPr/>
                  <p:nvPr/>
                </p:nvSpPr>
                <p:spPr>
                  <a:xfrm>
                    <a:off x="5027735" y="3976273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consumer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1" name="직선 화살표 연결선 20">
                    <a:extLst>
                      <a:ext uri="{FF2B5EF4-FFF2-40B4-BE49-F238E27FC236}">
                        <a16:creationId xmlns:a16="http://schemas.microsoft.com/office/drawing/2014/main" id="{D8C63094-522A-DB57-216A-25A59E4376FB}"/>
                      </a:ext>
                    </a:extLst>
                  </p:cNvPr>
                  <p:cNvCxnSpPr>
                    <a:cxnSpLocks/>
                    <a:stCxn id="19" idx="3"/>
                    <a:endCxn id="28" idx="0"/>
                  </p:cNvCxnSpPr>
                  <p:nvPr/>
                </p:nvCxnSpPr>
                <p:spPr>
                  <a:xfrm>
                    <a:off x="5541086" y="1965865"/>
                    <a:ext cx="0" cy="58579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" name="순서도: 자기 디스크 21">
                    <a:extLst>
                      <a:ext uri="{FF2B5EF4-FFF2-40B4-BE49-F238E27FC236}">
                        <a16:creationId xmlns:a16="http://schemas.microsoft.com/office/drawing/2014/main" id="{F7311135-D5C1-8909-9AE4-92B71AE3F3EC}"/>
                      </a:ext>
                    </a:extLst>
                  </p:cNvPr>
                  <p:cNvSpPr/>
                  <p:nvPr/>
                </p:nvSpPr>
                <p:spPr>
                  <a:xfrm>
                    <a:off x="6477647" y="1237514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producer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" name="순서도: 자기 디스크 22">
                    <a:extLst>
                      <a:ext uri="{FF2B5EF4-FFF2-40B4-BE49-F238E27FC236}">
                        <a16:creationId xmlns:a16="http://schemas.microsoft.com/office/drawing/2014/main" id="{909727B8-9765-F12C-2FAF-418E7363C708}"/>
                      </a:ext>
                    </a:extLst>
                  </p:cNvPr>
                  <p:cNvSpPr/>
                  <p:nvPr/>
                </p:nvSpPr>
                <p:spPr>
                  <a:xfrm>
                    <a:off x="6529677" y="3942722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consumer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4" name="직선 화살표 연결선 23">
                    <a:extLst>
                      <a:ext uri="{FF2B5EF4-FFF2-40B4-BE49-F238E27FC236}">
                        <a16:creationId xmlns:a16="http://schemas.microsoft.com/office/drawing/2014/main" id="{FEAD05BE-DD5C-BDDD-ABBC-25878DB45F15}"/>
                      </a:ext>
                    </a:extLst>
                  </p:cNvPr>
                  <p:cNvCxnSpPr>
                    <a:cxnSpLocks/>
                    <a:stCxn id="22" idx="3"/>
                  </p:cNvCxnSpPr>
                  <p:nvPr/>
                </p:nvCxnSpPr>
                <p:spPr>
                  <a:xfrm flipH="1">
                    <a:off x="6477647" y="1964135"/>
                    <a:ext cx="554914" cy="58579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" name="순서도: 자기 디스크 24">
                    <a:extLst>
                      <a:ext uri="{FF2B5EF4-FFF2-40B4-BE49-F238E27FC236}">
                        <a16:creationId xmlns:a16="http://schemas.microsoft.com/office/drawing/2014/main" id="{ABF6C547-2902-6338-139B-4B293325B8E4}"/>
                      </a:ext>
                    </a:extLst>
                  </p:cNvPr>
                  <p:cNvSpPr/>
                  <p:nvPr/>
                </p:nvSpPr>
                <p:spPr>
                  <a:xfrm>
                    <a:off x="3444318" y="1240109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producer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" name="순서도: 자기 디스크 25">
                    <a:extLst>
                      <a:ext uri="{FF2B5EF4-FFF2-40B4-BE49-F238E27FC236}">
                        <a16:creationId xmlns:a16="http://schemas.microsoft.com/office/drawing/2014/main" id="{E2213213-DB30-048D-FF44-86A8A8DF3E4A}"/>
                      </a:ext>
                    </a:extLst>
                  </p:cNvPr>
                  <p:cNvSpPr/>
                  <p:nvPr/>
                </p:nvSpPr>
                <p:spPr>
                  <a:xfrm>
                    <a:off x="3442669" y="3976273"/>
                    <a:ext cx="1109828" cy="726621"/>
                  </a:xfrm>
                  <a:prstGeom prst="flowChartMagneticDisk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consumer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7" name="직선 화살표 연결선 26">
                    <a:extLst>
                      <a:ext uri="{FF2B5EF4-FFF2-40B4-BE49-F238E27FC236}">
                        <a16:creationId xmlns:a16="http://schemas.microsoft.com/office/drawing/2014/main" id="{F1A90E14-6A59-1D54-FB65-F001DAC5CA34}"/>
                      </a:ext>
                    </a:extLst>
                  </p:cNvPr>
                  <p:cNvCxnSpPr>
                    <a:cxnSpLocks/>
                    <a:stCxn id="25" idx="3"/>
                  </p:cNvCxnSpPr>
                  <p:nvPr/>
                </p:nvCxnSpPr>
                <p:spPr>
                  <a:xfrm>
                    <a:off x="3999232" y="1966730"/>
                    <a:ext cx="680100" cy="583204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직사각형 27">
                    <a:extLst>
                      <a:ext uri="{FF2B5EF4-FFF2-40B4-BE49-F238E27FC236}">
                        <a16:creationId xmlns:a16="http://schemas.microsoft.com/office/drawing/2014/main" id="{27CDF4EA-B0A6-2761-9C04-5E12488160BE}"/>
                      </a:ext>
                    </a:extLst>
                  </p:cNvPr>
                  <p:cNvSpPr/>
                  <p:nvPr/>
                </p:nvSpPr>
                <p:spPr>
                  <a:xfrm>
                    <a:off x="3827300" y="2551664"/>
                    <a:ext cx="3427572" cy="902396"/>
                  </a:xfrm>
                  <a:prstGeom prst="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2000" dirty="0">
                        <a:solidFill>
                          <a:schemeClr val="tx1"/>
                        </a:solidFill>
                      </a:rPr>
                      <a:t>Kafka</a:t>
                    </a:r>
                    <a:endParaRPr lang="en-US" altLang="ko-KR" sz="320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en-US" altLang="ko-KR" sz="3200" dirty="0">
                      <a:solidFill>
                        <a:schemeClr val="tx1"/>
                      </a:solidFill>
                    </a:endParaRPr>
                  </a:p>
                  <a:p>
                    <a:pPr algn="ctr"/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  <p:cxnSp>
                <p:nvCxnSpPr>
                  <p:cNvPr id="29" name="직선 화살표 연결선 28">
                    <a:extLst>
                      <a:ext uri="{FF2B5EF4-FFF2-40B4-BE49-F238E27FC236}">
                        <a16:creationId xmlns:a16="http://schemas.microsoft.com/office/drawing/2014/main" id="{9D6771AC-F796-47EE-1EF9-A0C52DC547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582649" y="3461656"/>
                    <a:ext cx="0" cy="585799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직선 화살표 연결선 29">
                    <a:extLst>
                      <a:ext uri="{FF2B5EF4-FFF2-40B4-BE49-F238E27FC236}">
                        <a16:creationId xmlns:a16="http://schemas.microsoft.com/office/drawing/2014/main" id="{A29867F6-B2F4-7652-08DC-1F8B815647B3}"/>
                      </a:ext>
                    </a:extLst>
                  </p:cNvPr>
                  <p:cNvCxnSpPr>
                    <a:cxnSpLocks/>
                    <a:endCxn id="23" idx="1"/>
                  </p:cNvCxnSpPr>
                  <p:nvPr/>
                </p:nvCxnSpPr>
                <p:spPr>
                  <a:xfrm>
                    <a:off x="6359979" y="3454060"/>
                    <a:ext cx="724612" cy="488662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직선 화살표 연결선 30">
                    <a:extLst>
                      <a:ext uri="{FF2B5EF4-FFF2-40B4-BE49-F238E27FC236}">
                        <a16:creationId xmlns:a16="http://schemas.microsoft.com/office/drawing/2014/main" id="{B54A80AD-11FA-A227-919F-C303982FCD1E}"/>
                      </a:ext>
                    </a:extLst>
                  </p:cNvPr>
                  <p:cNvCxnSpPr>
                    <a:cxnSpLocks/>
                    <a:endCxn id="26" idx="1"/>
                  </p:cNvCxnSpPr>
                  <p:nvPr/>
                </p:nvCxnSpPr>
                <p:spPr>
                  <a:xfrm flipH="1">
                    <a:off x="3997583" y="3441530"/>
                    <a:ext cx="777886" cy="534743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5B69777E-4053-E6FC-9992-30AE0CE5664D}"/>
                    </a:ext>
                  </a:extLst>
                </p:cNvPr>
                <p:cNvSpPr/>
                <p:nvPr/>
              </p:nvSpPr>
              <p:spPr>
                <a:xfrm>
                  <a:off x="3598317" y="3965020"/>
                  <a:ext cx="1437971" cy="22458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Zookeeper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8" name="직선 화살표 연결선 17">
                  <a:extLst>
                    <a:ext uri="{FF2B5EF4-FFF2-40B4-BE49-F238E27FC236}">
                      <a16:creationId xmlns:a16="http://schemas.microsoft.com/office/drawing/2014/main" id="{CB4F0504-34EA-C288-6F59-B27AEFE0F0D9}"/>
                    </a:ext>
                  </a:extLst>
                </p:cNvPr>
                <p:cNvCxnSpPr>
                  <a:cxnSpLocks/>
                  <a:stCxn id="17" idx="3"/>
                  <a:endCxn id="28" idx="1"/>
                </p:cNvCxnSpPr>
                <p:nvPr/>
              </p:nvCxnSpPr>
              <p:spPr>
                <a:xfrm>
                  <a:off x="5036288" y="4077312"/>
                  <a:ext cx="284400" cy="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E331B6C-3543-BA1B-5493-539444F9112B}"/>
                  </a:ext>
                </a:extLst>
              </p:cNvPr>
              <p:cNvSpPr/>
              <p:nvPr/>
            </p:nvSpPr>
            <p:spPr>
              <a:xfrm>
                <a:off x="7142444" y="3332817"/>
                <a:ext cx="1226034" cy="3662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Broker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FBD5D18-D7B9-1A4F-4BDC-147000A12CA1}"/>
                  </a:ext>
                </a:extLst>
              </p:cNvPr>
              <p:cNvSpPr/>
              <p:nvPr/>
            </p:nvSpPr>
            <p:spPr>
              <a:xfrm>
                <a:off x="8517576" y="3332817"/>
                <a:ext cx="1226034" cy="3662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Broker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260808B5-E443-7327-B071-F2BE1BD0BD50}"/>
                  </a:ext>
                </a:extLst>
              </p:cNvPr>
              <p:cNvSpPr/>
              <p:nvPr/>
            </p:nvSpPr>
            <p:spPr>
              <a:xfrm>
                <a:off x="9955198" y="3332817"/>
                <a:ext cx="1226034" cy="36627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Broker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BA7C61F-4D90-1EDD-C7AD-C0AF9102F6FB}"/>
                </a:ext>
              </a:extLst>
            </p:cNvPr>
            <p:cNvSpPr/>
            <p:nvPr/>
          </p:nvSpPr>
          <p:spPr>
            <a:xfrm>
              <a:off x="7601363" y="3732045"/>
              <a:ext cx="843171" cy="2513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Broker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5A24514-E2A7-C9CF-7EB0-1444E9A4FF25}"/>
                </a:ext>
              </a:extLst>
            </p:cNvPr>
            <p:cNvSpPr/>
            <p:nvPr/>
          </p:nvSpPr>
          <p:spPr>
            <a:xfrm>
              <a:off x="8556188" y="3735069"/>
              <a:ext cx="843171" cy="2513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Broker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AE65BE5-AF48-883B-B7D3-FF0368ACB8B0}"/>
                </a:ext>
              </a:extLst>
            </p:cNvPr>
            <p:cNvSpPr/>
            <p:nvPr/>
          </p:nvSpPr>
          <p:spPr>
            <a:xfrm>
              <a:off x="9535757" y="3716909"/>
              <a:ext cx="843171" cy="2513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Broker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99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F87F-7F82-C4AB-7C04-53943248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72D2E7-2BBC-8E59-06E9-F3A15FBA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Topic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DA82E7-4A22-B1AD-A629-E7BAC282D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데이터를 분류하고 저장하기 위한 논리적인 공간</a:t>
            </a:r>
            <a:r>
              <a:rPr lang="en-US" altLang="ko-KR" dirty="0"/>
              <a:t>(</a:t>
            </a:r>
            <a:r>
              <a:rPr lang="ko-KR" altLang="en-US" dirty="0" err="1"/>
              <a:t>주문토픽</a:t>
            </a:r>
            <a:r>
              <a:rPr lang="en-US" altLang="ko-KR" dirty="0"/>
              <a:t>, </a:t>
            </a:r>
            <a:r>
              <a:rPr lang="ko-KR" altLang="en-US" dirty="0" err="1"/>
              <a:t>로그토픽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하나의 토픽에 여러 프로듀서들이 데이터 전송 가능</a:t>
            </a:r>
            <a:endParaRPr lang="en-US" altLang="ko-KR" dirty="0"/>
          </a:p>
          <a:p>
            <a:r>
              <a:rPr lang="ko-KR" altLang="en-US" dirty="0"/>
              <a:t>여러 </a:t>
            </a:r>
            <a:r>
              <a:rPr lang="ko-KR" altLang="en-US" dirty="0" err="1"/>
              <a:t>컨슈머들이</a:t>
            </a:r>
            <a:r>
              <a:rPr lang="ko-KR" altLang="en-US" dirty="0"/>
              <a:t> 하나의 토픽에서 데이터 읽기 가능</a:t>
            </a:r>
            <a:endParaRPr lang="en-US" altLang="ko-KR" dirty="0"/>
          </a:p>
          <a:p>
            <a:r>
              <a:rPr lang="ko-KR" altLang="en-US" dirty="0"/>
              <a:t>토픽은 파티션으로 나뉘어 분산 저장됨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6E140-9A40-0217-4663-1608FD03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2B89A9F-6196-1003-D8DA-0F16C0C2DB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4B081A7-B7C0-5347-C689-BABDD5778369}"/>
              </a:ext>
            </a:extLst>
          </p:cNvPr>
          <p:cNvGrpSpPr/>
          <p:nvPr/>
        </p:nvGrpSpPr>
        <p:grpSpPr>
          <a:xfrm>
            <a:off x="2080449" y="3202879"/>
            <a:ext cx="7541955" cy="2421383"/>
            <a:chOff x="2595354" y="3007570"/>
            <a:chExt cx="7541955" cy="2421383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F9FB24F4-EED3-5768-01A2-873FDE05D001}"/>
                </a:ext>
              </a:extLst>
            </p:cNvPr>
            <p:cNvGrpSpPr/>
            <p:nvPr/>
          </p:nvGrpSpPr>
          <p:grpSpPr>
            <a:xfrm>
              <a:off x="4464817" y="3007570"/>
              <a:ext cx="3930283" cy="2421383"/>
              <a:chOff x="6429958" y="2586144"/>
              <a:chExt cx="5128768" cy="3264239"/>
            </a:xfrm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64B746CA-77C7-955B-79E8-A528765C9457}"/>
                  </a:ext>
                </a:extLst>
              </p:cNvPr>
              <p:cNvSpPr/>
              <p:nvPr/>
            </p:nvSpPr>
            <p:spPr>
              <a:xfrm>
                <a:off x="6429958" y="2586144"/>
                <a:ext cx="5128768" cy="326423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Broker</a:t>
                </a: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en-US" altLang="ko-KR" dirty="0">
                  <a:solidFill>
                    <a:schemeClr val="tx1"/>
                  </a:solidFill>
                </a:endParaRPr>
              </a:p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2E8D2BA3-1941-7D6E-48EC-6FA51A3589F4}"/>
                  </a:ext>
                </a:extLst>
              </p:cNvPr>
              <p:cNvSpPr/>
              <p:nvPr/>
            </p:nvSpPr>
            <p:spPr>
              <a:xfrm>
                <a:off x="6779769" y="3243296"/>
                <a:ext cx="1179075" cy="40327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Topic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4A82A961-E54A-7E18-CADD-3CC9D75F81C8}"/>
                  </a:ext>
                </a:extLst>
              </p:cNvPr>
              <p:cNvSpPr/>
              <p:nvPr/>
            </p:nvSpPr>
            <p:spPr>
              <a:xfrm>
                <a:off x="8404804" y="3243295"/>
                <a:ext cx="1179075" cy="40327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Topic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D23629B2-D93C-724C-A582-3479B7389520}"/>
                  </a:ext>
                </a:extLst>
              </p:cNvPr>
              <p:cNvSpPr/>
              <p:nvPr/>
            </p:nvSpPr>
            <p:spPr>
              <a:xfrm>
                <a:off x="10098757" y="3236633"/>
                <a:ext cx="1179075" cy="40327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Topic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6" name="순서도: 자기 디스크 35">
              <a:extLst>
                <a:ext uri="{FF2B5EF4-FFF2-40B4-BE49-F238E27FC236}">
                  <a16:creationId xmlns:a16="http://schemas.microsoft.com/office/drawing/2014/main" id="{874BEB5F-139F-7A26-ED6E-EBD1DF30929F}"/>
                </a:ext>
              </a:extLst>
            </p:cNvPr>
            <p:cNvSpPr/>
            <p:nvPr/>
          </p:nvSpPr>
          <p:spPr>
            <a:xfrm>
              <a:off x="2595354" y="3825463"/>
              <a:ext cx="1081326" cy="785597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producer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순서도: 자기 디스크 37">
              <a:extLst>
                <a:ext uri="{FF2B5EF4-FFF2-40B4-BE49-F238E27FC236}">
                  <a16:creationId xmlns:a16="http://schemas.microsoft.com/office/drawing/2014/main" id="{40CD6BD1-4DCC-63CA-C3DC-5E0156010F01}"/>
                </a:ext>
              </a:extLst>
            </p:cNvPr>
            <p:cNvSpPr/>
            <p:nvPr/>
          </p:nvSpPr>
          <p:spPr>
            <a:xfrm>
              <a:off x="9055983" y="3825463"/>
              <a:ext cx="1081326" cy="785597"/>
            </a:xfrm>
            <a:prstGeom prst="flowChartMagneticDisk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consumer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9FF8C0D6-E65F-E9F2-358B-C48A151A9F60}"/>
                </a:ext>
              </a:extLst>
            </p:cNvPr>
            <p:cNvCxnSpPr>
              <a:cxnSpLocks/>
              <a:stCxn id="36" idx="4"/>
              <a:endCxn id="6" idx="1"/>
            </p:cNvCxnSpPr>
            <p:nvPr/>
          </p:nvCxnSpPr>
          <p:spPr>
            <a:xfrm>
              <a:off x="3676680" y="4218262"/>
              <a:ext cx="7881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A4BB4924-A96E-22FB-453D-BEB17F3D085D}"/>
                </a:ext>
              </a:extLst>
            </p:cNvPr>
            <p:cNvCxnSpPr>
              <a:cxnSpLocks/>
              <a:stCxn id="6" idx="3"/>
              <a:endCxn id="38" idx="2"/>
            </p:cNvCxnSpPr>
            <p:nvPr/>
          </p:nvCxnSpPr>
          <p:spPr>
            <a:xfrm>
              <a:off x="8395100" y="4218262"/>
              <a:ext cx="66088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4383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59F38-17B4-49C5-9CD4-8FDEF5D0D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D6AA2-28BE-8781-739B-4EE868F8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Partition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3F1A7D-C0BD-918E-7BA0-E7B00FD37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파티션은 토픽을 분할한 것</a:t>
            </a:r>
            <a:endParaRPr lang="en-US" altLang="ko-KR" sz="1600" dirty="0"/>
          </a:p>
          <a:p>
            <a:r>
              <a:rPr lang="ko-KR" altLang="en-US" sz="1600" dirty="0"/>
              <a:t>데이터를 저장</a:t>
            </a:r>
            <a:r>
              <a:rPr lang="en-US" altLang="ko-KR" sz="1600" dirty="0"/>
              <a:t>, </a:t>
            </a:r>
            <a:r>
              <a:rPr lang="ko-KR" altLang="en-US" sz="1600" dirty="0"/>
              <a:t>분산처리하기 위한 물리적 단위</a:t>
            </a:r>
            <a:endParaRPr lang="en-US" altLang="ko-KR" sz="1600" dirty="0"/>
          </a:p>
          <a:p>
            <a:r>
              <a:rPr lang="ko-KR" altLang="en-US" sz="1600" dirty="0"/>
              <a:t>병렬처리와 확장성</a:t>
            </a:r>
            <a:endParaRPr lang="en-US" altLang="ko-KR" sz="1600" dirty="0"/>
          </a:p>
          <a:p>
            <a:r>
              <a:rPr lang="ko-KR" altLang="en-US" sz="1600" dirty="0"/>
              <a:t>리더와 복제가 존재</a:t>
            </a:r>
            <a:endParaRPr lang="en-US" altLang="ko-KR" sz="1600" dirty="0"/>
          </a:p>
          <a:p>
            <a:r>
              <a:rPr lang="ko-KR" altLang="en-US" sz="1600" dirty="0"/>
              <a:t>리더 </a:t>
            </a:r>
            <a:r>
              <a:rPr lang="en-US" altLang="ko-KR" sz="1600" dirty="0"/>
              <a:t>– </a:t>
            </a:r>
            <a:r>
              <a:rPr lang="ko-KR" altLang="en-US" sz="1600" dirty="0"/>
              <a:t>프로듀서의 데이터를 저장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컨슈머의</a:t>
            </a:r>
            <a:r>
              <a:rPr lang="ko-KR" altLang="en-US" sz="1600" dirty="0"/>
              <a:t> 읽기 요청 처리</a:t>
            </a:r>
            <a:endParaRPr lang="en-US" altLang="ko-KR" sz="1600" dirty="0"/>
          </a:p>
          <a:p>
            <a:endParaRPr lang="en-US" altLang="ko-KR" sz="2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57C73A-125F-1D06-CB48-86EEAEA7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7E4AAE1-94F5-A8B3-1223-497AA6CE6EC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8B2A197-C6AA-A674-022A-704930CC4D36}"/>
              </a:ext>
            </a:extLst>
          </p:cNvPr>
          <p:cNvGrpSpPr/>
          <p:nvPr/>
        </p:nvGrpSpPr>
        <p:grpSpPr>
          <a:xfrm>
            <a:off x="1926455" y="3258104"/>
            <a:ext cx="7602670" cy="2643527"/>
            <a:chOff x="1544714" y="2789751"/>
            <a:chExt cx="7988913" cy="2987594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E4AABE2B-5811-504C-3AB6-7D9C9B404B4D}"/>
                </a:ext>
              </a:extLst>
            </p:cNvPr>
            <p:cNvGrpSpPr/>
            <p:nvPr/>
          </p:nvGrpSpPr>
          <p:grpSpPr>
            <a:xfrm>
              <a:off x="1544714" y="2789751"/>
              <a:ext cx="7988913" cy="2987594"/>
              <a:chOff x="2595354" y="3007570"/>
              <a:chExt cx="7541955" cy="2421383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28ABCBE5-4706-A5D6-C1DA-FC745BE12ED2}"/>
                  </a:ext>
                </a:extLst>
              </p:cNvPr>
              <p:cNvGrpSpPr/>
              <p:nvPr/>
            </p:nvGrpSpPr>
            <p:grpSpPr>
              <a:xfrm>
                <a:off x="4464817" y="3007570"/>
                <a:ext cx="3930283" cy="2421383"/>
                <a:chOff x="6429958" y="2586144"/>
                <a:chExt cx="5128768" cy="3264239"/>
              </a:xfrm>
            </p:grpSpPr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063BBEFC-90A5-1412-3155-8E2221B1F34D}"/>
                    </a:ext>
                  </a:extLst>
                </p:cNvPr>
                <p:cNvSpPr/>
                <p:nvPr/>
              </p:nvSpPr>
              <p:spPr>
                <a:xfrm>
                  <a:off x="6429958" y="2586144"/>
                  <a:ext cx="5128768" cy="326423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Broker</a:t>
                  </a: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CBBC73AA-B714-3E8A-1CD4-9F355A7CEADD}"/>
                    </a:ext>
                  </a:extLst>
                </p:cNvPr>
                <p:cNvSpPr/>
                <p:nvPr/>
              </p:nvSpPr>
              <p:spPr>
                <a:xfrm>
                  <a:off x="6779769" y="3243296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E8B7F907-E8B0-2126-E7F7-5A34141CA65E}"/>
                    </a:ext>
                  </a:extLst>
                </p:cNvPr>
                <p:cNvSpPr/>
                <p:nvPr/>
              </p:nvSpPr>
              <p:spPr>
                <a:xfrm>
                  <a:off x="8404804" y="3243295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직사각형 34">
                  <a:extLst>
                    <a:ext uri="{FF2B5EF4-FFF2-40B4-BE49-F238E27FC236}">
                      <a16:creationId xmlns:a16="http://schemas.microsoft.com/office/drawing/2014/main" id="{35464236-06FE-710C-BE78-96A3F18145AE}"/>
                    </a:ext>
                  </a:extLst>
                </p:cNvPr>
                <p:cNvSpPr/>
                <p:nvPr/>
              </p:nvSpPr>
              <p:spPr>
                <a:xfrm>
                  <a:off x="10098757" y="3236633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6" name="순서도: 자기 디스크 35">
                <a:extLst>
                  <a:ext uri="{FF2B5EF4-FFF2-40B4-BE49-F238E27FC236}">
                    <a16:creationId xmlns:a16="http://schemas.microsoft.com/office/drawing/2014/main" id="{4E2DB577-D632-54D3-A180-62F5E513BC0E}"/>
                  </a:ext>
                </a:extLst>
              </p:cNvPr>
              <p:cNvSpPr/>
              <p:nvPr/>
            </p:nvSpPr>
            <p:spPr>
              <a:xfrm>
                <a:off x="2595354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순서도: 자기 디스크 37">
                <a:extLst>
                  <a:ext uri="{FF2B5EF4-FFF2-40B4-BE49-F238E27FC236}">
                    <a16:creationId xmlns:a16="http://schemas.microsoft.com/office/drawing/2014/main" id="{574EF71B-A301-4C11-6E29-74E60E929313}"/>
                  </a:ext>
                </a:extLst>
              </p:cNvPr>
              <p:cNvSpPr/>
              <p:nvPr/>
            </p:nvSpPr>
            <p:spPr>
              <a:xfrm>
                <a:off x="9055983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9" name="직선 화살표 연결선 38">
                <a:extLst>
                  <a:ext uri="{FF2B5EF4-FFF2-40B4-BE49-F238E27FC236}">
                    <a16:creationId xmlns:a16="http://schemas.microsoft.com/office/drawing/2014/main" id="{BD248425-BB2E-7E82-BBDA-62A75728DCFA}"/>
                  </a:ext>
                </a:extLst>
              </p:cNvPr>
              <p:cNvCxnSpPr>
                <a:cxnSpLocks/>
                <a:stCxn id="36" idx="4"/>
                <a:endCxn id="6" idx="1"/>
              </p:cNvCxnSpPr>
              <p:nvPr/>
            </p:nvCxnSpPr>
            <p:spPr>
              <a:xfrm>
                <a:off x="3676680" y="4218262"/>
                <a:ext cx="7881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직선 화살표 연결선 42">
                <a:extLst>
                  <a:ext uri="{FF2B5EF4-FFF2-40B4-BE49-F238E27FC236}">
                    <a16:creationId xmlns:a16="http://schemas.microsoft.com/office/drawing/2014/main" id="{2C8C19BF-3E8A-58C4-8C59-7A548F3D699A}"/>
                  </a:ext>
                </a:extLst>
              </p:cNvPr>
              <p:cNvCxnSpPr>
                <a:cxnSpLocks/>
                <a:stCxn id="6" idx="3"/>
                <a:endCxn id="38" idx="2"/>
              </p:cNvCxnSpPr>
              <p:nvPr/>
            </p:nvCxnSpPr>
            <p:spPr>
              <a:xfrm>
                <a:off x="8395100" y="4218262"/>
                <a:ext cx="66088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F3814E0-0E0A-9857-568B-E9450B9D3FC1}"/>
                </a:ext>
              </a:extLst>
            </p:cNvPr>
            <p:cNvSpPr/>
            <p:nvPr/>
          </p:nvSpPr>
          <p:spPr>
            <a:xfrm>
              <a:off x="3906589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41CA5B8-6AE0-F273-310A-F748C94FBAF1}"/>
                </a:ext>
              </a:extLst>
            </p:cNvPr>
            <p:cNvSpPr/>
            <p:nvPr/>
          </p:nvSpPr>
          <p:spPr>
            <a:xfrm>
              <a:off x="4360685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9EA4180-DB9A-FA37-98CD-AA77139F93CC}"/>
                </a:ext>
              </a:extLst>
            </p:cNvPr>
            <p:cNvSpPr/>
            <p:nvPr/>
          </p:nvSpPr>
          <p:spPr>
            <a:xfrm>
              <a:off x="3906589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8B26A6D-FE60-CCF3-BB7C-6396D3889802}"/>
                </a:ext>
              </a:extLst>
            </p:cNvPr>
            <p:cNvSpPr/>
            <p:nvPr/>
          </p:nvSpPr>
          <p:spPr>
            <a:xfrm>
              <a:off x="4354266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C62B39-D344-DB2E-3B6C-604C6DA878C0}"/>
                </a:ext>
              </a:extLst>
            </p:cNvPr>
            <p:cNvSpPr/>
            <p:nvPr/>
          </p:nvSpPr>
          <p:spPr>
            <a:xfrm>
              <a:off x="3906589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B3D9D3C-0CC5-BC03-2BFD-830959AB73EC}"/>
                </a:ext>
              </a:extLst>
            </p:cNvPr>
            <p:cNvSpPr/>
            <p:nvPr/>
          </p:nvSpPr>
          <p:spPr>
            <a:xfrm>
              <a:off x="4360685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35F7523-4E44-8C6D-F33A-068FCD7A64F4}"/>
                </a:ext>
              </a:extLst>
            </p:cNvPr>
            <p:cNvSpPr/>
            <p:nvPr/>
          </p:nvSpPr>
          <p:spPr>
            <a:xfrm>
              <a:off x="3906589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F478081-3BEA-7598-FCD7-2C659C52AAAA}"/>
                </a:ext>
              </a:extLst>
            </p:cNvPr>
            <p:cNvSpPr/>
            <p:nvPr/>
          </p:nvSpPr>
          <p:spPr>
            <a:xfrm>
              <a:off x="4354266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C93B47DE-3638-99CD-1D30-7637E6AD08E9}"/>
                </a:ext>
              </a:extLst>
            </p:cNvPr>
            <p:cNvSpPr/>
            <p:nvPr/>
          </p:nvSpPr>
          <p:spPr>
            <a:xfrm>
              <a:off x="5256773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E730DC0-B3A5-91FE-34BE-5701A00F9781}"/>
                </a:ext>
              </a:extLst>
            </p:cNvPr>
            <p:cNvSpPr/>
            <p:nvPr/>
          </p:nvSpPr>
          <p:spPr>
            <a:xfrm>
              <a:off x="5710869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FA221C9-C011-B543-77FD-6AEFC2B5906E}"/>
                </a:ext>
              </a:extLst>
            </p:cNvPr>
            <p:cNvSpPr/>
            <p:nvPr/>
          </p:nvSpPr>
          <p:spPr>
            <a:xfrm>
              <a:off x="5256773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EFC5E8F-EDB5-3685-F593-9D254A4D9E94}"/>
                </a:ext>
              </a:extLst>
            </p:cNvPr>
            <p:cNvSpPr/>
            <p:nvPr/>
          </p:nvSpPr>
          <p:spPr>
            <a:xfrm>
              <a:off x="5704450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CBB40F5-138D-A2DD-11A9-4EB2F3507E30}"/>
                </a:ext>
              </a:extLst>
            </p:cNvPr>
            <p:cNvSpPr/>
            <p:nvPr/>
          </p:nvSpPr>
          <p:spPr>
            <a:xfrm>
              <a:off x="5256773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9015052-35C2-FF5A-E252-5437D6B225D7}"/>
                </a:ext>
              </a:extLst>
            </p:cNvPr>
            <p:cNvSpPr/>
            <p:nvPr/>
          </p:nvSpPr>
          <p:spPr>
            <a:xfrm>
              <a:off x="5710869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C2024D6-69F0-8C93-B05C-DEC46D30145D}"/>
                </a:ext>
              </a:extLst>
            </p:cNvPr>
            <p:cNvSpPr/>
            <p:nvPr/>
          </p:nvSpPr>
          <p:spPr>
            <a:xfrm>
              <a:off x="5256773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5367D4B-6DE5-EF3D-EA78-131A19194905}"/>
                </a:ext>
              </a:extLst>
            </p:cNvPr>
            <p:cNvSpPr/>
            <p:nvPr/>
          </p:nvSpPr>
          <p:spPr>
            <a:xfrm>
              <a:off x="5704450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947597D-71A6-A5EF-4F6F-649B4AE9DA15}"/>
                </a:ext>
              </a:extLst>
            </p:cNvPr>
            <p:cNvSpPr/>
            <p:nvPr/>
          </p:nvSpPr>
          <p:spPr>
            <a:xfrm>
              <a:off x="6655300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271500A-58CA-4256-2754-E38C8CB337A1}"/>
                </a:ext>
              </a:extLst>
            </p:cNvPr>
            <p:cNvSpPr/>
            <p:nvPr/>
          </p:nvSpPr>
          <p:spPr>
            <a:xfrm>
              <a:off x="7109396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33DDF2F-E6C9-251D-33F4-1D2556F300F2}"/>
                </a:ext>
              </a:extLst>
            </p:cNvPr>
            <p:cNvSpPr/>
            <p:nvPr/>
          </p:nvSpPr>
          <p:spPr>
            <a:xfrm>
              <a:off x="6655300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99458D5-E67E-B82A-65DC-58F62DF09328}"/>
                </a:ext>
              </a:extLst>
            </p:cNvPr>
            <p:cNvSpPr/>
            <p:nvPr/>
          </p:nvSpPr>
          <p:spPr>
            <a:xfrm>
              <a:off x="7102977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C57FC93A-C7D0-D308-96F2-8032B0B6411E}"/>
                </a:ext>
              </a:extLst>
            </p:cNvPr>
            <p:cNvSpPr/>
            <p:nvPr/>
          </p:nvSpPr>
          <p:spPr>
            <a:xfrm>
              <a:off x="6655300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3EB100AA-D491-8AAF-D3E3-72411F6D240C}"/>
                </a:ext>
              </a:extLst>
            </p:cNvPr>
            <p:cNvSpPr/>
            <p:nvPr/>
          </p:nvSpPr>
          <p:spPr>
            <a:xfrm>
              <a:off x="7109396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455B7C2-491E-0FDF-33D3-AC8C282E542D}"/>
                </a:ext>
              </a:extLst>
            </p:cNvPr>
            <p:cNvSpPr/>
            <p:nvPr/>
          </p:nvSpPr>
          <p:spPr>
            <a:xfrm>
              <a:off x="6655300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5D227A56-9D0D-555B-0A50-FE4DA0ED0869}"/>
                </a:ext>
              </a:extLst>
            </p:cNvPr>
            <p:cNvSpPr/>
            <p:nvPr/>
          </p:nvSpPr>
          <p:spPr>
            <a:xfrm>
              <a:off x="7102977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0065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D473B-B8A0-04F0-C6B2-4BDC4A422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Offset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5955D0-40F7-73CF-19E6-4278E420E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오프셋 </a:t>
            </a:r>
            <a:r>
              <a:rPr lang="en-US" altLang="ko-KR" dirty="0"/>
              <a:t>: </a:t>
            </a:r>
            <a:r>
              <a:rPr lang="ko-KR" altLang="en-US" dirty="0"/>
              <a:t>각 파티션 마다 메시지가 저장되는 위치</a:t>
            </a:r>
            <a:endParaRPr lang="en-US" altLang="ko-KR" dirty="0"/>
          </a:p>
          <a:p>
            <a:r>
              <a:rPr lang="ko-KR" altLang="en-US" dirty="0"/>
              <a:t>메시지는 오프셋을 기준으로 독립적으로 구분</a:t>
            </a:r>
            <a:endParaRPr lang="en-US" altLang="ko-KR" dirty="0"/>
          </a:p>
          <a:p>
            <a:r>
              <a:rPr lang="ko-KR" altLang="en-US" dirty="0"/>
              <a:t>오프셋은 각 파티션 마다 고유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A43675-CB91-784D-F6EA-E62E6A38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6C40F71-EC42-30F2-82C6-FD22E8A02A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E5FE224-FDD0-B806-5A6C-EBE271CDF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074" y="2338737"/>
            <a:ext cx="10593278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841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D84388-C5AC-BF31-A6B8-5A37DC40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Producer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750891-82FE-2E63-922A-3578B6840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카프카 브로커로 데이터를 전송하는 역할을 수행</a:t>
            </a:r>
            <a:endParaRPr lang="en-US" altLang="ko-KR" dirty="0"/>
          </a:p>
          <a:p>
            <a:pPr lvl="1"/>
            <a:r>
              <a:rPr lang="en-US" altLang="ko-KR" dirty="0" err="1"/>
              <a:t>Iot</a:t>
            </a:r>
            <a:r>
              <a:rPr lang="en-US" altLang="ko-KR" dirty="0"/>
              <a:t> </a:t>
            </a:r>
            <a:r>
              <a:rPr lang="ko-KR" altLang="en-US" dirty="0"/>
              <a:t>디바이스</a:t>
            </a:r>
            <a:r>
              <a:rPr lang="en-US" altLang="ko-KR" dirty="0"/>
              <a:t>(</a:t>
            </a:r>
            <a:r>
              <a:rPr lang="ko-KR" altLang="en-US" dirty="0"/>
              <a:t>센서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웹서버 로그 생성</a:t>
            </a:r>
            <a:endParaRPr lang="en-US" altLang="ko-KR" dirty="0"/>
          </a:p>
          <a:p>
            <a:pPr lvl="1"/>
            <a:r>
              <a:rPr lang="ko-KR" altLang="en-US" dirty="0"/>
              <a:t>금융 애플리케이션 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5BFE2-2134-5C5B-8A85-A743143C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D59CEA2-346F-1BA5-E047-1653C9227D1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9035B7D-7637-0194-FD3D-CF433A787677}"/>
              </a:ext>
            </a:extLst>
          </p:cNvPr>
          <p:cNvGrpSpPr/>
          <p:nvPr/>
        </p:nvGrpSpPr>
        <p:grpSpPr>
          <a:xfrm>
            <a:off x="1917578" y="2965141"/>
            <a:ext cx="7602670" cy="2643527"/>
            <a:chOff x="1544714" y="2789751"/>
            <a:chExt cx="7988913" cy="298759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8C2E23C8-8E24-E303-CDF5-9C4106997A23}"/>
                </a:ext>
              </a:extLst>
            </p:cNvPr>
            <p:cNvGrpSpPr/>
            <p:nvPr/>
          </p:nvGrpSpPr>
          <p:grpSpPr>
            <a:xfrm>
              <a:off x="1544714" y="2789751"/>
              <a:ext cx="7988913" cy="2987594"/>
              <a:chOff x="2595354" y="3007570"/>
              <a:chExt cx="7541955" cy="2421383"/>
            </a:xfrm>
          </p:grpSpPr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9C8AFD83-7CCE-43D5-70C0-8914DDA0AB62}"/>
                  </a:ext>
                </a:extLst>
              </p:cNvPr>
              <p:cNvGrpSpPr/>
              <p:nvPr/>
            </p:nvGrpSpPr>
            <p:grpSpPr>
              <a:xfrm>
                <a:off x="4464817" y="3007570"/>
                <a:ext cx="3930283" cy="2421383"/>
                <a:chOff x="6429958" y="2586144"/>
                <a:chExt cx="5128768" cy="3264239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CB5C5F57-42BC-85FA-379E-CF3B70870B9A}"/>
                    </a:ext>
                  </a:extLst>
                </p:cNvPr>
                <p:cNvSpPr/>
                <p:nvPr/>
              </p:nvSpPr>
              <p:spPr>
                <a:xfrm>
                  <a:off x="6429958" y="2586144"/>
                  <a:ext cx="5128768" cy="326423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Broker</a:t>
                  </a: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AC136F25-C4AC-F62F-B6FC-9ACD1D316737}"/>
                    </a:ext>
                  </a:extLst>
                </p:cNvPr>
                <p:cNvSpPr/>
                <p:nvPr/>
              </p:nvSpPr>
              <p:spPr>
                <a:xfrm>
                  <a:off x="6779769" y="3243296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619B5B6F-F690-3F92-191C-5C0FE5E45821}"/>
                    </a:ext>
                  </a:extLst>
                </p:cNvPr>
                <p:cNvSpPr/>
                <p:nvPr/>
              </p:nvSpPr>
              <p:spPr>
                <a:xfrm>
                  <a:off x="8404804" y="3243295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B97B5148-16BA-B9ED-4406-0F242DC43C97}"/>
                    </a:ext>
                  </a:extLst>
                </p:cNvPr>
                <p:cNvSpPr/>
                <p:nvPr/>
              </p:nvSpPr>
              <p:spPr>
                <a:xfrm>
                  <a:off x="10098757" y="3236633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3" name="순서도: 자기 디스크 32">
                <a:extLst>
                  <a:ext uri="{FF2B5EF4-FFF2-40B4-BE49-F238E27FC236}">
                    <a16:creationId xmlns:a16="http://schemas.microsoft.com/office/drawing/2014/main" id="{74B867CA-264A-216E-16CE-7E14764207B7}"/>
                  </a:ext>
                </a:extLst>
              </p:cNvPr>
              <p:cNvSpPr/>
              <p:nvPr/>
            </p:nvSpPr>
            <p:spPr>
              <a:xfrm>
                <a:off x="2595354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순서도: 자기 디스크 33">
                <a:extLst>
                  <a:ext uri="{FF2B5EF4-FFF2-40B4-BE49-F238E27FC236}">
                    <a16:creationId xmlns:a16="http://schemas.microsoft.com/office/drawing/2014/main" id="{C11470EE-A63B-FEC7-7278-153F4B1214D4}"/>
                  </a:ext>
                </a:extLst>
              </p:cNvPr>
              <p:cNvSpPr/>
              <p:nvPr/>
            </p:nvSpPr>
            <p:spPr>
              <a:xfrm>
                <a:off x="9055983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35CD3074-D85A-6C30-D0C5-83E552DA8671}"/>
                  </a:ext>
                </a:extLst>
              </p:cNvPr>
              <p:cNvCxnSpPr>
                <a:cxnSpLocks/>
                <a:stCxn id="33" idx="4"/>
                <a:endCxn id="37" idx="1"/>
              </p:cNvCxnSpPr>
              <p:nvPr/>
            </p:nvCxnSpPr>
            <p:spPr>
              <a:xfrm>
                <a:off x="3676680" y="4218262"/>
                <a:ext cx="7881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7E27B436-3D0F-31AB-5D54-CC9132B1CC9D}"/>
                  </a:ext>
                </a:extLst>
              </p:cNvPr>
              <p:cNvCxnSpPr>
                <a:cxnSpLocks/>
                <a:stCxn id="37" idx="3"/>
                <a:endCxn id="34" idx="2"/>
              </p:cNvCxnSpPr>
              <p:nvPr/>
            </p:nvCxnSpPr>
            <p:spPr>
              <a:xfrm>
                <a:off x="8395100" y="4218262"/>
                <a:ext cx="66088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476D223-D575-F0C4-4879-60DE2BD07530}"/>
                </a:ext>
              </a:extLst>
            </p:cNvPr>
            <p:cNvSpPr/>
            <p:nvPr/>
          </p:nvSpPr>
          <p:spPr>
            <a:xfrm>
              <a:off x="3906589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B4DED28-570A-B003-F44D-E9B64220953A}"/>
                </a:ext>
              </a:extLst>
            </p:cNvPr>
            <p:cNvSpPr/>
            <p:nvPr/>
          </p:nvSpPr>
          <p:spPr>
            <a:xfrm>
              <a:off x="4360685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75BE487-95CC-0659-FCA0-8C5EB22103EB}"/>
                </a:ext>
              </a:extLst>
            </p:cNvPr>
            <p:cNvSpPr/>
            <p:nvPr/>
          </p:nvSpPr>
          <p:spPr>
            <a:xfrm>
              <a:off x="3906589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A8C1087-E8B7-74AC-9B48-FD73A4EC328F}"/>
                </a:ext>
              </a:extLst>
            </p:cNvPr>
            <p:cNvSpPr/>
            <p:nvPr/>
          </p:nvSpPr>
          <p:spPr>
            <a:xfrm>
              <a:off x="4354266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8CBC6741-FC18-E58B-76C5-DEFFDB3A7BD7}"/>
                </a:ext>
              </a:extLst>
            </p:cNvPr>
            <p:cNvSpPr/>
            <p:nvPr/>
          </p:nvSpPr>
          <p:spPr>
            <a:xfrm>
              <a:off x="3906589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221324D-F09C-1825-92D9-24DE9139E377}"/>
                </a:ext>
              </a:extLst>
            </p:cNvPr>
            <p:cNvSpPr/>
            <p:nvPr/>
          </p:nvSpPr>
          <p:spPr>
            <a:xfrm>
              <a:off x="4360685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BDD6E8E-90B0-2868-1890-E3C82A5FFFA5}"/>
                </a:ext>
              </a:extLst>
            </p:cNvPr>
            <p:cNvSpPr/>
            <p:nvPr/>
          </p:nvSpPr>
          <p:spPr>
            <a:xfrm>
              <a:off x="3906589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3D6553D-2D6B-469F-C67F-A45498EE1335}"/>
                </a:ext>
              </a:extLst>
            </p:cNvPr>
            <p:cNvSpPr/>
            <p:nvPr/>
          </p:nvSpPr>
          <p:spPr>
            <a:xfrm>
              <a:off x="4354266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55EEC71-E13D-7781-3EAF-BD9E8C2F2134}"/>
                </a:ext>
              </a:extLst>
            </p:cNvPr>
            <p:cNvSpPr/>
            <p:nvPr/>
          </p:nvSpPr>
          <p:spPr>
            <a:xfrm>
              <a:off x="5256773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D26511D-0FA1-59FE-3DFE-E93E2DC35F4C}"/>
                </a:ext>
              </a:extLst>
            </p:cNvPr>
            <p:cNvSpPr/>
            <p:nvPr/>
          </p:nvSpPr>
          <p:spPr>
            <a:xfrm>
              <a:off x="5710869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1FE7795-8018-0C51-AD4A-C125917C6FD9}"/>
                </a:ext>
              </a:extLst>
            </p:cNvPr>
            <p:cNvSpPr/>
            <p:nvPr/>
          </p:nvSpPr>
          <p:spPr>
            <a:xfrm>
              <a:off x="5256773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6ECF2C7-BDAC-7EF8-D456-4CAE207ACCBE}"/>
                </a:ext>
              </a:extLst>
            </p:cNvPr>
            <p:cNvSpPr/>
            <p:nvPr/>
          </p:nvSpPr>
          <p:spPr>
            <a:xfrm>
              <a:off x="5704450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C635C0D-AD21-9F86-AE29-8EA69A84A055}"/>
                </a:ext>
              </a:extLst>
            </p:cNvPr>
            <p:cNvSpPr/>
            <p:nvPr/>
          </p:nvSpPr>
          <p:spPr>
            <a:xfrm>
              <a:off x="5256773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EFD28E48-D4CC-777F-F926-8D75A69CBFA8}"/>
                </a:ext>
              </a:extLst>
            </p:cNvPr>
            <p:cNvSpPr/>
            <p:nvPr/>
          </p:nvSpPr>
          <p:spPr>
            <a:xfrm>
              <a:off x="5710869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D7E256A-1157-BE03-D542-833B8D47967A}"/>
                </a:ext>
              </a:extLst>
            </p:cNvPr>
            <p:cNvSpPr/>
            <p:nvPr/>
          </p:nvSpPr>
          <p:spPr>
            <a:xfrm>
              <a:off x="5256773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5B975EB-E61F-8E79-DC4C-DA3CA0E528E6}"/>
                </a:ext>
              </a:extLst>
            </p:cNvPr>
            <p:cNvSpPr/>
            <p:nvPr/>
          </p:nvSpPr>
          <p:spPr>
            <a:xfrm>
              <a:off x="5704450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6B62099-AD08-0C57-C24F-7664352EC002}"/>
                </a:ext>
              </a:extLst>
            </p:cNvPr>
            <p:cNvSpPr/>
            <p:nvPr/>
          </p:nvSpPr>
          <p:spPr>
            <a:xfrm>
              <a:off x="6655300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42526D3-1DD5-8127-A265-E8644EC41A9D}"/>
                </a:ext>
              </a:extLst>
            </p:cNvPr>
            <p:cNvSpPr/>
            <p:nvPr/>
          </p:nvSpPr>
          <p:spPr>
            <a:xfrm>
              <a:off x="7109396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3818E33-95B8-8ADD-7128-0A9E85095B45}"/>
                </a:ext>
              </a:extLst>
            </p:cNvPr>
            <p:cNvSpPr/>
            <p:nvPr/>
          </p:nvSpPr>
          <p:spPr>
            <a:xfrm>
              <a:off x="6655300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C82F4C2-D379-9338-943B-F1F4C6A87AA5}"/>
                </a:ext>
              </a:extLst>
            </p:cNvPr>
            <p:cNvSpPr/>
            <p:nvPr/>
          </p:nvSpPr>
          <p:spPr>
            <a:xfrm>
              <a:off x="7102977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DEB4595-7523-CE54-3F4E-2502D1FD589E}"/>
                </a:ext>
              </a:extLst>
            </p:cNvPr>
            <p:cNvSpPr/>
            <p:nvPr/>
          </p:nvSpPr>
          <p:spPr>
            <a:xfrm>
              <a:off x="6655300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996DE05-B3A0-E77B-F6D4-E6673118F177}"/>
                </a:ext>
              </a:extLst>
            </p:cNvPr>
            <p:cNvSpPr/>
            <p:nvPr/>
          </p:nvSpPr>
          <p:spPr>
            <a:xfrm>
              <a:off x="7109396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9A1811E-D9B1-D63E-9314-1159B37BF777}"/>
                </a:ext>
              </a:extLst>
            </p:cNvPr>
            <p:cNvSpPr/>
            <p:nvPr/>
          </p:nvSpPr>
          <p:spPr>
            <a:xfrm>
              <a:off x="6655300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98448DD-7B99-D2FF-E5F0-7EA30600DF33}"/>
                </a:ext>
              </a:extLst>
            </p:cNvPr>
            <p:cNvSpPr/>
            <p:nvPr/>
          </p:nvSpPr>
          <p:spPr>
            <a:xfrm>
              <a:off x="7102977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5937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A376F-5BAB-F0A6-72FB-C9AADBDF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FE4E8-7D70-7883-C799-D8CF0992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Consumer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6DEBC4-1B39-1BFF-1E4E-BA169718A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카프카 브로커의 데이터를 가져오는 역할을 수행</a:t>
            </a:r>
            <a:endParaRPr lang="en-US" altLang="ko-KR" dirty="0"/>
          </a:p>
          <a:p>
            <a:pPr lvl="1"/>
            <a:r>
              <a:rPr lang="ko-KR" altLang="en-US" dirty="0"/>
              <a:t>실시간 분석시스템</a:t>
            </a:r>
            <a:endParaRPr lang="en-US" altLang="ko-KR" dirty="0"/>
          </a:p>
          <a:p>
            <a:pPr lvl="1"/>
            <a:r>
              <a:rPr lang="ko-KR" altLang="en-US" dirty="0"/>
              <a:t>데이터 저장 시스템</a:t>
            </a:r>
            <a:endParaRPr lang="en-US" altLang="ko-KR" dirty="0"/>
          </a:p>
          <a:p>
            <a:pPr lvl="1"/>
            <a:r>
              <a:rPr lang="ko-KR" altLang="en-US" dirty="0"/>
              <a:t>이상탐지</a:t>
            </a:r>
            <a:r>
              <a:rPr lang="en-US" altLang="ko-KR" dirty="0"/>
              <a:t>, </a:t>
            </a:r>
            <a:r>
              <a:rPr lang="ko-KR" altLang="en-US" dirty="0"/>
              <a:t>회계처리 시스템 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2613D4-47D2-3B1D-2CA2-5758E460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B29238E-3FED-67A8-00FD-872BCA2170A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F1D53C7-A50B-8930-F639-C082795D4377}"/>
              </a:ext>
            </a:extLst>
          </p:cNvPr>
          <p:cNvGrpSpPr/>
          <p:nvPr/>
        </p:nvGrpSpPr>
        <p:grpSpPr>
          <a:xfrm>
            <a:off x="1917578" y="2965141"/>
            <a:ext cx="7602670" cy="2643527"/>
            <a:chOff x="1544714" y="2789751"/>
            <a:chExt cx="7988913" cy="298759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E4F4163-25BB-D20A-87EF-8C6DA5937DF7}"/>
                </a:ext>
              </a:extLst>
            </p:cNvPr>
            <p:cNvGrpSpPr/>
            <p:nvPr/>
          </p:nvGrpSpPr>
          <p:grpSpPr>
            <a:xfrm>
              <a:off x="1544714" y="2789751"/>
              <a:ext cx="7988913" cy="2987594"/>
              <a:chOff x="2595354" y="3007570"/>
              <a:chExt cx="7541955" cy="2421383"/>
            </a:xfrm>
          </p:grpSpPr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8165AC48-A816-8700-48FB-C98F3150C377}"/>
                  </a:ext>
                </a:extLst>
              </p:cNvPr>
              <p:cNvGrpSpPr/>
              <p:nvPr/>
            </p:nvGrpSpPr>
            <p:grpSpPr>
              <a:xfrm>
                <a:off x="4464817" y="3007570"/>
                <a:ext cx="3930283" cy="2421383"/>
                <a:chOff x="6429958" y="2586144"/>
                <a:chExt cx="5128768" cy="3264239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D2565888-8EAD-EE6D-01E9-8C6FF5C40F2A}"/>
                    </a:ext>
                  </a:extLst>
                </p:cNvPr>
                <p:cNvSpPr/>
                <p:nvPr/>
              </p:nvSpPr>
              <p:spPr>
                <a:xfrm>
                  <a:off x="6429958" y="2586144"/>
                  <a:ext cx="5128768" cy="326423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Broker</a:t>
                  </a: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EE6C4EC8-8B64-0D78-EA20-88AC50DFE8D9}"/>
                    </a:ext>
                  </a:extLst>
                </p:cNvPr>
                <p:cNvSpPr/>
                <p:nvPr/>
              </p:nvSpPr>
              <p:spPr>
                <a:xfrm>
                  <a:off x="6779769" y="3243296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32A59380-5380-97C1-6900-3C41E9FDAAA4}"/>
                    </a:ext>
                  </a:extLst>
                </p:cNvPr>
                <p:cNvSpPr/>
                <p:nvPr/>
              </p:nvSpPr>
              <p:spPr>
                <a:xfrm>
                  <a:off x="8404804" y="3243295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404E35AC-5F39-20DD-1C4F-B65EAB0071EE}"/>
                    </a:ext>
                  </a:extLst>
                </p:cNvPr>
                <p:cNvSpPr/>
                <p:nvPr/>
              </p:nvSpPr>
              <p:spPr>
                <a:xfrm>
                  <a:off x="10098757" y="3236633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3" name="순서도: 자기 디스크 32">
                <a:extLst>
                  <a:ext uri="{FF2B5EF4-FFF2-40B4-BE49-F238E27FC236}">
                    <a16:creationId xmlns:a16="http://schemas.microsoft.com/office/drawing/2014/main" id="{B58D4245-3B73-5679-B109-0AA36C547B11}"/>
                  </a:ext>
                </a:extLst>
              </p:cNvPr>
              <p:cNvSpPr/>
              <p:nvPr/>
            </p:nvSpPr>
            <p:spPr>
              <a:xfrm>
                <a:off x="2595354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순서도: 자기 디스크 33">
                <a:extLst>
                  <a:ext uri="{FF2B5EF4-FFF2-40B4-BE49-F238E27FC236}">
                    <a16:creationId xmlns:a16="http://schemas.microsoft.com/office/drawing/2014/main" id="{226766E2-2AB2-FBD4-6F46-A55CFD56DA65}"/>
                  </a:ext>
                </a:extLst>
              </p:cNvPr>
              <p:cNvSpPr/>
              <p:nvPr/>
            </p:nvSpPr>
            <p:spPr>
              <a:xfrm>
                <a:off x="9055983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1B569ABB-98A2-88CC-B95E-FE151974617A}"/>
                  </a:ext>
                </a:extLst>
              </p:cNvPr>
              <p:cNvCxnSpPr>
                <a:cxnSpLocks/>
                <a:stCxn id="33" idx="4"/>
                <a:endCxn id="37" idx="1"/>
              </p:cNvCxnSpPr>
              <p:nvPr/>
            </p:nvCxnSpPr>
            <p:spPr>
              <a:xfrm>
                <a:off x="3676680" y="4218262"/>
                <a:ext cx="7881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8DE1E597-A991-65E2-DDFF-15D0D740EE6E}"/>
                  </a:ext>
                </a:extLst>
              </p:cNvPr>
              <p:cNvCxnSpPr>
                <a:cxnSpLocks/>
                <a:stCxn id="37" idx="3"/>
                <a:endCxn id="34" idx="2"/>
              </p:cNvCxnSpPr>
              <p:nvPr/>
            </p:nvCxnSpPr>
            <p:spPr>
              <a:xfrm>
                <a:off x="8395100" y="4218262"/>
                <a:ext cx="66088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06C4D6B-64C9-F304-6192-D6DD64326308}"/>
                </a:ext>
              </a:extLst>
            </p:cNvPr>
            <p:cNvSpPr/>
            <p:nvPr/>
          </p:nvSpPr>
          <p:spPr>
            <a:xfrm>
              <a:off x="3906589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13BA0E8-5B5D-6B9B-1C14-360709DD2CBC}"/>
                </a:ext>
              </a:extLst>
            </p:cNvPr>
            <p:cNvSpPr/>
            <p:nvPr/>
          </p:nvSpPr>
          <p:spPr>
            <a:xfrm>
              <a:off x="4360685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2416DB1-0DB8-B326-F2E8-7AA8C7ED68E6}"/>
                </a:ext>
              </a:extLst>
            </p:cNvPr>
            <p:cNvSpPr/>
            <p:nvPr/>
          </p:nvSpPr>
          <p:spPr>
            <a:xfrm>
              <a:off x="3906589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13F3DC4-F0B5-DF90-BC5A-C02F72F2064E}"/>
                </a:ext>
              </a:extLst>
            </p:cNvPr>
            <p:cNvSpPr/>
            <p:nvPr/>
          </p:nvSpPr>
          <p:spPr>
            <a:xfrm>
              <a:off x="4354266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5ADCBBD-68DE-4812-E220-46640EC25ECB}"/>
                </a:ext>
              </a:extLst>
            </p:cNvPr>
            <p:cNvSpPr/>
            <p:nvPr/>
          </p:nvSpPr>
          <p:spPr>
            <a:xfrm>
              <a:off x="3906589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37BCAC7-DFD6-B4AE-1E18-BCFB8B0777E1}"/>
                </a:ext>
              </a:extLst>
            </p:cNvPr>
            <p:cNvSpPr/>
            <p:nvPr/>
          </p:nvSpPr>
          <p:spPr>
            <a:xfrm>
              <a:off x="4360685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D933E4E-E89B-9B5F-4CBD-4C8DD0132A56}"/>
                </a:ext>
              </a:extLst>
            </p:cNvPr>
            <p:cNvSpPr/>
            <p:nvPr/>
          </p:nvSpPr>
          <p:spPr>
            <a:xfrm>
              <a:off x="3906589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3A5FABB-AB88-4573-61DF-E56E68D8D469}"/>
                </a:ext>
              </a:extLst>
            </p:cNvPr>
            <p:cNvSpPr/>
            <p:nvPr/>
          </p:nvSpPr>
          <p:spPr>
            <a:xfrm>
              <a:off x="4354266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59477E3-A47F-1408-3531-A36043BD0A86}"/>
                </a:ext>
              </a:extLst>
            </p:cNvPr>
            <p:cNvSpPr/>
            <p:nvPr/>
          </p:nvSpPr>
          <p:spPr>
            <a:xfrm>
              <a:off x="5256773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4C2A5CB-46A1-482D-BC7E-C41150B81EBB}"/>
                </a:ext>
              </a:extLst>
            </p:cNvPr>
            <p:cNvSpPr/>
            <p:nvPr/>
          </p:nvSpPr>
          <p:spPr>
            <a:xfrm>
              <a:off x="5710869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63A1818-1461-EE5F-77B2-5BD686A6E616}"/>
                </a:ext>
              </a:extLst>
            </p:cNvPr>
            <p:cNvSpPr/>
            <p:nvPr/>
          </p:nvSpPr>
          <p:spPr>
            <a:xfrm>
              <a:off x="5256773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7942403-770C-0995-912C-72B5A79BD715}"/>
                </a:ext>
              </a:extLst>
            </p:cNvPr>
            <p:cNvSpPr/>
            <p:nvPr/>
          </p:nvSpPr>
          <p:spPr>
            <a:xfrm>
              <a:off x="5704450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3739EB7-8EA7-CD42-F677-59C02D9ACCF8}"/>
                </a:ext>
              </a:extLst>
            </p:cNvPr>
            <p:cNvSpPr/>
            <p:nvPr/>
          </p:nvSpPr>
          <p:spPr>
            <a:xfrm>
              <a:off x="5256773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F6E206F-FCD9-E4A8-C881-61CAD1C8D1DD}"/>
                </a:ext>
              </a:extLst>
            </p:cNvPr>
            <p:cNvSpPr/>
            <p:nvPr/>
          </p:nvSpPr>
          <p:spPr>
            <a:xfrm>
              <a:off x="5710869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D789C1C3-3E35-50C2-3C3C-DF933C44C0EE}"/>
                </a:ext>
              </a:extLst>
            </p:cNvPr>
            <p:cNvSpPr/>
            <p:nvPr/>
          </p:nvSpPr>
          <p:spPr>
            <a:xfrm>
              <a:off x="5256773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B2A0B8C8-263C-9814-9364-0BF523253437}"/>
                </a:ext>
              </a:extLst>
            </p:cNvPr>
            <p:cNvSpPr/>
            <p:nvPr/>
          </p:nvSpPr>
          <p:spPr>
            <a:xfrm>
              <a:off x="5704450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2AC97C3-C585-B08E-BA1C-91577AA014D2}"/>
                </a:ext>
              </a:extLst>
            </p:cNvPr>
            <p:cNvSpPr/>
            <p:nvPr/>
          </p:nvSpPr>
          <p:spPr>
            <a:xfrm>
              <a:off x="6655300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7DD0762A-30D4-9C7E-577C-2316E64FC494}"/>
                </a:ext>
              </a:extLst>
            </p:cNvPr>
            <p:cNvSpPr/>
            <p:nvPr/>
          </p:nvSpPr>
          <p:spPr>
            <a:xfrm>
              <a:off x="7109396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06911F07-C8D3-2AEE-611E-2089F5477184}"/>
                </a:ext>
              </a:extLst>
            </p:cNvPr>
            <p:cNvSpPr/>
            <p:nvPr/>
          </p:nvSpPr>
          <p:spPr>
            <a:xfrm>
              <a:off x="6655300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B7E49E8-61F7-1C31-759C-784475DD1C16}"/>
                </a:ext>
              </a:extLst>
            </p:cNvPr>
            <p:cNvSpPr/>
            <p:nvPr/>
          </p:nvSpPr>
          <p:spPr>
            <a:xfrm>
              <a:off x="7102977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2525FE3-65E5-18E0-B409-C107ACF37F1C}"/>
                </a:ext>
              </a:extLst>
            </p:cNvPr>
            <p:cNvSpPr/>
            <p:nvPr/>
          </p:nvSpPr>
          <p:spPr>
            <a:xfrm>
              <a:off x="6655300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638009B-BF2F-99A2-A71A-19F601D219A1}"/>
                </a:ext>
              </a:extLst>
            </p:cNvPr>
            <p:cNvSpPr/>
            <p:nvPr/>
          </p:nvSpPr>
          <p:spPr>
            <a:xfrm>
              <a:off x="7109396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E42FD1B9-3E19-698F-BFC4-4DB77D0AEAE1}"/>
                </a:ext>
              </a:extLst>
            </p:cNvPr>
            <p:cNvSpPr/>
            <p:nvPr/>
          </p:nvSpPr>
          <p:spPr>
            <a:xfrm>
              <a:off x="6655300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3C398C9-7734-0CB7-5404-9CD95F4B3F9A}"/>
                </a:ext>
              </a:extLst>
            </p:cNvPr>
            <p:cNvSpPr/>
            <p:nvPr/>
          </p:nvSpPr>
          <p:spPr>
            <a:xfrm>
              <a:off x="7102977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6518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41272-CC6D-F73D-E465-C224DA244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FD3A9-C6BA-634B-7CC1-80E9AB53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Consumer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3B4391-34F5-682C-9B43-254D8845B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카프카 브로커의 데이터를 가져오는 역할을 수행</a:t>
            </a:r>
            <a:endParaRPr lang="en-US" altLang="ko-KR" dirty="0"/>
          </a:p>
          <a:p>
            <a:r>
              <a:rPr lang="ko-KR" altLang="en-US" dirty="0"/>
              <a:t>원하는 만큼의 메시지를 브로커에 요청가능</a:t>
            </a:r>
            <a:endParaRPr lang="en-US" altLang="ko-KR" dirty="0"/>
          </a:p>
          <a:p>
            <a:r>
              <a:rPr lang="ko-KR" altLang="en-US" dirty="0"/>
              <a:t>하나의 토픽에 여러 </a:t>
            </a:r>
            <a:r>
              <a:rPr lang="ko-KR" altLang="en-US" dirty="0" err="1"/>
              <a:t>컨슈머들이</a:t>
            </a:r>
            <a:r>
              <a:rPr lang="ko-KR" altLang="en-US" dirty="0"/>
              <a:t> 동시 구독 가능</a:t>
            </a:r>
            <a:r>
              <a:rPr lang="en-US" altLang="ko-KR" dirty="0"/>
              <a:t>(_</a:t>
            </a:r>
            <a:r>
              <a:rPr lang="en-US" altLang="ko-KR" dirty="0" err="1"/>
              <a:t>consumer_offset</a:t>
            </a:r>
            <a:r>
              <a:rPr lang="ko-KR" altLang="en-US" dirty="0"/>
              <a:t> 활용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컨슈머</a:t>
            </a:r>
            <a:r>
              <a:rPr lang="ko-KR" altLang="en-US" dirty="0"/>
              <a:t> 그룹이 존재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51E839-60BE-4D97-C12F-001CC5FA3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09AFF8D-F473-795C-4D50-31C61BF034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7A73B1D7-2356-DF63-915C-C11F61E1BF57}"/>
              </a:ext>
            </a:extLst>
          </p:cNvPr>
          <p:cNvGrpSpPr/>
          <p:nvPr/>
        </p:nvGrpSpPr>
        <p:grpSpPr>
          <a:xfrm>
            <a:off x="1917578" y="2965141"/>
            <a:ext cx="7602670" cy="2643527"/>
            <a:chOff x="1544714" y="2789751"/>
            <a:chExt cx="7988913" cy="298759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C6B3A97-029E-20C9-5033-D698CB695CED}"/>
                </a:ext>
              </a:extLst>
            </p:cNvPr>
            <p:cNvGrpSpPr/>
            <p:nvPr/>
          </p:nvGrpSpPr>
          <p:grpSpPr>
            <a:xfrm>
              <a:off x="1544714" y="2789751"/>
              <a:ext cx="7988913" cy="2987594"/>
              <a:chOff x="2595354" y="3007570"/>
              <a:chExt cx="7541955" cy="2421383"/>
            </a:xfrm>
          </p:grpSpPr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1FBA3B25-35B0-EECD-9373-28828D3F0B97}"/>
                  </a:ext>
                </a:extLst>
              </p:cNvPr>
              <p:cNvGrpSpPr/>
              <p:nvPr/>
            </p:nvGrpSpPr>
            <p:grpSpPr>
              <a:xfrm>
                <a:off x="4464817" y="3007570"/>
                <a:ext cx="3930283" cy="2421383"/>
                <a:chOff x="6429958" y="2586144"/>
                <a:chExt cx="5128768" cy="3264239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FFF4ADAD-DA5E-7A19-5CFF-526837FECE7B}"/>
                    </a:ext>
                  </a:extLst>
                </p:cNvPr>
                <p:cNvSpPr/>
                <p:nvPr/>
              </p:nvSpPr>
              <p:spPr>
                <a:xfrm>
                  <a:off x="6429958" y="2586144"/>
                  <a:ext cx="5128768" cy="326423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Broker</a:t>
                  </a: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1D5CE42F-51ED-A942-F494-E1F7275B6143}"/>
                    </a:ext>
                  </a:extLst>
                </p:cNvPr>
                <p:cNvSpPr/>
                <p:nvPr/>
              </p:nvSpPr>
              <p:spPr>
                <a:xfrm>
                  <a:off x="6779769" y="3243296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90901F74-BB48-5BFA-7DE3-604041096DF1}"/>
                    </a:ext>
                  </a:extLst>
                </p:cNvPr>
                <p:cNvSpPr/>
                <p:nvPr/>
              </p:nvSpPr>
              <p:spPr>
                <a:xfrm>
                  <a:off x="8404804" y="3243295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2B1075EE-8436-F409-F88F-C1A042F525D1}"/>
                    </a:ext>
                  </a:extLst>
                </p:cNvPr>
                <p:cNvSpPr/>
                <p:nvPr/>
              </p:nvSpPr>
              <p:spPr>
                <a:xfrm>
                  <a:off x="10098757" y="3236633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3" name="순서도: 자기 디스크 32">
                <a:extLst>
                  <a:ext uri="{FF2B5EF4-FFF2-40B4-BE49-F238E27FC236}">
                    <a16:creationId xmlns:a16="http://schemas.microsoft.com/office/drawing/2014/main" id="{518209BA-58C2-C9A2-B026-B8ECBD3BD165}"/>
                  </a:ext>
                </a:extLst>
              </p:cNvPr>
              <p:cNvSpPr/>
              <p:nvPr/>
            </p:nvSpPr>
            <p:spPr>
              <a:xfrm>
                <a:off x="2595354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순서도: 자기 디스크 33">
                <a:extLst>
                  <a:ext uri="{FF2B5EF4-FFF2-40B4-BE49-F238E27FC236}">
                    <a16:creationId xmlns:a16="http://schemas.microsoft.com/office/drawing/2014/main" id="{7AA0329B-3F01-7C79-44A2-639D6036585C}"/>
                  </a:ext>
                </a:extLst>
              </p:cNvPr>
              <p:cNvSpPr/>
              <p:nvPr/>
            </p:nvSpPr>
            <p:spPr>
              <a:xfrm>
                <a:off x="9055983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413ACCB8-27DF-CA79-F31D-DB293ADC8597}"/>
                  </a:ext>
                </a:extLst>
              </p:cNvPr>
              <p:cNvCxnSpPr>
                <a:cxnSpLocks/>
                <a:stCxn id="33" idx="4"/>
                <a:endCxn id="37" idx="1"/>
              </p:cNvCxnSpPr>
              <p:nvPr/>
            </p:nvCxnSpPr>
            <p:spPr>
              <a:xfrm>
                <a:off x="3676680" y="4218262"/>
                <a:ext cx="7881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EBE39E5C-1571-7EE2-46EC-DBE9C5C4CFBB}"/>
                  </a:ext>
                </a:extLst>
              </p:cNvPr>
              <p:cNvCxnSpPr>
                <a:cxnSpLocks/>
                <a:stCxn id="37" idx="3"/>
                <a:endCxn id="34" idx="2"/>
              </p:cNvCxnSpPr>
              <p:nvPr/>
            </p:nvCxnSpPr>
            <p:spPr>
              <a:xfrm>
                <a:off x="8395100" y="4218262"/>
                <a:ext cx="66088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66BD766-E321-8FDB-6F2A-9566C605ADC3}"/>
                </a:ext>
              </a:extLst>
            </p:cNvPr>
            <p:cNvSpPr/>
            <p:nvPr/>
          </p:nvSpPr>
          <p:spPr>
            <a:xfrm>
              <a:off x="3906589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44D57D0-8847-FDD7-5392-1B7095569B82}"/>
                </a:ext>
              </a:extLst>
            </p:cNvPr>
            <p:cNvSpPr/>
            <p:nvPr/>
          </p:nvSpPr>
          <p:spPr>
            <a:xfrm>
              <a:off x="4360685" y="390617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192974B-8CAE-01D0-1F6E-205A0C22E15D}"/>
                </a:ext>
              </a:extLst>
            </p:cNvPr>
            <p:cNvSpPr/>
            <p:nvPr/>
          </p:nvSpPr>
          <p:spPr>
            <a:xfrm>
              <a:off x="3906589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A17624A-FD7E-0EB3-588D-424C51E5A546}"/>
                </a:ext>
              </a:extLst>
            </p:cNvPr>
            <p:cNvSpPr/>
            <p:nvPr/>
          </p:nvSpPr>
          <p:spPr>
            <a:xfrm>
              <a:off x="4354266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AAA177A-29E3-E4B2-8410-456D55AB0FB7}"/>
                </a:ext>
              </a:extLst>
            </p:cNvPr>
            <p:cNvSpPr/>
            <p:nvPr/>
          </p:nvSpPr>
          <p:spPr>
            <a:xfrm>
              <a:off x="3906589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63CD21-9A55-069C-BF2C-F187A7607158}"/>
                </a:ext>
              </a:extLst>
            </p:cNvPr>
            <p:cNvSpPr/>
            <p:nvPr/>
          </p:nvSpPr>
          <p:spPr>
            <a:xfrm>
              <a:off x="4360685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DE7FD05-98E7-96BC-09EF-684A06F4C455}"/>
                </a:ext>
              </a:extLst>
            </p:cNvPr>
            <p:cNvSpPr/>
            <p:nvPr/>
          </p:nvSpPr>
          <p:spPr>
            <a:xfrm>
              <a:off x="3906589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A6A2B2B-9665-74EF-CD30-DE423CF2A41E}"/>
                </a:ext>
              </a:extLst>
            </p:cNvPr>
            <p:cNvSpPr/>
            <p:nvPr/>
          </p:nvSpPr>
          <p:spPr>
            <a:xfrm>
              <a:off x="4354266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DE4A8AB-FF5A-C464-25BE-E7243D9708B4}"/>
                </a:ext>
              </a:extLst>
            </p:cNvPr>
            <p:cNvSpPr/>
            <p:nvPr/>
          </p:nvSpPr>
          <p:spPr>
            <a:xfrm>
              <a:off x="5256773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158E340-B019-86B9-7236-45655B1A2E49}"/>
                </a:ext>
              </a:extLst>
            </p:cNvPr>
            <p:cNvSpPr/>
            <p:nvPr/>
          </p:nvSpPr>
          <p:spPr>
            <a:xfrm>
              <a:off x="5710869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6BF1523-A8A7-4C0D-963E-E5154AA0E6A2}"/>
                </a:ext>
              </a:extLst>
            </p:cNvPr>
            <p:cNvSpPr/>
            <p:nvPr/>
          </p:nvSpPr>
          <p:spPr>
            <a:xfrm>
              <a:off x="5256773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401608E-EF8B-6898-7B8F-C4FD5ADEAFBC}"/>
                </a:ext>
              </a:extLst>
            </p:cNvPr>
            <p:cNvSpPr/>
            <p:nvPr/>
          </p:nvSpPr>
          <p:spPr>
            <a:xfrm>
              <a:off x="5704450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1B4E7EB-983A-F903-A676-8AB4A9C3CA0D}"/>
                </a:ext>
              </a:extLst>
            </p:cNvPr>
            <p:cNvSpPr/>
            <p:nvPr/>
          </p:nvSpPr>
          <p:spPr>
            <a:xfrm>
              <a:off x="5256773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1760C34-CF36-A17F-8E3B-F6250A55BBE0}"/>
                </a:ext>
              </a:extLst>
            </p:cNvPr>
            <p:cNvSpPr/>
            <p:nvPr/>
          </p:nvSpPr>
          <p:spPr>
            <a:xfrm>
              <a:off x="5710869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258DEF0-0ED4-29B9-5160-CF73162D9DD4}"/>
                </a:ext>
              </a:extLst>
            </p:cNvPr>
            <p:cNvSpPr/>
            <p:nvPr/>
          </p:nvSpPr>
          <p:spPr>
            <a:xfrm>
              <a:off x="5256773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5834F71-B560-D5F8-2F36-00167E501647}"/>
                </a:ext>
              </a:extLst>
            </p:cNvPr>
            <p:cNvSpPr/>
            <p:nvPr/>
          </p:nvSpPr>
          <p:spPr>
            <a:xfrm>
              <a:off x="5704450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AF354B3-631C-E444-A9E3-0E34B1F00989}"/>
                </a:ext>
              </a:extLst>
            </p:cNvPr>
            <p:cNvSpPr/>
            <p:nvPr/>
          </p:nvSpPr>
          <p:spPr>
            <a:xfrm>
              <a:off x="6655300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B3EE2AB-7BC1-F503-8F42-D6EC85B1EA48}"/>
                </a:ext>
              </a:extLst>
            </p:cNvPr>
            <p:cNvSpPr/>
            <p:nvPr/>
          </p:nvSpPr>
          <p:spPr>
            <a:xfrm>
              <a:off x="7109396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B7FEF3B-852D-E9FC-E3FA-A1AC8C542F3D}"/>
                </a:ext>
              </a:extLst>
            </p:cNvPr>
            <p:cNvSpPr/>
            <p:nvPr/>
          </p:nvSpPr>
          <p:spPr>
            <a:xfrm>
              <a:off x="6655300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2A9992C8-EEF9-5B89-D524-225AFB640DED}"/>
                </a:ext>
              </a:extLst>
            </p:cNvPr>
            <p:cNvSpPr/>
            <p:nvPr/>
          </p:nvSpPr>
          <p:spPr>
            <a:xfrm>
              <a:off x="7102977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30B3342D-FD76-5E75-644F-33C7F5798A87}"/>
                </a:ext>
              </a:extLst>
            </p:cNvPr>
            <p:cNvSpPr/>
            <p:nvPr/>
          </p:nvSpPr>
          <p:spPr>
            <a:xfrm>
              <a:off x="6655300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6024FAD-C9EF-4F08-70E1-BB976A5E135F}"/>
                </a:ext>
              </a:extLst>
            </p:cNvPr>
            <p:cNvSpPr/>
            <p:nvPr/>
          </p:nvSpPr>
          <p:spPr>
            <a:xfrm>
              <a:off x="7109396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5FCCFB4-2E72-1328-0F5E-B697E0CC3278}"/>
                </a:ext>
              </a:extLst>
            </p:cNvPr>
            <p:cNvSpPr/>
            <p:nvPr/>
          </p:nvSpPr>
          <p:spPr>
            <a:xfrm>
              <a:off x="6655300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1A6581CE-38E8-B036-B04F-6420CA208087}"/>
                </a:ext>
              </a:extLst>
            </p:cNvPr>
            <p:cNvSpPr/>
            <p:nvPr/>
          </p:nvSpPr>
          <p:spPr>
            <a:xfrm>
              <a:off x="7102977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4815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ED26A-950B-D7DC-AE9B-574DE9EC8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25331-75D9-0EB3-7118-3FCC084D6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Consumer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66BA2-5B6F-348B-E3E2-751EC866F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컨슈머</a:t>
            </a:r>
            <a:r>
              <a:rPr lang="ko-KR" altLang="en-US" dirty="0"/>
              <a:t> 그룹은 그룹별로 데이터의 처리 가능</a:t>
            </a:r>
            <a:r>
              <a:rPr lang="en-US" altLang="ko-KR" dirty="0"/>
              <a:t>(_</a:t>
            </a:r>
            <a:r>
              <a:rPr lang="en-US" altLang="ko-KR" dirty="0" err="1"/>
              <a:t>consumer_offsets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다른 그룹과 격리</a:t>
            </a:r>
            <a:r>
              <a:rPr lang="en-US" altLang="ko-KR" dirty="0"/>
              <a:t>, </a:t>
            </a:r>
            <a:r>
              <a:rPr lang="ko-KR" altLang="en-US" dirty="0"/>
              <a:t>병렬처리 가능</a:t>
            </a:r>
            <a:endParaRPr lang="en-US" altLang="ko-KR" dirty="0"/>
          </a:p>
          <a:p>
            <a:r>
              <a:rPr lang="ko-KR" altLang="en-US" dirty="0"/>
              <a:t>각 그룹의 </a:t>
            </a:r>
            <a:r>
              <a:rPr lang="ko-KR" altLang="en-US" dirty="0" err="1"/>
              <a:t>컨슈머들은</a:t>
            </a:r>
            <a:r>
              <a:rPr lang="ko-KR" altLang="en-US" dirty="0"/>
              <a:t> 각 파티션을 고유하게 읽음</a:t>
            </a:r>
            <a:r>
              <a:rPr lang="en-US" altLang="ko-KR" dirty="0"/>
              <a:t>(</a:t>
            </a:r>
            <a:r>
              <a:rPr lang="ko-KR" altLang="en-US" dirty="0"/>
              <a:t>파티션당 하나의 </a:t>
            </a:r>
            <a:r>
              <a:rPr lang="ko-KR" altLang="en-US" dirty="0" err="1"/>
              <a:t>컨슈머</a:t>
            </a:r>
            <a:r>
              <a:rPr lang="en-US" altLang="ko-KR" dirty="0"/>
              <a:t>, </a:t>
            </a:r>
            <a:r>
              <a:rPr lang="ko-KR" altLang="en-US" dirty="0"/>
              <a:t>반대는 가능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각 그룹의 </a:t>
            </a:r>
            <a:r>
              <a:rPr lang="ko-KR" altLang="en-US" dirty="0" err="1"/>
              <a:t>컨슈머는</a:t>
            </a:r>
            <a:r>
              <a:rPr lang="ko-KR" altLang="en-US" dirty="0"/>
              <a:t> 파티션의 소유권이 겹치지 않음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D05B44-8AED-69DB-4325-EC898B05C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7D400BF-2D59-B9B1-77F5-575D9C80877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18A1E37C-4B96-6DD9-E206-0A2B726A2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040" y="2439548"/>
            <a:ext cx="5655688" cy="390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128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884E92-27DE-AAD0-3142-467D5E1C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컨슈머</a:t>
            </a:r>
            <a:r>
              <a:rPr lang="ko-KR" altLang="en-US" dirty="0"/>
              <a:t> 그룹 </a:t>
            </a:r>
            <a:r>
              <a:rPr lang="ko-KR" altLang="en-US" dirty="0" err="1"/>
              <a:t>리밸런싱</a:t>
            </a:r>
            <a:r>
              <a:rPr lang="en-US" altLang="ko-KR" dirty="0"/>
              <a:t>(Rebalancing)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5697B4-2965-A323-0153-F365FCE63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컨슈머</a:t>
            </a:r>
            <a:r>
              <a:rPr lang="ko-KR" altLang="en-US" dirty="0"/>
              <a:t> 그룹 내의 소유권을 이관하는 작업</a:t>
            </a:r>
            <a:r>
              <a:rPr lang="en-US" altLang="ko-KR" dirty="0"/>
              <a:t>(</a:t>
            </a:r>
            <a:r>
              <a:rPr lang="ko-KR" altLang="en-US" dirty="0"/>
              <a:t>파티션 소유권</a:t>
            </a:r>
            <a:r>
              <a:rPr lang="en-US" altLang="ko-KR" dirty="0"/>
              <a:t>)</a:t>
            </a:r>
          </a:p>
          <a:p>
            <a:r>
              <a:rPr lang="ko-KR" altLang="en-US" dirty="0" err="1"/>
              <a:t>컨슈머</a:t>
            </a:r>
            <a:r>
              <a:rPr lang="ko-KR" altLang="en-US" dirty="0"/>
              <a:t> 그룹 </a:t>
            </a:r>
            <a:r>
              <a:rPr lang="ko-KR" altLang="en-US" dirty="0" err="1"/>
              <a:t>코디네이터가</a:t>
            </a:r>
            <a:r>
              <a:rPr lang="ko-KR" altLang="en-US" dirty="0"/>
              <a:t> 수행</a:t>
            </a:r>
            <a:endParaRPr lang="en-US" altLang="ko-KR" dirty="0"/>
          </a:p>
          <a:p>
            <a:r>
              <a:rPr lang="en-US" altLang="ko-KR" dirty="0"/>
              <a:t>When?</a:t>
            </a:r>
          </a:p>
          <a:p>
            <a:pPr lvl="1"/>
            <a:r>
              <a:rPr lang="ko-KR" altLang="en-US" sz="1600" dirty="0" err="1"/>
              <a:t>컨슈머</a:t>
            </a:r>
            <a:r>
              <a:rPr lang="ko-KR" altLang="en-US" sz="1600" dirty="0"/>
              <a:t> 그룹변화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컨슈머</a:t>
            </a:r>
            <a:r>
              <a:rPr lang="ko-KR" altLang="en-US" sz="1600" dirty="0"/>
              <a:t> 추가</a:t>
            </a:r>
            <a:r>
              <a:rPr lang="en-US" altLang="ko-KR" sz="1600" dirty="0"/>
              <a:t>, </a:t>
            </a:r>
            <a:r>
              <a:rPr lang="ko-KR" altLang="en-US" sz="1600" dirty="0"/>
              <a:t>제외</a:t>
            </a:r>
            <a:endParaRPr lang="en-US" altLang="ko-KR" sz="1600" dirty="0"/>
          </a:p>
          <a:p>
            <a:pPr lvl="1"/>
            <a:r>
              <a:rPr lang="ko-KR" altLang="en-US" sz="1600" dirty="0"/>
              <a:t>새로운 파티션 변화 </a:t>
            </a:r>
            <a:r>
              <a:rPr lang="en-US" altLang="ko-KR" sz="1600" dirty="0"/>
              <a:t>: </a:t>
            </a:r>
            <a:r>
              <a:rPr lang="ko-KR" altLang="en-US" sz="1600" dirty="0"/>
              <a:t>토픽의 파티션이 추가</a:t>
            </a:r>
            <a:r>
              <a:rPr lang="en-US" altLang="ko-KR" sz="1600" dirty="0"/>
              <a:t>, </a:t>
            </a:r>
            <a:r>
              <a:rPr lang="ko-KR" altLang="en-US" sz="1600" dirty="0"/>
              <a:t>변경</a:t>
            </a:r>
            <a:endParaRPr lang="en-US" altLang="ko-KR" sz="1600" dirty="0"/>
          </a:p>
          <a:p>
            <a:r>
              <a:rPr lang="ko-KR" altLang="en-US" dirty="0"/>
              <a:t>장애감지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sz="1600" dirty="0" err="1"/>
              <a:t>컨슈머는</a:t>
            </a:r>
            <a:r>
              <a:rPr lang="ko-KR" altLang="en-US" sz="1600" dirty="0"/>
              <a:t> 통신 중에 </a:t>
            </a:r>
            <a:r>
              <a:rPr lang="en-US" altLang="ko-KR" sz="1600" dirty="0"/>
              <a:t>Heartbeat</a:t>
            </a:r>
            <a:r>
              <a:rPr lang="ko-KR" altLang="en-US" sz="1600" dirty="0"/>
              <a:t>메시지를 코디네이터에 전달</a:t>
            </a:r>
            <a:endParaRPr lang="en-US" altLang="ko-KR" sz="1600" dirty="0"/>
          </a:p>
          <a:p>
            <a:pPr lvl="1"/>
            <a:r>
              <a:rPr lang="en-US" altLang="ko-KR" sz="1600" dirty="0"/>
              <a:t>Heartbeat </a:t>
            </a:r>
            <a:r>
              <a:rPr lang="ko-KR" altLang="en-US" sz="1600" dirty="0"/>
              <a:t>상태로 장애를 감지</a:t>
            </a:r>
            <a:endParaRPr lang="en-US" altLang="ko-KR" sz="1600" dirty="0"/>
          </a:p>
          <a:p>
            <a:endParaRPr lang="en-US" altLang="ko-KR" dirty="0"/>
          </a:p>
          <a:p>
            <a:pPr marL="457200" lvl="1" indent="0">
              <a:buNone/>
            </a:pPr>
            <a:endParaRPr lang="en-US" altLang="ko-KR" sz="1600" dirty="0"/>
          </a:p>
          <a:p>
            <a:pPr marL="457200" lvl="1" indent="0">
              <a:buNone/>
            </a:pPr>
            <a:endParaRPr lang="en-US" altLang="ko-KR" sz="16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56940-E6F6-C03F-3047-DC56A725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E56C86A-D1D4-94EB-3FE8-0390AC08D83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383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5C0C5-BE7B-E841-C846-26D6748E4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F2CB3-AA3E-1E6A-ECEF-8B9606587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컨슈머</a:t>
            </a:r>
            <a:r>
              <a:rPr lang="ko-KR" altLang="en-US" dirty="0"/>
              <a:t> 그룹 </a:t>
            </a:r>
            <a:r>
              <a:rPr lang="ko-KR" altLang="en-US" dirty="0" err="1"/>
              <a:t>리밸런싱</a:t>
            </a:r>
            <a:r>
              <a:rPr lang="en-US" altLang="ko-KR" dirty="0"/>
              <a:t>(Rebalancing)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5A2487-CB23-8BFD-675C-AD76D5B7C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/>
              <a:t>1.</a:t>
            </a:r>
            <a:r>
              <a:rPr lang="ko-KR" altLang="en-US" sz="1400" dirty="0" err="1"/>
              <a:t>코디네이터가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컨슈머</a:t>
            </a:r>
            <a:r>
              <a:rPr lang="ko-KR" altLang="en-US" sz="1400" dirty="0"/>
              <a:t> 그룹의 모든 </a:t>
            </a:r>
            <a:r>
              <a:rPr lang="ko-KR" altLang="en-US" sz="1400" dirty="0" err="1"/>
              <a:t>컨슈머들의</a:t>
            </a:r>
            <a:r>
              <a:rPr lang="ko-KR" altLang="en-US" sz="1400" dirty="0"/>
              <a:t> 파티션 소유권을 박탈</a:t>
            </a:r>
            <a:endParaRPr lang="en-US" altLang="ko-KR" sz="1400" dirty="0"/>
          </a:p>
          <a:p>
            <a:r>
              <a:rPr lang="en-US" altLang="ko-KR" sz="1400" dirty="0"/>
              <a:t>2. </a:t>
            </a:r>
            <a:r>
              <a:rPr lang="ko-KR" altLang="en-US" sz="1400" dirty="0" err="1"/>
              <a:t>컨슈머들은</a:t>
            </a:r>
            <a:r>
              <a:rPr lang="ko-KR" altLang="en-US" sz="1400" dirty="0"/>
              <a:t> 각각 </a:t>
            </a:r>
            <a:r>
              <a:rPr lang="en-US" altLang="ko-KR" sz="1400" dirty="0"/>
              <a:t>poll</a:t>
            </a:r>
            <a:r>
              <a:rPr lang="ko-KR" altLang="en-US" sz="1400" dirty="0"/>
              <a:t>을 호출</a:t>
            </a:r>
            <a:r>
              <a:rPr lang="en-US" altLang="ko-KR" sz="1400" dirty="0"/>
              <a:t>, </a:t>
            </a:r>
            <a:r>
              <a:rPr lang="ko-KR" altLang="en-US" sz="1400" dirty="0"/>
              <a:t>조인요청</a:t>
            </a:r>
            <a:endParaRPr lang="en-US" altLang="ko-KR" sz="1400" dirty="0"/>
          </a:p>
          <a:p>
            <a:r>
              <a:rPr lang="en-US" altLang="ko-KR" sz="1400" dirty="0"/>
              <a:t>3. </a:t>
            </a:r>
            <a:r>
              <a:rPr lang="ko-KR" altLang="en-US" sz="1400" dirty="0" err="1"/>
              <a:t>코디네이터는</a:t>
            </a:r>
            <a:r>
              <a:rPr lang="ko-KR" altLang="en-US" sz="1400" dirty="0"/>
              <a:t> 특정 로직을 통해 리더 </a:t>
            </a:r>
            <a:r>
              <a:rPr lang="ko-KR" altLang="en-US" sz="1400" dirty="0" err="1"/>
              <a:t>컨슈머를</a:t>
            </a:r>
            <a:r>
              <a:rPr lang="ko-KR" altLang="en-US" sz="1400" dirty="0"/>
              <a:t> 선정</a:t>
            </a:r>
            <a:endParaRPr lang="en-US" altLang="ko-KR" sz="1400" dirty="0"/>
          </a:p>
          <a:p>
            <a:r>
              <a:rPr lang="en-US" altLang="ko-KR" sz="1400" dirty="0"/>
              <a:t>4. </a:t>
            </a:r>
            <a:r>
              <a:rPr lang="ko-KR" altLang="en-US" sz="1400" dirty="0" err="1"/>
              <a:t>리더컨슈머는</a:t>
            </a:r>
            <a:r>
              <a:rPr lang="ko-KR" altLang="en-US" sz="1400" dirty="0"/>
              <a:t> 파티션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컨슈머</a:t>
            </a:r>
            <a:r>
              <a:rPr lang="ko-KR" altLang="en-US" sz="1400" dirty="0"/>
              <a:t> 목록을 참고하여 파티션을 재할당 정보를 만들고 코디네이터에 전달</a:t>
            </a:r>
            <a:endParaRPr lang="en-US" altLang="ko-KR" sz="1400" dirty="0"/>
          </a:p>
          <a:p>
            <a:r>
              <a:rPr lang="en-US" altLang="ko-KR" sz="1400" dirty="0"/>
              <a:t>5. 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코디네이터는</a:t>
            </a:r>
            <a:r>
              <a:rPr lang="ko-KR" altLang="en-US" sz="1400" dirty="0"/>
              <a:t> 재조정된 정보를 파티션에 알리고 종료</a:t>
            </a:r>
            <a:endParaRPr lang="en-US" altLang="ko-KR" sz="1400" dirty="0"/>
          </a:p>
          <a:p>
            <a:endParaRPr lang="en-US" altLang="ko-KR" sz="1400" dirty="0"/>
          </a:p>
          <a:p>
            <a:pPr marL="457200" lvl="1" indent="0">
              <a:buNone/>
            </a:pPr>
            <a:endParaRPr lang="en-US" altLang="ko-KR" sz="1200" dirty="0"/>
          </a:p>
          <a:p>
            <a:pPr marL="457200" lvl="1" indent="0">
              <a:buNone/>
            </a:pPr>
            <a:endParaRPr lang="en-US" altLang="ko-KR" sz="1200" dirty="0"/>
          </a:p>
          <a:p>
            <a:endParaRPr lang="ko-KR" altLang="en-US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02898A-9561-D1C9-AF6C-82D6110D0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2B90376-15D0-1ED9-FD5A-A0E891852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998BA93-9133-340D-B5F8-5E225C7E0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872" y="2817925"/>
            <a:ext cx="10032550" cy="346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25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85E4C-E6B4-9486-8022-B0C39494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Broker Partition Replication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FA73F-E6CE-C47C-10F2-0B556AA5E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데이터 복제</a:t>
            </a:r>
            <a:endParaRPr lang="en-US" altLang="ko-KR" dirty="0"/>
          </a:p>
          <a:p>
            <a:r>
              <a:rPr lang="ko-KR" altLang="en-US" dirty="0"/>
              <a:t>카프카를 장애로부터 동작 가능하게 함</a:t>
            </a:r>
            <a:endParaRPr lang="en-US" altLang="ko-KR" dirty="0"/>
          </a:p>
          <a:p>
            <a:r>
              <a:rPr lang="ko-KR" altLang="en-US" dirty="0"/>
              <a:t>복제는 파티션 단위로 이루어짐</a:t>
            </a:r>
            <a:endParaRPr lang="en-US" altLang="ko-KR" dirty="0"/>
          </a:p>
          <a:p>
            <a:r>
              <a:rPr lang="ko-KR" altLang="en-US" dirty="0"/>
              <a:t>리더와 </a:t>
            </a:r>
            <a:r>
              <a:rPr lang="ko-KR" altLang="en-US" dirty="0" err="1"/>
              <a:t>팔로워가</a:t>
            </a:r>
            <a:r>
              <a:rPr lang="ko-KR" altLang="en-US" dirty="0"/>
              <a:t> 존재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주키퍼</a:t>
            </a:r>
            <a:r>
              <a:rPr lang="ko-KR" altLang="en-US" sz="1600" dirty="0"/>
              <a:t> 메커니즘에 의해 선정</a:t>
            </a:r>
            <a:r>
              <a:rPr lang="en-US" altLang="ko-KR" sz="1600" dirty="0"/>
              <a:t>)</a:t>
            </a:r>
            <a:endParaRPr lang="en-US" altLang="ko-KR" dirty="0"/>
          </a:p>
          <a:p>
            <a:r>
              <a:rPr lang="ko-KR" altLang="en-US" dirty="0"/>
              <a:t>리더 </a:t>
            </a:r>
            <a:r>
              <a:rPr lang="en-US" altLang="ko-KR" dirty="0"/>
              <a:t>: </a:t>
            </a:r>
            <a:r>
              <a:rPr lang="ko-KR" altLang="en-US" dirty="0"/>
              <a:t>프로듀서</a:t>
            </a:r>
            <a:r>
              <a:rPr lang="en-US" altLang="ko-KR" dirty="0"/>
              <a:t>, </a:t>
            </a:r>
            <a:r>
              <a:rPr lang="ko-KR" altLang="en-US" dirty="0" err="1"/>
              <a:t>컨슈머와</a:t>
            </a:r>
            <a:r>
              <a:rPr lang="ko-KR" altLang="en-US" dirty="0"/>
              <a:t> </a:t>
            </a:r>
            <a:r>
              <a:rPr lang="ko-KR" altLang="en-US" dirty="0" err="1"/>
              <a:t>직접통신하는</a:t>
            </a:r>
            <a:r>
              <a:rPr lang="ko-KR" altLang="en-US" dirty="0"/>
              <a:t> 파티션</a:t>
            </a:r>
            <a:endParaRPr lang="en-US" altLang="ko-KR" dirty="0"/>
          </a:p>
          <a:p>
            <a:r>
              <a:rPr lang="ko-KR" altLang="en-US" dirty="0" err="1"/>
              <a:t>팔로워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나머지 복제 데이터를 가지고 있는 파티션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3D8ECD-4FAF-3E1E-7DA4-D8A24409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0275FEA-507C-0801-A022-5993166A97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16DC990-1643-0DEE-13C9-0913584524D0}"/>
              </a:ext>
            </a:extLst>
          </p:cNvPr>
          <p:cNvGrpSpPr/>
          <p:nvPr/>
        </p:nvGrpSpPr>
        <p:grpSpPr>
          <a:xfrm>
            <a:off x="6137563" y="1286880"/>
            <a:ext cx="5784852" cy="2359690"/>
            <a:chOff x="1544714" y="2789751"/>
            <a:chExt cx="7988913" cy="298759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54F753C6-8E7C-1031-1914-3A89944E9167}"/>
                </a:ext>
              </a:extLst>
            </p:cNvPr>
            <p:cNvGrpSpPr/>
            <p:nvPr/>
          </p:nvGrpSpPr>
          <p:grpSpPr>
            <a:xfrm>
              <a:off x="1544714" y="2789751"/>
              <a:ext cx="7988913" cy="2987594"/>
              <a:chOff x="2595354" y="3007570"/>
              <a:chExt cx="7541955" cy="2421383"/>
            </a:xfrm>
          </p:grpSpPr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92D9ECA2-493D-05D4-FFC7-1E9B8E9FAB6A}"/>
                  </a:ext>
                </a:extLst>
              </p:cNvPr>
              <p:cNvGrpSpPr/>
              <p:nvPr/>
            </p:nvGrpSpPr>
            <p:grpSpPr>
              <a:xfrm>
                <a:off x="4464817" y="3007570"/>
                <a:ext cx="3930283" cy="2421383"/>
                <a:chOff x="6429958" y="2586145"/>
                <a:chExt cx="5128768" cy="3264239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DF8FFD22-AEB2-FEE7-AAD9-FE563B57FA38}"/>
                    </a:ext>
                  </a:extLst>
                </p:cNvPr>
                <p:cNvSpPr/>
                <p:nvPr/>
              </p:nvSpPr>
              <p:spPr>
                <a:xfrm>
                  <a:off x="6429958" y="2586145"/>
                  <a:ext cx="5128768" cy="326423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>
                      <a:solidFill>
                        <a:schemeClr val="tx1"/>
                      </a:solidFill>
                    </a:rPr>
                    <a:t>Broker1</a:t>
                  </a:r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29038694-9C45-FCA5-B85E-6426100179D2}"/>
                    </a:ext>
                  </a:extLst>
                </p:cNvPr>
                <p:cNvSpPr/>
                <p:nvPr/>
              </p:nvSpPr>
              <p:spPr>
                <a:xfrm>
                  <a:off x="6779769" y="3243296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BF5D267E-09C6-D45F-3CE6-E386A01D15F9}"/>
                    </a:ext>
                  </a:extLst>
                </p:cNvPr>
                <p:cNvSpPr/>
                <p:nvPr/>
              </p:nvSpPr>
              <p:spPr>
                <a:xfrm>
                  <a:off x="8404804" y="3243295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4DF8D5A5-7BAE-283F-1A0E-349D7EAF5323}"/>
                    </a:ext>
                  </a:extLst>
                </p:cNvPr>
                <p:cNvSpPr/>
                <p:nvPr/>
              </p:nvSpPr>
              <p:spPr>
                <a:xfrm>
                  <a:off x="10098757" y="3236633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33" name="순서도: 자기 디스크 32">
                <a:extLst>
                  <a:ext uri="{FF2B5EF4-FFF2-40B4-BE49-F238E27FC236}">
                    <a16:creationId xmlns:a16="http://schemas.microsoft.com/office/drawing/2014/main" id="{6DD95D9B-21A4-A31F-90D7-23AD8FB47027}"/>
                  </a:ext>
                </a:extLst>
              </p:cNvPr>
              <p:cNvSpPr/>
              <p:nvPr/>
            </p:nvSpPr>
            <p:spPr>
              <a:xfrm>
                <a:off x="2595354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순서도: 자기 디스크 33">
                <a:extLst>
                  <a:ext uri="{FF2B5EF4-FFF2-40B4-BE49-F238E27FC236}">
                    <a16:creationId xmlns:a16="http://schemas.microsoft.com/office/drawing/2014/main" id="{71E47631-F55F-DAA4-FEC4-BA61BB972627}"/>
                  </a:ext>
                </a:extLst>
              </p:cNvPr>
              <p:cNvSpPr/>
              <p:nvPr/>
            </p:nvSpPr>
            <p:spPr>
              <a:xfrm>
                <a:off x="9055983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2E2BFEF3-AA15-1826-C3A2-215831D89571}"/>
                  </a:ext>
                </a:extLst>
              </p:cNvPr>
              <p:cNvCxnSpPr>
                <a:cxnSpLocks/>
                <a:stCxn id="33" idx="4"/>
                <a:endCxn id="37" idx="1"/>
              </p:cNvCxnSpPr>
              <p:nvPr/>
            </p:nvCxnSpPr>
            <p:spPr>
              <a:xfrm>
                <a:off x="3676680" y="4218262"/>
                <a:ext cx="7881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F3865571-174F-5514-1890-71EE68765655}"/>
                  </a:ext>
                </a:extLst>
              </p:cNvPr>
              <p:cNvCxnSpPr>
                <a:cxnSpLocks/>
                <a:stCxn id="37" idx="3"/>
                <a:endCxn id="34" idx="2"/>
              </p:cNvCxnSpPr>
              <p:nvPr/>
            </p:nvCxnSpPr>
            <p:spPr>
              <a:xfrm>
                <a:off x="8395100" y="4218262"/>
                <a:ext cx="66088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0379A2D-AF87-4130-5C95-BCEE403A44E4}"/>
                </a:ext>
              </a:extLst>
            </p:cNvPr>
            <p:cNvSpPr/>
            <p:nvPr/>
          </p:nvSpPr>
          <p:spPr>
            <a:xfrm>
              <a:off x="3906589" y="3906175"/>
              <a:ext cx="266330" cy="27520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2E46D76-51DC-01D3-D145-89C430E30029}"/>
                </a:ext>
              </a:extLst>
            </p:cNvPr>
            <p:cNvSpPr/>
            <p:nvPr/>
          </p:nvSpPr>
          <p:spPr>
            <a:xfrm>
              <a:off x="4360685" y="3906175"/>
              <a:ext cx="266330" cy="2752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93A261E-5A38-37B7-E38B-8ED068A90945}"/>
                </a:ext>
              </a:extLst>
            </p:cNvPr>
            <p:cNvSpPr/>
            <p:nvPr/>
          </p:nvSpPr>
          <p:spPr>
            <a:xfrm>
              <a:off x="3906589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D684B68-8FD9-54D6-A00C-D4A2A47ACA6B}"/>
                </a:ext>
              </a:extLst>
            </p:cNvPr>
            <p:cNvSpPr/>
            <p:nvPr/>
          </p:nvSpPr>
          <p:spPr>
            <a:xfrm>
              <a:off x="4354266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EBF93BC-F197-881B-FD6A-5A87D7675B7A}"/>
                </a:ext>
              </a:extLst>
            </p:cNvPr>
            <p:cNvSpPr/>
            <p:nvPr/>
          </p:nvSpPr>
          <p:spPr>
            <a:xfrm>
              <a:off x="3906589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8DE1B4F-99E0-DF7F-8053-1CF2BAAA5B4E}"/>
                </a:ext>
              </a:extLst>
            </p:cNvPr>
            <p:cNvSpPr/>
            <p:nvPr/>
          </p:nvSpPr>
          <p:spPr>
            <a:xfrm>
              <a:off x="4360685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CF2FF86-348C-E915-D298-96B4ABD42B05}"/>
                </a:ext>
              </a:extLst>
            </p:cNvPr>
            <p:cNvSpPr/>
            <p:nvPr/>
          </p:nvSpPr>
          <p:spPr>
            <a:xfrm>
              <a:off x="3906589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CFCC8DC-48A8-E814-54D8-E612B5B6C633}"/>
                </a:ext>
              </a:extLst>
            </p:cNvPr>
            <p:cNvSpPr/>
            <p:nvPr/>
          </p:nvSpPr>
          <p:spPr>
            <a:xfrm>
              <a:off x="4354266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AC55E7D-DF66-BE22-49F8-E21BB7F391AB}"/>
                </a:ext>
              </a:extLst>
            </p:cNvPr>
            <p:cNvSpPr/>
            <p:nvPr/>
          </p:nvSpPr>
          <p:spPr>
            <a:xfrm>
              <a:off x="5256773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303E9EF-65F5-AD2B-BE40-B0E5E6E5647B}"/>
                </a:ext>
              </a:extLst>
            </p:cNvPr>
            <p:cNvSpPr/>
            <p:nvPr/>
          </p:nvSpPr>
          <p:spPr>
            <a:xfrm>
              <a:off x="5710869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7E9DBBD8-44AA-BAB0-FFF9-B068080B9A78}"/>
                </a:ext>
              </a:extLst>
            </p:cNvPr>
            <p:cNvSpPr/>
            <p:nvPr/>
          </p:nvSpPr>
          <p:spPr>
            <a:xfrm>
              <a:off x="5256773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0BB6DF7-EC0A-A295-C99E-ED4DFD408E6D}"/>
                </a:ext>
              </a:extLst>
            </p:cNvPr>
            <p:cNvSpPr/>
            <p:nvPr/>
          </p:nvSpPr>
          <p:spPr>
            <a:xfrm>
              <a:off x="5704450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C8991BC-D380-9F7C-F8E3-FF5CCF1CD254}"/>
                </a:ext>
              </a:extLst>
            </p:cNvPr>
            <p:cNvSpPr/>
            <p:nvPr/>
          </p:nvSpPr>
          <p:spPr>
            <a:xfrm>
              <a:off x="5256773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AD15111-4A90-8478-F61C-9A0C6314C046}"/>
                </a:ext>
              </a:extLst>
            </p:cNvPr>
            <p:cNvSpPr/>
            <p:nvPr/>
          </p:nvSpPr>
          <p:spPr>
            <a:xfrm>
              <a:off x="5710869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83ACCDF-B9CE-B069-3265-79A6182E9E1F}"/>
                </a:ext>
              </a:extLst>
            </p:cNvPr>
            <p:cNvSpPr/>
            <p:nvPr/>
          </p:nvSpPr>
          <p:spPr>
            <a:xfrm>
              <a:off x="5256773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0F6B241-632A-F065-9A84-B344189B04FB}"/>
                </a:ext>
              </a:extLst>
            </p:cNvPr>
            <p:cNvSpPr/>
            <p:nvPr/>
          </p:nvSpPr>
          <p:spPr>
            <a:xfrm>
              <a:off x="5704450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40ED02F-DC3A-7A1D-BBF1-92BAEF8F0E01}"/>
                </a:ext>
              </a:extLst>
            </p:cNvPr>
            <p:cNvSpPr/>
            <p:nvPr/>
          </p:nvSpPr>
          <p:spPr>
            <a:xfrm>
              <a:off x="6655300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6F5CF97-2F54-F65D-A9E3-2A687CB5B4F0}"/>
                </a:ext>
              </a:extLst>
            </p:cNvPr>
            <p:cNvSpPr/>
            <p:nvPr/>
          </p:nvSpPr>
          <p:spPr>
            <a:xfrm>
              <a:off x="7109396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FCAEA0C-80F3-CFE5-019C-337D72E95E34}"/>
                </a:ext>
              </a:extLst>
            </p:cNvPr>
            <p:cNvSpPr/>
            <p:nvPr/>
          </p:nvSpPr>
          <p:spPr>
            <a:xfrm>
              <a:off x="6655300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5DBD197C-908C-159E-B9E5-15FE3A113A19}"/>
                </a:ext>
              </a:extLst>
            </p:cNvPr>
            <p:cNvSpPr/>
            <p:nvPr/>
          </p:nvSpPr>
          <p:spPr>
            <a:xfrm>
              <a:off x="7102977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26BE8CC-9947-B71B-01C1-394280C28B28}"/>
                </a:ext>
              </a:extLst>
            </p:cNvPr>
            <p:cNvSpPr/>
            <p:nvPr/>
          </p:nvSpPr>
          <p:spPr>
            <a:xfrm>
              <a:off x="6655300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04DEEE7-5410-45A3-25FC-76315D189564}"/>
                </a:ext>
              </a:extLst>
            </p:cNvPr>
            <p:cNvSpPr/>
            <p:nvPr/>
          </p:nvSpPr>
          <p:spPr>
            <a:xfrm>
              <a:off x="7109396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1646F1A-EF0B-65BB-E718-72958091779F}"/>
                </a:ext>
              </a:extLst>
            </p:cNvPr>
            <p:cNvSpPr/>
            <p:nvPr/>
          </p:nvSpPr>
          <p:spPr>
            <a:xfrm>
              <a:off x="6655300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04975EF-D8D6-01A1-848A-7CBC33B63248}"/>
                </a:ext>
              </a:extLst>
            </p:cNvPr>
            <p:cNvSpPr/>
            <p:nvPr/>
          </p:nvSpPr>
          <p:spPr>
            <a:xfrm>
              <a:off x="7102977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7C4D4CC-81A7-A90B-F1F9-C7AFB44878D8}"/>
              </a:ext>
            </a:extLst>
          </p:cNvPr>
          <p:cNvGrpSpPr/>
          <p:nvPr/>
        </p:nvGrpSpPr>
        <p:grpSpPr>
          <a:xfrm>
            <a:off x="6186366" y="3772102"/>
            <a:ext cx="5784852" cy="2359690"/>
            <a:chOff x="1544714" y="2789751"/>
            <a:chExt cx="7988913" cy="2987594"/>
          </a:xfrm>
        </p:grpSpPr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id="{3498B14A-E9BE-4350-DB3A-FDB6B2F99CF8}"/>
                </a:ext>
              </a:extLst>
            </p:cNvPr>
            <p:cNvGrpSpPr/>
            <p:nvPr/>
          </p:nvGrpSpPr>
          <p:grpSpPr>
            <a:xfrm>
              <a:off x="1544714" y="2789751"/>
              <a:ext cx="7988913" cy="2987594"/>
              <a:chOff x="2595354" y="3007570"/>
              <a:chExt cx="7541955" cy="2421383"/>
            </a:xfrm>
          </p:grpSpPr>
          <p:grpSp>
            <p:nvGrpSpPr>
              <p:cNvPr id="104" name="그룹 103">
                <a:extLst>
                  <a:ext uri="{FF2B5EF4-FFF2-40B4-BE49-F238E27FC236}">
                    <a16:creationId xmlns:a16="http://schemas.microsoft.com/office/drawing/2014/main" id="{9B427E0D-0D20-BC08-D5FE-0D46EEB77CCD}"/>
                  </a:ext>
                </a:extLst>
              </p:cNvPr>
              <p:cNvGrpSpPr/>
              <p:nvPr/>
            </p:nvGrpSpPr>
            <p:grpSpPr>
              <a:xfrm>
                <a:off x="4464817" y="3007570"/>
                <a:ext cx="3930283" cy="2421383"/>
                <a:chOff x="6429958" y="2586145"/>
                <a:chExt cx="5128768" cy="3264239"/>
              </a:xfrm>
            </p:grpSpPr>
            <p:sp>
              <p:nvSpPr>
                <p:cNvPr id="109" name="직사각형 108">
                  <a:extLst>
                    <a:ext uri="{FF2B5EF4-FFF2-40B4-BE49-F238E27FC236}">
                      <a16:creationId xmlns:a16="http://schemas.microsoft.com/office/drawing/2014/main" id="{10326F8F-02F9-798D-640B-0BA424338ADE}"/>
                    </a:ext>
                  </a:extLst>
                </p:cNvPr>
                <p:cNvSpPr/>
                <p:nvPr/>
              </p:nvSpPr>
              <p:spPr>
                <a:xfrm>
                  <a:off x="6429958" y="2586145"/>
                  <a:ext cx="5128768" cy="3264239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400" dirty="0">
                      <a:solidFill>
                        <a:schemeClr val="tx1"/>
                      </a:solidFill>
                    </a:rPr>
                    <a:t>Broker2</a:t>
                  </a:r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en-US" altLang="ko-KR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E229AB34-0FF7-1894-AD16-CF34E0F2C7E1}"/>
                    </a:ext>
                  </a:extLst>
                </p:cNvPr>
                <p:cNvSpPr/>
                <p:nvPr/>
              </p:nvSpPr>
              <p:spPr>
                <a:xfrm>
                  <a:off x="6779769" y="3243296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41B9AD5B-53F4-38C2-14B6-A5313DF1000D}"/>
                    </a:ext>
                  </a:extLst>
                </p:cNvPr>
                <p:cNvSpPr/>
                <p:nvPr/>
              </p:nvSpPr>
              <p:spPr>
                <a:xfrm>
                  <a:off x="8404804" y="3243295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86A82337-C652-DD12-DA61-47A4386BCEFF}"/>
                    </a:ext>
                  </a:extLst>
                </p:cNvPr>
                <p:cNvSpPr/>
                <p:nvPr/>
              </p:nvSpPr>
              <p:spPr>
                <a:xfrm>
                  <a:off x="10098757" y="3236633"/>
                  <a:ext cx="1179075" cy="403273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200" dirty="0">
                      <a:solidFill>
                        <a:schemeClr val="tx1"/>
                      </a:solidFill>
                    </a:rPr>
                    <a:t>Topic</a:t>
                  </a:r>
                  <a:endParaRPr lang="ko-KR" altLang="en-US" sz="12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5" name="순서도: 자기 디스크 104">
                <a:extLst>
                  <a:ext uri="{FF2B5EF4-FFF2-40B4-BE49-F238E27FC236}">
                    <a16:creationId xmlns:a16="http://schemas.microsoft.com/office/drawing/2014/main" id="{BE7E29DE-B641-082A-DB8A-2F8C42A5537A}"/>
                  </a:ext>
                </a:extLst>
              </p:cNvPr>
              <p:cNvSpPr/>
              <p:nvPr/>
            </p:nvSpPr>
            <p:spPr>
              <a:xfrm>
                <a:off x="2595354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producer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순서도: 자기 디스크 105">
                <a:extLst>
                  <a:ext uri="{FF2B5EF4-FFF2-40B4-BE49-F238E27FC236}">
                    <a16:creationId xmlns:a16="http://schemas.microsoft.com/office/drawing/2014/main" id="{FAE2F404-BA85-EAB9-22C5-6F9A06E03B66}"/>
                  </a:ext>
                </a:extLst>
              </p:cNvPr>
              <p:cNvSpPr/>
              <p:nvPr/>
            </p:nvSpPr>
            <p:spPr>
              <a:xfrm>
                <a:off x="9055983" y="3825463"/>
                <a:ext cx="1081326" cy="785597"/>
              </a:xfrm>
              <a:prstGeom prst="flowChartMagneticDisk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consumer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7" name="직선 화살표 연결선 106">
                <a:extLst>
                  <a:ext uri="{FF2B5EF4-FFF2-40B4-BE49-F238E27FC236}">
                    <a16:creationId xmlns:a16="http://schemas.microsoft.com/office/drawing/2014/main" id="{BD41BEF7-804E-74A5-EE5F-CB10A01BA014}"/>
                  </a:ext>
                </a:extLst>
              </p:cNvPr>
              <p:cNvCxnSpPr>
                <a:cxnSpLocks/>
                <a:stCxn id="105" idx="4"/>
                <a:endCxn id="109" idx="1"/>
              </p:cNvCxnSpPr>
              <p:nvPr/>
            </p:nvCxnSpPr>
            <p:spPr>
              <a:xfrm>
                <a:off x="3676680" y="4218262"/>
                <a:ext cx="78813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직선 화살표 연결선 107">
                <a:extLst>
                  <a:ext uri="{FF2B5EF4-FFF2-40B4-BE49-F238E27FC236}">
                    <a16:creationId xmlns:a16="http://schemas.microsoft.com/office/drawing/2014/main" id="{9BAAF3FC-446E-AAF4-BD3B-F2138A2ACA2C}"/>
                  </a:ext>
                </a:extLst>
              </p:cNvPr>
              <p:cNvCxnSpPr>
                <a:cxnSpLocks/>
                <a:stCxn id="109" idx="3"/>
                <a:endCxn id="106" idx="2"/>
              </p:cNvCxnSpPr>
              <p:nvPr/>
            </p:nvCxnSpPr>
            <p:spPr>
              <a:xfrm>
                <a:off x="8395100" y="4218262"/>
                <a:ext cx="66088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7F3A9BC8-78D1-38A6-6C22-0BBC46349C3F}"/>
                </a:ext>
              </a:extLst>
            </p:cNvPr>
            <p:cNvSpPr/>
            <p:nvPr/>
          </p:nvSpPr>
          <p:spPr>
            <a:xfrm>
              <a:off x="3906589" y="3906175"/>
              <a:ext cx="266330" cy="2752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F161F1BA-E6D0-E4EC-5472-FDC3F6E22250}"/>
                </a:ext>
              </a:extLst>
            </p:cNvPr>
            <p:cNvSpPr/>
            <p:nvPr/>
          </p:nvSpPr>
          <p:spPr>
            <a:xfrm>
              <a:off x="4360685" y="3906175"/>
              <a:ext cx="266330" cy="27520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296C7A69-228B-7AFA-C28C-B01E1F3A3E82}"/>
                </a:ext>
              </a:extLst>
            </p:cNvPr>
            <p:cNvSpPr/>
            <p:nvPr/>
          </p:nvSpPr>
          <p:spPr>
            <a:xfrm>
              <a:off x="3906589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BA1A5C0E-BC4F-E5F1-3C27-6625B7C2BE08}"/>
                </a:ext>
              </a:extLst>
            </p:cNvPr>
            <p:cNvSpPr/>
            <p:nvPr/>
          </p:nvSpPr>
          <p:spPr>
            <a:xfrm>
              <a:off x="4354266" y="437791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1CFC4094-D314-48FB-1BBE-B671DF465132}"/>
                </a:ext>
              </a:extLst>
            </p:cNvPr>
            <p:cNvSpPr/>
            <p:nvPr/>
          </p:nvSpPr>
          <p:spPr>
            <a:xfrm>
              <a:off x="3906589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BC4808B8-9CFB-C777-5BE8-0DCFB6D30E33}"/>
                </a:ext>
              </a:extLst>
            </p:cNvPr>
            <p:cNvSpPr/>
            <p:nvPr/>
          </p:nvSpPr>
          <p:spPr>
            <a:xfrm>
              <a:off x="4360685" y="479899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795F61E8-BFFB-F1E1-E88C-F0FA6D64D4D6}"/>
                </a:ext>
              </a:extLst>
            </p:cNvPr>
            <p:cNvSpPr/>
            <p:nvPr/>
          </p:nvSpPr>
          <p:spPr>
            <a:xfrm>
              <a:off x="3906589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0E8640AA-7077-E232-D049-579F5E39ADE5}"/>
                </a:ext>
              </a:extLst>
            </p:cNvPr>
            <p:cNvSpPr/>
            <p:nvPr/>
          </p:nvSpPr>
          <p:spPr>
            <a:xfrm>
              <a:off x="4354266" y="527074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AD6627A1-B136-26E4-B12B-D5D37692FEFB}"/>
                </a:ext>
              </a:extLst>
            </p:cNvPr>
            <p:cNvSpPr/>
            <p:nvPr/>
          </p:nvSpPr>
          <p:spPr>
            <a:xfrm>
              <a:off x="5256773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55EB1FAB-9710-C8E1-6C84-B1EA21800C03}"/>
                </a:ext>
              </a:extLst>
            </p:cNvPr>
            <p:cNvSpPr/>
            <p:nvPr/>
          </p:nvSpPr>
          <p:spPr>
            <a:xfrm>
              <a:off x="5710869" y="3889625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AA299913-871B-CAC5-91BB-6492FA3C42A9}"/>
                </a:ext>
              </a:extLst>
            </p:cNvPr>
            <p:cNvSpPr/>
            <p:nvPr/>
          </p:nvSpPr>
          <p:spPr>
            <a:xfrm>
              <a:off x="5256773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3A70EBBD-269A-321E-1FEB-9CF01439BCC1}"/>
                </a:ext>
              </a:extLst>
            </p:cNvPr>
            <p:cNvSpPr/>
            <p:nvPr/>
          </p:nvSpPr>
          <p:spPr>
            <a:xfrm>
              <a:off x="5704450" y="4361369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79851791-9AAC-EA47-3431-2E5D5890F202}"/>
                </a:ext>
              </a:extLst>
            </p:cNvPr>
            <p:cNvSpPr/>
            <p:nvPr/>
          </p:nvSpPr>
          <p:spPr>
            <a:xfrm>
              <a:off x="5256773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9AB16216-8B1D-0F11-9E26-A8BD2F1C13F4}"/>
                </a:ext>
              </a:extLst>
            </p:cNvPr>
            <p:cNvSpPr/>
            <p:nvPr/>
          </p:nvSpPr>
          <p:spPr>
            <a:xfrm>
              <a:off x="5710869" y="4782447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B52F7EEC-9EDC-9179-9F56-5705BC84EC80}"/>
                </a:ext>
              </a:extLst>
            </p:cNvPr>
            <p:cNvSpPr/>
            <p:nvPr/>
          </p:nvSpPr>
          <p:spPr>
            <a:xfrm>
              <a:off x="5256773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B2DC8871-9E81-0E3D-486B-8530F0ABDC40}"/>
                </a:ext>
              </a:extLst>
            </p:cNvPr>
            <p:cNvSpPr/>
            <p:nvPr/>
          </p:nvSpPr>
          <p:spPr>
            <a:xfrm>
              <a:off x="5704450" y="5254191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A1471F45-3FD8-A437-718E-5AC770ECE85B}"/>
                </a:ext>
              </a:extLst>
            </p:cNvPr>
            <p:cNvSpPr/>
            <p:nvPr/>
          </p:nvSpPr>
          <p:spPr>
            <a:xfrm>
              <a:off x="6655300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53ACF9F2-88CD-8ECE-CE2F-94A4B6828927}"/>
                </a:ext>
              </a:extLst>
            </p:cNvPr>
            <p:cNvSpPr/>
            <p:nvPr/>
          </p:nvSpPr>
          <p:spPr>
            <a:xfrm>
              <a:off x="7109396" y="3935116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EF9A502F-98B6-16A7-8B39-8AA0D92F1C86}"/>
                </a:ext>
              </a:extLst>
            </p:cNvPr>
            <p:cNvSpPr/>
            <p:nvPr/>
          </p:nvSpPr>
          <p:spPr>
            <a:xfrm>
              <a:off x="6655300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B4A92A67-743E-B46E-37A8-24DFE34214D7}"/>
                </a:ext>
              </a:extLst>
            </p:cNvPr>
            <p:cNvSpPr/>
            <p:nvPr/>
          </p:nvSpPr>
          <p:spPr>
            <a:xfrm>
              <a:off x="7102977" y="4406860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353525B7-EE09-B328-4326-8C5661900029}"/>
                </a:ext>
              </a:extLst>
            </p:cNvPr>
            <p:cNvSpPr/>
            <p:nvPr/>
          </p:nvSpPr>
          <p:spPr>
            <a:xfrm>
              <a:off x="6655300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7890E7A7-C8CA-B8DA-7661-FA0DFF0D8557}"/>
                </a:ext>
              </a:extLst>
            </p:cNvPr>
            <p:cNvSpPr/>
            <p:nvPr/>
          </p:nvSpPr>
          <p:spPr>
            <a:xfrm>
              <a:off x="7109396" y="4827938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6AAB1EE8-A6DF-EE46-3F90-FF4C4D37DF34}"/>
                </a:ext>
              </a:extLst>
            </p:cNvPr>
            <p:cNvSpPr/>
            <p:nvPr/>
          </p:nvSpPr>
          <p:spPr>
            <a:xfrm>
              <a:off x="6655300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92EA7D84-C411-259E-CA35-7A32C65C69A3}"/>
                </a:ext>
              </a:extLst>
            </p:cNvPr>
            <p:cNvSpPr/>
            <p:nvPr/>
          </p:nvSpPr>
          <p:spPr>
            <a:xfrm>
              <a:off x="7102977" y="5299682"/>
              <a:ext cx="266330" cy="27520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30361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4AB3A7-D0AD-2141-4AE4-FBF74F0F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ISR(In-Sync-Replicas)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97ADA9-7EC0-0E85-3AFF-E419D92CC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639" y="1080655"/>
            <a:ext cx="11253849" cy="5355656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리더 파티션과 </a:t>
            </a:r>
            <a:r>
              <a:rPr lang="ko-KR" altLang="en-US" dirty="0" err="1"/>
              <a:t>팔로워</a:t>
            </a:r>
            <a:r>
              <a:rPr lang="ko-KR" altLang="en-US" dirty="0"/>
              <a:t> 파티션이 모두 싱크가 된 상태</a:t>
            </a:r>
            <a:endParaRPr lang="en-US" altLang="ko-KR" dirty="0"/>
          </a:p>
          <a:p>
            <a:pPr lvl="1"/>
            <a:r>
              <a:rPr lang="ko-KR" altLang="en-US" dirty="0" err="1"/>
              <a:t>리더파티션과</a:t>
            </a:r>
            <a:r>
              <a:rPr lang="ko-KR" altLang="en-US" dirty="0"/>
              <a:t> </a:t>
            </a:r>
            <a:r>
              <a:rPr lang="ko-KR" altLang="en-US" dirty="0" err="1"/>
              <a:t>팔로워파티션이</a:t>
            </a:r>
            <a:r>
              <a:rPr lang="ko-KR" altLang="en-US" dirty="0"/>
              <a:t> 모두 복제가 완료 된 것</a:t>
            </a:r>
            <a:endParaRPr lang="en-US" altLang="ko-KR" dirty="0"/>
          </a:p>
          <a:p>
            <a:r>
              <a:rPr lang="ko-KR" altLang="en-US" dirty="0"/>
              <a:t>파티션의 오프셋을 사용하여 동기화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파티션 </a:t>
            </a:r>
            <a:r>
              <a:rPr lang="en-US" altLang="ko-KR" dirty="0"/>
              <a:t>0</a:t>
            </a:r>
            <a:r>
              <a:rPr lang="ko-KR" altLang="en-US" dirty="0"/>
              <a:t>만 동기화 된 상태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ED062C-5332-5911-C715-230F390AC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ED3FFA4-69C9-9C7A-E69C-0F4101C7C8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2FDEA61-BDC5-A005-A2CB-2122768715E7}"/>
              </a:ext>
            </a:extLst>
          </p:cNvPr>
          <p:cNvGrpSpPr/>
          <p:nvPr/>
        </p:nvGrpSpPr>
        <p:grpSpPr>
          <a:xfrm>
            <a:off x="2019245" y="2072191"/>
            <a:ext cx="6165967" cy="3705154"/>
            <a:chOff x="2019245" y="2072191"/>
            <a:chExt cx="6165967" cy="3705154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15BB12D-B57E-0494-C62E-0D0C659D6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58477" y="2072191"/>
              <a:ext cx="4926735" cy="1674736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4B33621-7CB0-BB9D-7F2C-213EDDDA8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58477" y="4102609"/>
              <a:ext cx="4926735" cy="1674736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A53A21A-0850-4C45-5EA4-E93BE0BCC9CD}"/>
                </a:ext>
              </a:extLst>
            </p:cNvPr>
            <p:cNvSpPr/>
            <p:nvPr/>
          </p:nvSpPr>
          <p:spPr>
            <a:xfrm>
              <a:off x="2019245" y="2612702"/>
              <a:ext cx="1123450" cy="5685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Broker1</a:t>
              </a:r>
              <a:endParaRPr lang="ko-KR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18906D4-E94C-2924-C666-F5DE9BE0712C}"/>
                </a:ext>
              </a:extLst>
            </p:cNvPr>
            <p:cNvSpPr/>
            <p:nvPr/>
          </p:nvSpPr>
          <p:spPr>
            <a:xfrm>
              <a:off x="2019245" y="4648456"/>
              <a:ext cx="1123450" cy="5830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Broker2</a:t>
              </a:r>
              <a:endParaRPr lang="ko-KR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728EB2B-4E24-B565-6665-A9A491C9DDBC}"/>
                </a:ext>
              </a:extLst>
            </p:cNvPr>
            <p:cNvSpPr/>
            <p:nvPr/>
          </p:nvSpPr>
          <p:spPr>
            <a:xfrm>
              <a:off x="3341477" y="2195446"/>
              <a:ext cx="4081098" cy="34622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A4526BD-597E-690E-1945-B2190DD6C48F}"/>
                </a:ext>
              </a:extLst>
            </p:cNvPr>
            <p:cNvSpPr/>
            <p:nvPr/>
          </p:nvSpPr>
          <p:spPr>
            <a:xfrm>
              <a:off x="3341477" y="4221618"/>
              <a:ext cx="4081098" cy="346229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곱하기 기호 12">
              <a:extLst>
                <a:ext uri="{FF2B5EF4-FFF2-40B4-BE49-F238E27FC236}">
                  <a16:creationId xmlns:a16="http://schemas.microsoft.com/office/drawing/2014/main" id="{1AAB7BB3-3032-1272-DBB8-9B15A14D5859}"/>
                </a:ext>
              </a:extLst>
            </p:cNvPr>
            <p:cNvSpPr/>
            <p:nvPr/>
          </p:nvSpPr>
          <p:spPr>
            <a:xfrm>
              <a:off x="6096000" y="2612702"/>
              <a:ext cx="233779" cy="280409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곱하기 기호 13">
              <a:extLst>
                <a:ext uri="{FF2B5EF4-FFF2-40B4-BE49-F238E27FC236}">
                  <a16:creationId xmlns:a16="http://schemas.microsoft.com/office/drawing/2014/main" id="{3734938F-C17A-D7E2-F5E4-1E40800DCA85}"/>
                </a:ext>
              </a:extLst>
            </p:cNvPr>
            <p:cNvSpPr/>
            <p:nvPr/>
          </p:nvSpPr>
          <p:spPr>
            <a:xfrm>
              <a:off x="6816571" y="3407605"/>
              <a:ext cx="233779" cy="280409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곱하기 기호 14">
              <a:extLst>
                <a:ext uri="{FF2B5EF4-FFF2-40B4-BE49-F238E27FC236}">
                  <a16:creationId xmlns:a16="http://schemas.microsoft.com/office/drawing/2014/main" id="{E313A5F1-ADD9-0E6A-A1D2-FA52103AD57E}"/>
                </a:ext>
              </a:extLst>
            </p:cNvPr>
            <p:cNvSpPr/>
            <p:nvPr/>
          </p:nvSpPr>
          <p:spPr>
            <a:xfrm>
              <a:off x="6582792" y="5044471"/>
              <a:ext cx="233779" cy="280409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F87A805-DD60-24CE-2742-BAC418ED5D13}"/>
                </a:ext>
              </a:extLst>
            </p:cNvPr>
            <p:cNvSpPr/>
            <p:nvPr/>
          </p:nvSpPr>
          <p:spPr>
            <a:xfrm>
              <a:off x="3334077" y="4593748"/>
              <a:ext cx="4081098" cy="34622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69BABC1-1B2C-D083-64EF-E5427B7143E2}"/>
                </a:ext>
              </a:extLst>
            </p:cNvPr>
            <p:cNvSpPr/>
            <p:nvPr/>
          </p:nvSpPr>
          <p:spPr>
            <a:xfrm>
              <a:off x="3334077" y="2964138"/>
              <a:ext cx="4081098" cy="34622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B748D5F-2A6F-C5A3-10E1-30C933885617}"/>
                </a:ext>
              </a:extLst>
            </p:cNvPr>
            <p:cNvSpPr/>
            <p:nvPr/>
          </p:nvSpPr>
          <p:spPr>
            <a:xfrm>
              <a:off x="3334077" y="2589920"/>
              <a:ext cx="4081098" cy="346229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6000B81-5111-E3FD-85DC-497B073C9A4E}"/>
                </a:ext>
              </a:extLst>
            </p:cNvPr>
            <p:cNvSpPr/>
            <p:nvPr/>
          </p:nvSpPr>
          <p:spPr>
            <a:xfrm>
              <a:off x="3334077" y="5006271"/>
              <a:ext cx="4081098" cy="346229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ADEEDE4-8469-7956-C74C-138BF83305C3}"/>
                </a:ext>
              </a:extLst>
            </p:cNvPr>
            <p:cNvSpPr/>
            <p:nvPr/>
          </p:nvSpPr>
          <p:spPr>
            <a:xfrm>
              <a:off x="3362189" y="3378873"/>
              <a:ext cx="4081098" cy="346229"/>
            </a:xfrm>
            <a:prstGeom prst="rect">
              <a:avLst/>
            </a:prstGeom>
            <a:noFill/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424A5E0-6431-37F2-5E76-1E18D7C78393}"/>
                </a:ext>
              </a:extLst>
            </p:cNvPr>
            <p:cNvSpPr/>
            <p:nvPr/>
          </p:nvSpPr>
          <p:spPr>
            <a:xfrm>
              <a:off x="3334077" y="5390700"/>
              <a:ext cx="4081098" cy="34622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8500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9048A-C6D6-2291-3425-636B48EB4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After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969725-BF72-5513-F2DB-254AE92E1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sz="2000" dirty="0"/>
              <a:t>AWS</a:t>
            </a:r>
            <a:r>
              <a:rPr lang="ko-KR" altLang="en-US" sz="2000" dirty="0"/>
              <a:t>로 </a:t>
            </a:r>
            <a:r>
              <a:rPr lang="en-US" altLang="ko-KR" sz="2000" dirty="0" err="1"/>
              <a:t>kafka</a:t>
            </a:r>
            <a:r>
              <a:rPr lang="en-US" altLang="ko-KR" sz="2000" dirty="0"/>
              <a:t> </a:t>
            </a:r>
            <a:r>
              <a:rPr lang="ko-KR" altLang="en-US" sz="2000" dirty="0"/>
              <a:t>구축</a:t>
            </a:r>
            <a:endParaRPr lang="en-US" altLang="ko-KR" sz="2000" dirty="0"/>
          </a:p>
          <a:p>
            <a:pPr lvl="1"/>
            <a:r>
              <a:rPr lang="en-US" altLang="ko-KR" sz="2000" dirty="0"/>
              <a:t>Mind Data Set </a:t>
            </a:r>
            <a:r>
              <a:rPr lang="ko-KR" altLang="en-US" sz="2000" dirty="0"/>
              <a:t>시뮬레이터</a:t>
            </a:r>
            <a:r>
              <a:rPr lang="en-US" altLang="ko-KR" sz="2000" dirty="0"/>
              <a:t> </a:t>
            </a:r>
            <a:r>
              <a:rPr lang="ko-KR" altLang="en-US" sz="2000" dirty="0"/>
              <a:t>구축</a:t>
            </a:r>
            <a:endParaRPr lang="en-US" altLang="ko-KR" sz="2000" dirty="0"/>
          </a:p>
          <a:p>
            <a:endParaRPr lang="ko-KR" altLang="en-US" sz="2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AB26AC-640E-2106-65B9-D45C79F4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8964F71-58E4-3EC4-7E2B-7E55D4EDA3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8139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10DFA-2EE5-D901-CABE-C9F4A04F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5D8D8-739F-C9F9-3D63-AEC852A60034}"/>
              </a:ext>
            </a:extLst>
          </p:cNvPr>
          <p:cNvSpPr/>
          <p:nvPr/>
        </p:nvSpPr>
        <p:spPr>
          <a:xfrm>
            <a:off x="284202" y="1147001"/>
            <a:ext cx="4774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감사합니다</a:t>
            </a:r>
            <a:r>
              <a:rPr lang="en-US" altLang="ko-KR" sz="5400" b="0" i="0" dirty="0">
                <a:solidFill>
                  <a:srgbClr val="000000"/>
                </a:solidFill>
                <a:effectLst/>
                <a:latin typeface="se-nanumgothic"/>
              </a:rPr>
              <a:t>´._.`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2637763"/>
      </p:ext>
    </p:extLst>
  </p:cSld>
  <p:clrMapOvr>
    <a:masterClrMapping/>
  </p:clrMapOvr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세미나테마" id="{F0B14E78-0364-4296-861A-629154498883}" vid="{07BE5619-E2A8-4325-BCB2-DEE69878C6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9795455B19719479947D270077BE608" ma:contentTypeVersion="13" ma:contentTypeDescription="새 문서를 만듭니다." ma:contentTypeScope="" ma:versionID="2a3d95f513f07d4a27156af80b291b6a">
  <xsd:schema xmlns:xsd="http://www.w3.org/2001/XMLSchema" xmlns:xs="http://www.w3.org/2001/XMLSchema" xmlns:p="http://schemas.microsoft.com/office/2006/metadata/properties" xmlns:ns2="bfe23552-e412-49a4-9529-4c360febdc1a" xmlns:ns3="ff4cacbd-dc2f-41c0-9cbc-53de60920d42" targetNamespace="http://schemas.microsoft.com/office/2006/metadata/properties" ma:root="true" ma:fieldsID="36356acdaffcccd3927915d39ab9f653" ns2:_="" ns3:_="">
    <xsd:import namespace="bfe23552-e412-49a4-9529-4c360febdc1a"/>
    <xsd:import namespace="ff4cacbd-dc2f-41c0-9cbc-53de60920d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3552-e412-49a4-9529-4c360febdc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ac1c61d9-a430-48ff-9169-afa47b8af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cacbd-dc2f-41c0-9cbc-53de60920d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ca0473b-6864-4c06-b0b5-fee83201fdb6}" ma:internalName="TaxCatchAll" ma:showField="CatchAllData" ma:web="ff4cacbd-dc2f-41c0-9cbc-53de60920d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e23552-e412-49a4-9529-4c360febdc1a">
      <Terms xmlns="http://schemas.microsoft.com/office/infopath/2007/PartnerControls"/>
    </lcf76f155ced4ddcb4097134ff3c332f>
    <TaxCatchAll xmlns="ff4cacbd-dc2f-41c0-9cbc-53de60920d42" xsi:nil="true"/>
  </documentManagement>
</p:properties>
</file>

<file path=customXml/itemProps1.xml><?xml version="1.0" encoding="utf-8"?>
<ds:datastoreItem xmlns:ds="http://schemas.openxmlformats.org/officeDocument/2006/customXml" ds:itemID="{6A338EDC-521E-42B0-8BC3-462B96973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3552-e412-49a4-9529-4c360febdc1a"/>
    <ds:schemaRef ds:uri="ff4cacbd-dc2f-41c0-9cbc-53de60920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091B1CB-BB26-440C-B1CB-98A3D89C1B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F38A23-AD59-484B-B618-59293A578294}">
  <ds:schemaRefs>
    <ds:schemaRef ds:uri="http://www.w3.org/XML/1998/namespace"/>
    <ds:schemaRef ds:uri="http://purl.org/dc/elements/1.1/"/>
    <ds:schemaRef ds:uri="http://purl.org/dc/dcmitype/"/>
    <ds:schemaRef ds:uri="http://purl.org/dc/terms/"/>
    <ds:schemaRef ds:uri="ff4cacbd-dc2f-41c0-9cbc-53de60920d42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fe23552-e412-49a4-9529-4c360febdc1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세미나테마</Template>
  <TotalTime>16072</TotalTime>
  <Words>1294</Words>
  <Application>Microsoft Office PowerPoint</Application>
  <PresentationFormat>와이드스크린</PresentationFormat>
  <Paragraphs>479</Paragraphs>
  <Slides>31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OTWelcomeRA</vt:lpstr>
      <vt:lpstr>se-nanumgothic</vt:lpstr>
      <vt:lpstr>맑은 고딕</vt:lpstr>
      <vt:lpstr>Arial</vt:lpstr>
      <vt:lpstr>Times New Roman</vt:lpstr>
      <vt:lpstr>세미나테마</vt:lpstr>
      <vt:lpstr>Kafka</vt:lpstr>
      <vt:lpstr>목차</vt:lpstr>
      <vt:lpstr>탄생</vt:lpstr>
      <vt:lpstr>탄생</vt:lpstr>
      <vt:lpstr>탄생</vt:lpstr>
      <vt:lpstr>탄생</vt:lpstr>
      <vt:lpstr>탄생</vt:lpstr>
      <vt:lpstr>탄생</vt:lpstr>
      <vt:lpstr>Kafka 기본개념</vt:lpstr>
      <vt:lpstr>Pub/Sub 모델</vt:lpstr>
      <vt:lpstr>Pub/Sub 모델</vt:lpstr>
      <vt:lpstr>Message Queue</vt:lpstr>
      <vt:lpstr>Zookeeper</vt:lpstr>
      <vt:lpstr>Zookeeper</vt:lpstr>
      <vt:lpstr>Zookeeper</vt:lpstr>
      <vt:lpstr>Broker</vt:lpstr>
      <vt:lpstr>Broker</vt:lpstr>
      <vt:lpstr>Topic</vt:lpstr>
      <vt:lpstr>Topic</vt:lpstr>
      <vt:lpstr>Partition</vt:lpstr>
      <vt:lpstr>Offset</vt:lpstr>
      <vt:lpstr>Producer</vt:lpstr>
      <vt:lpstr>Consumer</vt:lpstr>
      <vt:lpstr>Consumer</vt:lpstr>
      <vt:lpstr>Consumer</vt:lpstr>
      <vt:lpstr>컨슈머 그룹 리밸런싱(Rebalancing)</vt:lpstr>
      <vt:lpstr>컨슈머 그룹 리밸런싱(Rebalancing)</vt:lpstr>
      <vt:lpstr>Broker Partition Replication</vt:lpstr>
      <vt:lpstr>ISR(In-Sync-Replicas)</vt:lpstr>
      <vt:lpstr>After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이론과 개념</dc:title>
  <dc:creator>박진우</dc:creator>
  <cp:lastModifiedBy>서현우</cp:lastModifiedBy>
  <cp:revision>40</cp:revision>
  <dcterms:created xsi:type="dcterms:W3CDTF">2023-07-06T03:52:26Z</dcterms:created>
  <dcterms:modified xsi:type="dcterms:W3CDTF">2025-01-14T06:03:37Z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0x010100C9795455B19719479947D270077BE608</vt:lpwstr>
  </property>
</Properties>
</file>