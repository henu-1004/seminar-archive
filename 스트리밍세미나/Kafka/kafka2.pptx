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8"/>
  </p:notesMasterIdLst>
  <p:sldIdLst>
    <p:sldId id="256" r:id="rId5"/>
    <p:sldId id="258" r:id="rId6"/>
    <p:sldId id="29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98" r:id="rId17"/>
    <p:sldId id="277" r:id="rId18"/>
    <p:sldId id="278" r:id="rId19"/>
    <p:sldId id="279" r:id="rId20"/>
    <p:sldId id="280" r:id="rId21"/>
    <p:sldId id="282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67" r:id="rId3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98B003-28FF-4010-9D5A-AA47B32789CD}" v="23" dt="2024-01-17T09:27:20.7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58" d="100"/>
          <a:sy n="58" d="100"/>
        </p:scale>
        <p:origin x="2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2025-01-17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Kafka 2</a:t>
            </a:r>
            <a:r>
              <a:rPr lang="ko-KR" altLang="en-US" dirty="0"/>
              <a:t>차시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  <a:r>
              <a:rPr lang="en-US" altLang="ko-KR" dirty="0"/>
              <a:t>, </a:t>
            </a:r>
            <a:r>
              <a:rPr lang="ko-KR" altLang="en-US" dirty="0"/>
              <a:t>오민정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2025-01-17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0. </a:t>
            </a:r>
            <a:r>
              <a:rPr lang="en-US" altLang="ko-KR" dirty="0" err="1"/>
              <a:t>PyTorch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en-US" altLang="ko-KR" dirty="0" err="1"/>
              <a:t>TorchTune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How</a:t>
            </a:r>
          </a:p>
          <a:p>
            <a:r>
              <a:rPr lang="en-US" altLang="ko-KR" dirty="0"/>
              <a:t>3. Tutorial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A4298-C381-7018-B53C-1540EDFC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AWS </a:t>
            </a:r>
            <a:r>
              <a:rPr lang="ko-KR" altLang="en-US" dirty="0"/>
              <a:t>인스턴스 생성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917E3-9A42-CF5A-A3D7-B5525540F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1012996-FE32-E62B-BFCE-39A62236E0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48B99B1-1415-71DD-C7D3-2626971A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 </a:t>
            </a:r>
            <a:r>
              <a:rPr lang="ko-KR" altLang="en-US" dirty="0"/>
              <a:t>주소 </a:t>
            </a:r>
            <a:r>
              <a:rPr lang="en-US" altLang="ko-KR" dirty="0"/>
              <a:t>: 52.78.81.196</a:t>
            </a:r>
          </a:p>
          <a:p>
            <a:r>
              <a:rPr lang="ko-KR" altLang="en-US" dirty="0"/>
              <a:t>카프카 브로커 기본포트 </a:t>
            </a:r>
            <a:r>
              <a:rPr lang="en-US" altLang="ko-KR" dirty="0"/>
              <a:t>: 9092 </a:t>
            </a:r>
            <a:endParaRPr lang="ko-KR" altLang="en-US" dirty="0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FA0BB40C-5D8B-8708-138A-597A191E7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6" y="1763983"/>
            <a:ext cx="11253788" cy="444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6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868F0-5F16-6884-8B07-2986DD2A1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인스턴스에 접속하기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9CE20-C4A0-A99C-2C7D-6C2C4776A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접속</a:t>
            </a:r>
            <a:endParaRPr lang="en-US" altLang="ko-KR" dirty="0"/>
          </a:p>
          <a:p>
            <a:r>
              <a:rPr lang="en-US" altLang="ko-KR" dirty="0"/>
              <a:t>Ssh –I </a:t>
            </a:r>
            <a:r>
              <a:rPr lang="ko-KR" altLang="en-US" dirty="0"/>
              <a:t>명령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6D71FB-0B56-32D0-D7E4-7053B5320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3033069-0BC9-13AE-BAF8-96E33B58CA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C57A4C-E54D-B325-0F8B-BF8AB366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83580"/>
            <a:ext cx="10515600" cy="329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39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352A4-DDD3-B869-59C5-BC9413B3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인스턴스에 자바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E61D2C-407A-B62F-32F6-444C025A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Sudo</a:t>
            </a:r>
            <a:r>
              <a:rPr lang="ko-KR" altLang="en-US" dirty="0"/>
              <a:t> </a:t>
            </a:r>
            <a:r>
              <a:rPr lang="en-US" altLang="ko-KR" dirty="0"/>
              <a:t>yum</a:t>
            </a:r>
            <a:r>
              <a:rPr lang="ko-KR" altLang="en-US" dirty="0"/>
              <a:t> </a:t>
            </a:r>
            <a:r>
              <a:rPr lang="en-US" altLang="ko-KR" dirty="0"/>
              <a:t>install</a:t>
            </a:r>
            <a:r>
              <a:rPr lang="ko-KR" altLang="en-US" dirty="0"/>
              <a:t> 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F8709E-EE46-C9D6-D0CC-651AC6E7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E50C735-96BC-E598-EE7C-49B708B381A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01D101-A24C-EFF3-C8A2-1622B22D6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460822"/>
            <a:ext cx="11040178" cy="29341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B913DD-1F8C-81A4-C86E-18999F91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4394965"/>
            <a:ext cx="5944430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58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FF1D6-E5FD-FF0D-D17C-4E28792C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E2B23-7E9E-68B2-818E-232457B35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바이너리 패키지 설치 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en-US" altLang="ko-KR" dirty="0" err="1"/>
              <a:t>wget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B21EE-40A4-B405-DA99-DB7BC354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D6F2799-889B-841B-9704-73CA4FD3E0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135945-45C1-0690-EA6F-F04616202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156" y="2105306"/>
            <a:ext cx="10974332" cy="282932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1DF3421-627D-333A-BABC-014A54701DCB}"/>
              </a:ext>
            </a:extLst>
          </p:cNvPr>
          <p:cNvSpPr/>
          <p:nvPr/>
        </p:nvSpPr>
        <p:spPr>
          <a:xfrm>
            <a:off x="3919252" y="2131949"/>
            <a:ext cx="7482591" cy="30940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90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F90D22-178D-3B73-8AAF-9556663A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5D8560-E9DD-842D-7E9B-D8CEC3D73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압축해제</a:t>
            </a:r>
            <a:r>
              <a:rPr lang="en-US" altLang="ko-KR" dirty="0"/>
              <a:t>(</a:t>
            </a:r>
            <a:r>
              <a:rPr lang="ko-KR" altLang="en-US" dirty="0"/>
              <a:t>아카이브 해제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&gt; tar </a:t>
            </a:r>
            <a:r>
              <a:rPr lang="en-US" altLang="ko-KR" dirty="0" err="1"/>
              <a:t>xvf</a:t>
            </a:r>
            <a:endParaRPr lang="en-US" altLang="ko-KR" dirty="0"/>
          </a:p>
          <a:p>
            <a:r>
              <a:rPr lang="en-US" altLang="ko-KR" dirty="0"/>
              <a:t>X : extract(</a:t>
            </a:r>
            <a:r>
              <a:rPr lang="ko-KR" altLang="en-US" dirty="0"/>
              <a:t>추출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V : verbose(</a:t>
            </a:r>
            <a:r>
              <a:rPr lang="ko-KR" altLang="en-US" dirty="0"/>
              <a:t>상세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F : file(</a:t>
            </a:r>
            <a:r>
              <a:rPr lang="ko-KR" altLang="en-US" dirty="0"/>
              <a:t>이름지정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03583B-1F50-A864-E224-B7937F8D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12BD5D-A382-CCAC-7A5E-AC8C20D7B2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3AEC21-6E47-CDA0-FE61-215C0A349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01" y="245568"/>
            <a:ext cx="6139496" cy="5967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15DAE4A-32F5-B831-78D8-271748B7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39" y="2640701"/>
            <a:ext cx="6401693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85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CA900-4288-FF93-5A1D-D1CAEF58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9B6C68-397A-B9A3-7847-67D2B9A42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Ll</a:t>
            </a:r>
            <a:r>
              <a:rPr lang="en-US" altLang="ko-KR" dirty="0"/>
              <a:t>(ls –l)</a:t>
            </a:r>
            <a:r>
              <a:rPr lang="ko-KR" altLang="en-US" dirty="0"/>
              <a:t>로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카프카로 이동</a:t>
            </a:r>
            <a:r>
              <a:rPr lang="en-US" altLang="ko-KR" dirty="0"/>
              <a:t>(cd)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40B4D7-4E6A-56CE-F34F-DD985AA9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6DD6A9-296B-452E-B704-9554DC5D74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A656D2-F41E-4467-8081-7B02DE37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631236"/>
            <a:ext cx="7802064" cy="10478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5614B0-3036-C3D8-C73B-AB8BB7920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03" y="3370306"/>
            <a:ext cx="535379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BC1F7-3DF4-C4D1-4757-F0AA05635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DDBA45-9C41-8EEA-AA64-95134154A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브로커 </a:t>
            </a:r>
            <a:r>
              <a:rPr lang="ko-KR" altLang="en-US" dirty="0" err="1"/>
              <a:t>힙메모리</a:t>
            </a:r>
            <a:r>
              <a:rPr lang="ko-KR" altLang="en-US" dirty="0"/>
              <a:t> 설정</a:t>
            </a:r>
            <a:endParaRPr lang="en-US" altLang="ko-KR" dirty="0"/>
          </a:p>
          <a:p>
            <a:r>
              <a:rPr lang="ko-KR" altLang="en-US" dirty="0" err="1"/>
              <a:t>힙메모리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인덱스</a:t>
            </a:r>
            <a:r>
              <a:rPr lang="en-US" altLang="ko-KR" dirty="0"/>
              <a:t>, </a:t>
            </a:r>
            <a:r>
              <a:rPr lang="ko-KR" altLang="en-US" dirty="0"/>
              <a:t>메타데이터</a:t>
            </a:r>
            <a:r>
              <a:rPr lang="en-US" altLang="ko-KR" dirty="0"/>
              <a:t>, </a:t>
            </a:r>
            <a:r>
              <a:rPr lang="ko-KR" altLang="en-US" dirty="0"/>
              <a:t>브로커의 요청처리 등 내부 관리 객체를 저장하는데 사용</a:t>
            </a:r>
            <a:endParaRPr lang="en-US" altLang="ko-KR" dirty="0"/>
          </a:p>
          <a:p>
            <a:pPr lvl="1"/>
            <a:r>
              <a:rPr lang="en-US" altLang="ko-KR" dirty="0"/>
              <a:t>&gt;&gt;</a:t>
            </a:r>
            <a:r>
              <a:rPr lang="ko-KR" altLang="en-US" dirty="0"/>
              <a:t>메시지</a:t>
            </a:r>
            <a:r>
              <a:rPr lang="en-US" altLang="ko-KR" dirty="0"/>
              <a:t>(</a:t>
            </a:r>
            <a:r>
              <a:rPr lang="ko-KR" altLang="en-US" dirty="0"/>
              <a:t>레코드</a:t>
            </a:r>
            <a:r>
              <a:rPr lang="en-US" altLang="ko-KR" dirty="0"/>
              <a:t>)</a:t>
            </a:r>
            <a:r>
              <a:rPr lang="ko-KR" altLang="en-US" dirty="0"/>
              <a:t>는 디스크에 저장함 </a:t>
            </a:r>
            <a:r>
              <a:rPr lang="en-US" altLang="ko-KR" dirty="0"/>
              <a:t>&gt;&gt; </a:t>
            </a:r>
            <a:r>
              <a:rPr lang="ko-KR" altLang="en-US" dirty="0" err="1"/>
              <a:t>페이지캐시를</a:t>
            </a:r>
            <a:r>
              <a:rPr lang="ko-KR" altLang="en-US" dirty="0"/>
              <a:t> 활용해 빠르게 운영</a:t>
            </a:r>
            <a:endParaRPr lang="en-US" altLang="ko-KR" dirty="0"/>
          </a:p>
          <a:p>
            <a:pPr lvl="1"/>
            <a:r>
              <a:rPr lang="en-US" altLang="ko-KR" dirty="0"/>
              <a:t>&gt;&gt;</a:t>
            </a:r>
            <a:r>
              <a:rPr lang="ko-KR" altLang="en-US" dirty="0" err="1"/>
              <a:t>힙메모리</a:t>
            </a:r>
            <a:r>
              <a:rPr lang="ko-KR" altLang="en-US" dirty="0"/>
              <a:t> 자체는 크게 잡을 필요가 없음 </a:t>
            </a:r>
            <a:r>
              <a:rPr lang="en-US" altLang="ko-KR" dirty="0"/>
              <a:t>&gt;&gt; </a:t>
            </a:r>
            <a:r>
              <a:rPr lang="ko-KR" altLang="en-US" dirty="0"/>
              <a:t>상대적으로 작게 </a:t>
            </a:r>
            <a:r>
              <a:rPr lang="ko-KR" altLang="en-US" dirty="0" err="1"/>
              <a:t>구성하면됨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메모리 </a:t>
            </a:r>
            <a:r>
              <a:rPr lang="en-US" altLang="ko-KR" dirty="0"/>
              <a:t>1G </a:t>
            </a:r>
            <a:r>
              <a:rPr lang="ko-KR" altLang="en-US" dirty="0"/>
              <a:t>제약  </a:t>
            </a:r>
            <a:r>
              <a:rPr lang="en-US" altLang="ko-KR" dirty="0"/>
              <a:t>(</a:t>
            </a:r>
            <a:r>
              <a:rPr lang="ko-KR" altLang="en-US" dirty="0"/>
              <a:t>기본설정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주키퍼</a:t>
            </a:r>
            <a:r>
              <a:rPr lang="ko-KR" altLang="en-US" dirty="0"/>
              <a:t> </a:t>
            </a:r>
            <a:r>
              <a:rPr lang="en-US" altLang="ko-KR" dirty="0"/>
              <a:t>512M, </a:t>
            </a:r>
            <a:r>
              <a:rPr lang="ko-KR" altLang="en-US" dirty="0"/>
              <a:t>카프카 </a:t>
            </a:r>
            <a:r>
              <a:rPr lang="en-US" altLang="ko-KR" dirty="0"/>
              <a:t>1G)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Export KAFKA_HEAP_OPTS : </a:t>
            </a:r>
            <a:r>
              <a:rPr lang="ko-KR" altLang="en-US" dirty="0"/>
              <a:t>환경변수를 변경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Xmx</a:t>
            </a:r>
            <a:r>
              <a:rPr lang="en-US" altLang="ko-KR" dirty="0"/>
              <a:t> : </a:t>
            </a:r>
            <a:r>
              <a:rPr lang="ko-KR" altLang="en-US" dirty="0"/>
              <a:t>최대 </a:t>
            </a:r>
            <a:r>
              <a:rPr lang="ko-KR" altLang="en-US" dirty="0" err="1"/>
              <a:t>힙메모리</a:t>
            </a:r>
            <a:r>
              <a:rPr lang="ko-KR" altLang="en-US" dirty="0"/>
              <a:t> 크기</a:t>
            </a:r>
            <a:endParaRPr lang="en-US" altLang="ko-KR" dirty="0"/>
          </a:p>
          <a:p>
            <a:r>
              <a:rPr lang="en-US" altLang="ko-KR" dirty="0" err="1"/>
              <a:t>Xms</a:t>
            </a:r>
            <a:r>
              <a:rPr lang="en-US" altLang="ko-KR" dirty="0"/>
              <a:t> : </a:t>
            </a:r>
            <a:r>
              <a:rPr lang="ko-KR" altLang="en-US" dirty="0"/>
              <a:t>초기</a:t>
            </a:r>
            <a:r>
              <a:rPr lang="en-US" altLang="ko-KR" dirty="0"/>
              <a:t>(</a:t>
            </a:r>
            <a:r>
              <a:rPr lang="ko-KR" altLang="en-US" dirty="0"/>
              <a:t>최소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힙메모리</a:t>
            </a:r>
            <a:r>
              <a:rPr lang="ko-KR" altLang="en-US" dirty="0"/>
              <a:t> 크기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5AB8D-0228-3839-0560-7C0B25D7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4FA211-30AF-806E-34D7-B5A52DF43E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80C518C-30D2-73AC-90FE-C84C2AA8B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96" y="3532975"/>
            <a:ext cx="922148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177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2629E-482B-2787-693B-8B38E30A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589E3-9F71-BAA7-1D52-17B583E9C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But  export</a:t>
            </a:r>
            <a:r>
              <a:rPr lang="ko-KR" altLang="en-US" dirty="0"/>
              <a:t>는 터미널이 종료되면 초기화</a:t>
            </a:r>
            <a:endParaRPr lang="en-US" altLang="ko-KR" dirty="0"/>
          </a:p>
          <a:p>
            <a:r>
              <a:rPr lang="en-US" altLang="ko-KR" dirty="0"/>
              <a:t>.</a:t>
            </a:r>
            <a:r>
              <a:rPr lang="en-US" altLang="ko-KR" dirty="0" err="1"/>
              <a:t>bashrc</a:t>
            </a:r>
            <a:r>
              <a:rPr lang="ko-KR" altLang="en-US" dirty="0"/>
              <a:t>를 사용 </a:t>
            </a:r>
            <a:r>
              <a:rPr lang="en-US" altLang="ko-KR" dirty="0"/>
              <a:t>&gt;&gt; bash </a:t>
            </a:r>
            <a:r>
              <a:rPr lang="ko-KR" altLang="en-US" dirty="0"/>
              <a:t>셸 초기화 스크립트 </a:t>
            </a:r>
            <a:r>
              <a:rPr lang="en-US" altLang="ko-KR" dirty="0"/>
              <a:t>&gt;&gt; bash</a:t>
            </a:r>
            <a:r>
              <a:rPr lang="ko-KR" altLang="en-US" dirty="0"/>
              <a:t>셸이 </a:t>
            </a:r>
            <a:r>
              <a:rPr lang="ko-KR" altLang="en-US" dirty="0" err="1"/>
              <a:t>시작될때</a:t>
            </a:r>
            <a:r>
              <a:rPr lang="ko-KR" altLang="en-US" dirty="0"/>
              <a:t> 실행됨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D304E-83BA-85F0-8167-E0611202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9769DE0-265D-CE85-B797-247F7B406C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2A6CDC-7311-E417-D98E-C09B4993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61" y="2204817"/>
            <a:ext cx="8802328" cy="36200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7E3FD7-CDEF-07A1-19F8-CE59F099A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61" y="1871395"/>
            <a:ext cx="6420746" cy="33342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7D23A36-19A3-DAA1-A8E1-4B02DBE7E11F}"/>
              </a:ext>
            </a:extLst>
          </p:cNvPr>
          <p:cNvSpPr/>
          <p:nvPr/>
        </p:nvSpPr>
        <p:spPr>
          <a:xfrm>
            <a:off x="948561" y="4999437"/>
            <a:ext cx="7482591" cy="82538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50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F3989-7F2C-0320-5C7B-9766FAB3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86179-7F3B-2B35-8D24-2DA3E958B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Cat Kafka-server-start.sh : </a:t>
            </a:r>
            <a:r>
              <a:rPr lang="ko-KR" altLang="en-US" dirty="0"/>
              <a:t>메모리를 설정하는 부분 체크</a:t>
            </a:r>
            <a:endParaRPr lang="en-US" altLang="ko-KR" dirty="0"/>
          </a:p>
          <a:p>
            <a:pPr lvl="1"/>
            <a:r>
              <a:rPr lang="en-US" altLang="ko-KR" dirty="0"/>
              <a:t>1.heap</a:t>
            </a:r>
            <a:r>
              <a:rPr lang="ko-KR" altLang="en-US" dirty="0"/>
              <a:t>에 대한 아무 지정이 안돼 있다면 기본설정인 </a:t>
            </a:r>
            <a:r>
              <a:rPr lang="en-US" altLang="ko-KR" dirty="0"/>
              <a:t>1G</a:t>
            </a:r>
            <a:r>
              <a:rPr lang="ko-KR" altLang="en-US" dirty="0"/>
              <a:t>로 실행</a:t>
            </a:r>
            <a:endParaRPr lang="en-US" altLang="ko-KR" dirty="0"/>
          </a:p>
          <a:p>
            <a:pPr lvl="1"/>
            <a:r>
              <a:rPr lang="en-US" altLang="ko-KR" dirty="0"/>
              <a:t>2.-daemon</a:t>
            </a:r>
            <a:r>
              <a:rPr lang="ko-KR" altLang="en-US" dirty="0"/>
              <a:t>옵션으로 브로커가 백그라운드로 실행될지 </a:t>
            </a:r>
            <a:r>
              <a:rPr lang="ko-KR" altLang="en-US" dirty="0" err="1"/>
              <a:t>포어그라운드로</a:t>
            </a:r>
            <a:r>
              <a:rPr lang="ko-KR" altLang="en-US" dirty="0"/>
              <a:t> 실행될지 설정가능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E7E6E8-CC1E-3717-861D-97A61C99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9DD2191-F8AA-3E6E-A188-F2D819B0FBC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0317028-2DF3-BCBC-AC33-FBFFF2FBA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2159815"/>
            <a:ext cx="7189962" cy="394802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B1EC2E2-2D4B-9C25-4094-6644546E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601" y="2513132"/>
            <a:ext cx="4394360" cy="5786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CE8E88E-AC63-59C6-9538-98CA5CBB9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045" y="3522868"/>
            <a:ext cx="4394360" cy="161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53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4DAF7-DFB4-3C54-F622-DFB7B329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83EDB-3566-C1B5-14D2-855BE3C9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Server  config </a:t>
            </a:r>
            <a:r>
              <a:rPr lang="ko-KR" altLang="en-US" dirty="0"/>
              <a:t>수정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Server.properties</a:t>
            </a:r>
            <a:r>
              <a:rPr lang="en-US" altLang="ko-KR" dirty="0"/>
              <a:t> :</a:t>
            </a:r>
            <a:r>
              <a:rPr lang="ko-KR" altLang="en-US" dirty="0"/>
              <a:t>브로커가 클러스터 운영에 필요한 옵션들 지정 가능</a:t>
            </a:r>
            <a:endParaRPr lang="en-US" altLang="ko-KR" dirty="0"/>
          </a:p>
          <a:p>
            <a:pPr lvl="1"/>
            <a:r>
              <a:rPr lang="ko-KR" altLang="en-US" dirty="0"/>
              <a:t>지금은 </a:t>
            </a:r>
            <a:r>
              <a:rPr lang="en-US" altLang="ko-KR" dirty="0"/>
              <a:t>advertised</a:t>
            </a:r>
            <a:r>
              <a:rPr lang="ko-KR" altLang="en-US" dirty="0"/>
              <a:t>만 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Aws </a:t>
            </a:r>
            <a:r>
              <a:rPr lang="ko-KR" altLang="en-US" dirty="0"/>
              <a:t>인스턴스 주소 </a:t>
            </a:r>
            <a:r>
              <a:rPr lang="en-US" altLang="ko-KR" dirty="0"/>
              <a:t>: 52.78.81.196</a:t>
            </a:r>
          </a:p>
          <a:p>
            <a:r>
              <a:rPr lang="ko-KR" altLang="en-US" dirty="0"/>
              <a:t>카프카 기본포트 </a:t>
            </a:r>
            <a:r>
              <a:rPr lang="en-US" altLang="ko-KR" dirty="0"/>
              <a:t>: 9092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3DB7-96D8-65AE-8D08-32E85A79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F6051C8-9B51-4FB4-A93F-A9269315111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8BABE38-33B6-14E8-E2CB-7A8B10894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60" y="1655574"/>
            <a:ext cx="7577383" cy="3723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DE7414-ED42-7274-40DB-2FC0A563E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50" y="3176651"/>
            <a:ext cx="7759202" cy="71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96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695D-8DEB-F8F2-0259-458949503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A896A-A610-04FF-0E39-F10A1229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A6F275-6E85-8261-C192-E8AABE865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주키퍼</a:t>
            </a:r>
            <a:r>
              <a:rPr lang="ko-KR" altLang="en-US" dirty="0"/>
              <a:t> 실행</a:t>
            </a:r>
            <a:endParaRPr lang="en-US" altLang="ko-KR" dirty="0"/>
          </a:p>
          <a:p>
            <a:r>
              <a:rPr lang="en-US" altLang="ko-KR" dirty="0"/>
              <a:t>Quick and dirty single node : </a:t>
            </a:r>
            <a:r>
              <a:rPr lang="ko-KR" altLang="en-US" dirty="0" err="1"/>
              <a:t>주키퍼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대만 실행하는 비정상적인 운영</a:t>
            </a:r>
            <a:r>
              <a:rPr lang="en-US" altLang="ko-KR" dirty="0"/>
              <a:t>, </a:t>
            </a:r>
            <a:r>
              <a:rPr lang="ko-KR" altLang="en-US" dirty="0"/>
              <a:t>최소 </a:t>
            </a:r>
            <a:r>
              <a:rPr lang="en-US" altLang="ko-KR" dirty="0"/>
              <a:t>3</a:t>
            </a:r>
            <a:r>
              <a:rPr lang="ko-KR" altLang="en-US" dirty="0"/>
              <a:t>대 필요</a:t>
            </a:r>
            <a:endParaRPr lang="en-US" altLang="ko-KR" dirty="0"/>
          </a:p>
          <a:p>
            <a:pPr lvl="1"/>
            <a:r>
              <a:rPr lang="en-US" altLang="ko-KR" dirty="0"/>
              <a:t>But </a:t>
            </a:r>
            <a:r>
              <a:rPr lang="ko-KR" altLang="en-US" dirty="0"/>
              <a:t>실습환경은 </a:t>
            </a:r>
            <a:r>
              <a:rPr lang="en-US" altLang="ko-KR" dirty="0" err="1"/>
              <a:t>aws</a:t>
            </a:r>
            <a:r>
              <a:rPr lang="ko-KR" altLang="en-US" dirty="0"/>
              <a:t>서버가 하나 뿐이라 카프카와 동시에 </a:t>
            </a:r>
            <a:r>
              <a:rPr lang="ko-KR" altLang="en-US" dirty="0" err="1"/>
              <a:t>주키퍼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 err="1"/>
              <a:t>대씩만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BIN/ZOOKEEPER-SERVER-START.SH : </a:t>
            </a:r>
            <a:r>
              <a:rPr lang="ko-KR" altLang="en-US" dirty="0" err="1"/>
              <a:t>주키퍼</a:t>
            </a:r>
            <a:r>
              <a:rPr lang="ko-KR" altLang="en-US" dirty="0"/>
              <a:t> 시작스크립트</a:t>
            </a:r>
            <a:endParaRPr lang="en-US" altLang="ko-KR" dirty="0"/>
          </a:p>
          <a:p>
            <a:r>
              <a:rPr lang="en-US" altLang="ko-KR" dirty="0"/>
              <a:t>-DAEMON : </a:t>
            </a:r>
            <a:r>
              <a:rPr lang="ko-KR" altLang="en-US" dirty="0"/>
              <a:t>백그라운드 실행</a:t>
            </a:r>
            <a:endParaRPr lang="en-US" altLang="ko-KR" dirty="0"/>
          </a:p>
          <a:p>
            <a:r>
              <a:rPr lang="en-US" altLang="ko-KR" dirty="0"/>
              <a:t>CONFIG/ZOOKEEPER.PROPERTIES : </a:t>
            </a:r>
            <a:r>
              <a:rPr lang="ko-KR" altLang="en-US" dirty="0" err="1"/>
              <a:t>주키퍼</a:t>
            </a:r>
            <a:r>
              <a:rPr lang="ko-KR" altLang="en-US" dirty="0"/>
              <a:t> 설정 경로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ACE732-6E92-0752-CA32-339E17B5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0FFB7CD-F217-BB49-A5E6-578BA120045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8F2E23F-8383-7C08-1BCD-EC89A9E35EFB}"/>
              </a:ext>
            </a:extLst>
          </p:cNvPr>
          <p:cNvGrpSpPr/>
          <p:nvPr/>
        </p:nvGrpSpPr>
        <p:grpSpPr>
          <a:xfrm>
            <a:off x="807867" y="3989475"/>
            <a:ext cx="9271673" cy="1573207"/>
            <a:chOff x="790112" y="3584719"/>
            <a:chExt cx="9271673" cy="157320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90B98E5-C2F4-4A13-225A-52A95ADE5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6968"/>
            <a:stretch/>
          </p:blipFill>
          <p:spPr>
            <a:xfrm>
              <a:off x="790112" y="3584719"/>
              <a:ext cx="9271673" cy="1573207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9A97F45-3E01-332D-C0B9-5BF58A4CFE65}"/>
                </a:ext>
              </a:extLst>
            </p:cNvPr>
            <p:cNvSpPr/>
            <p:nvPr/>
          </p:nvSpPr>
          <p:spPr>
            <a:xfrm>
              <a:off x="4305670" y="4128117"/>
              <a:ext cx="1313895" cy="1686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83454E5-520C-9E0C-F89C-5F8D5C52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" r="13294" b="88408"/>
          <a:stretch/>
        </p:blipFill>
        <p:spPr>
          <a:xfrm>
            <a:off x="807867" y="3451168"/>
            <a:ext cx="9757776" cy="26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9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B01A0D-2CAC-2FD0-A5C1-36554E3F4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42693-6B39-F9DD-883F-5A5443A3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주키퍼</a:t>
            </a:r>
            <a:r>
              <a:rPr lang="ko-KR" altLang="en-US" dirty="0"/>
              <a:t> 실행</a:t>
            </a:r>
            <a:endParaRPr lang="en-US" altLang="ko-KR" dirty="0"/>
          </a:p>
          <a:p>
            <a:r>
              <a:rPr lang="en-US" altLang="ko-KR" dirty="0"/>
              <a:t>Quick and dirty single node : </a:t>
            </a:r>
            <a:r>
              <a:rPr lang="ko-KR" altLang="en-US" dirty="0" err="1"/>
              <a:t>주키퍼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대만 실행하는 비정상적인 운영</a:t>
            </a:r>
            <a:r>
              <a:rPr lang="en-US" altLang="ko-KR" dirty="0"/>
              <a:t>, </a:t>
            </a:r>
            <a:r>
              <a:rPr lang="ko-KR" altLang="en-US" dirty="0"/>
              <a:t>최소 </a:t>
            </a:r>
            <a:r>
              <a:rPr lang="en-US" altLang="ko-KR" dirty="0"/>
              <a:t>3</a:t>
            </a:r>
            <a:r>
              <a:rPr lang="ko-KR" altLang="en-US" dirty="0"/>
              <a:t>대 필요</a:t>
            </a:r>
            <a:endParaRPr lang="en-US" altLang="ko-KR" dirty="0"/>
          </a:p>
          <a:p>
            <a:pPr lvl="1"/>
            <a:r>
              <a:rPr lang="en-US" altLang="ko-KR" dirty="0"/>
              <a:t>But </a:t>
            </a:r>
            <a:r>
              <a:rPr lang="ko-KR" altLang="en-US" dirty="0"/>
              <a:t>실습환경은 </a:t>
            </a:r>
            <a:r>
              <a:rPr lang="en-US" altLang="ko-KR" dirty="0" err="1"/>
              <a:t>aws</a:t>
            </a:r>
            <a:r>
              <a:rPr lang="ko-KR" altLang="en-US" dirty="0"/>
              <a:t>서버가 하나 뿐이라 카프카와 동시에 </a:t>
            </a:r>
            <a:r>
              <a:rPr lang="ko-KR" altLang="en-US" dirty="0" err="1"/>
              <a:t>주키퍼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 err="1"/>
              <a:t>대씩만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jps</a:t>
            </a:r>
            <a:r>
              <a:rPr lang="en-US" altLang="ko-KR" dirty="0"/>
              <a:t> : </a:t>
            </a:r>
            <a:r>
              <a:rPr lang="en-US" altLang="ko-KR" dirty="0" err="1"/>
              <a:t>jvm</a:t>
            </a:r>
            <a:r>
              <a:rPr lang="en-US" altLang="ko-KR" dirty="0"/>
              <a:t> </a:t>
            </a:r>
            <a:r>
              <a:rPr lang="ko-KR" altLang="en-US" dirty="0"/>
              <a:t>프로세스 상태 체크</a:t>
            </a:r>
            <a:endParaRPr lang="en-US" altLang="ko-KR" dirty="0"/>
          </a:p>
          <a:p>
            <a:pPr lvl="1"/>
            <a:r>
              <a:rPr lang="en-US" altLang="ko-KR" dirty="0"/>
              <a:t>-v : </a:t>
            </a:r>
            <a:r>
              <a:rPr lang="ko-KR" altLang="en-US" dirty="0" err="1"/>
              <a:t>명령줄</a:t>
            </a:r>
            <a:r>
              <a:rPr lang="ko-KR" altLang="en-US" dirty="0"/>
              <a:t> 옵션 출력</a:t>
            </a:r>
            <a:endParaRPr lang="en-US" altLang="ko-KR" dirty="0"/>
          </a:p>
          <a:p>
            <a:pPr lvl="1"/>
            <a:r>
              <a:rPr lang="en-US" altLang="ko-KR" dirty="0"/>
              <a:t>-m : </a:t>
            </a:r>
            <a:r>
              <a:rPr lang="ko-KR" altLang="en-US" dirty="0" err="1"/>
              <a:t>메인메서드에</a:t>
            </a:r>
            <a:r>
              <a:rPr lang="ko-KR" altLang="en-US" dirty="0"/>
              <a:t> 전달된 인수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주키퍼</a:t>
            </a:r>
            <a:r>
              <a:rPr lang="ko-KR" altLang="en-US" dirty="0"/>
              <a:t> 기본 </a:t>
            </a:r>
            <a:r>
              <a:rPr lang="ko-KR" altLang="en-US" dirty="0" err="1"/>
              <a:t>힙메모리</a:t>
            </a:r>
            <a:r>
              <a:rPr lang="ko-KR" altLang="en-US" dirty="0"/>
              <a:t> </a:t>
            </a:r>
            <a:r>
              <a:rPr lang="en-US" altLang="ko-KR" dirty="0"/>
              <a:t>512</a:t>
            </a:r>
            <a:r>
              <a:rPr lang="ko-KR" altLang="en-US" dirty="0"/>
              <a:t>인 모습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A2AF64-9796-1CCE-7422-9B75FBC6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6D256C0-FD85-70AC-FB52-314F80AC85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E099DC7-5C2F-43F8-08E7-A9FB64F5D3E7}"/>
              </a:ext>
            </a:extLst>
          </p:cNvPr>
          <p:cNvGrpSpPr/>
          <p:nvPr/>
        </p:nvGrpSpPr>
        <p:grpSpPr>
          <a:xfrm>
            <a:off x="754601" y="3199363"/>
            <a:ext cx="9271673" cy="1573207"/>
            <a:chOff x="790112" y="3584719"/>
            <a:chExt cx="9271673" cy="157320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F219E68-EBFD-5D33-3A7B-BC3D93E2F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6968"/>
            <a:stretch/>
          </p:blipFill>
          <p:spPr>
            <a:xfrm>
              <a:off x="790112" y="3584719"/>
              <a:ext cx="9271673" cy="1573207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3A16AE3-308A-546D-FD1E-C6B73FE97D0B}"/>
                </a:ext>
              </a:extLst>
            </p:cNvPr>
            <p:cNvSpPr/>
            <p:nvPr/>
          </p:nvSpPr>
          <p:spPr>
            <a:xfrm>
              <a:off x="4305670" y="4128117"/>
              <a:ext cx="1313895" cy="1686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899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C0D13-0C70-DEB8-7A0D-34B215D6A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카프카 브로커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6F769-C2EF-C15B-5AA9-CF961C09B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브로커 실행 및 로그확인</a:t>
            </a:r>
            <a:endParaRPr lang="en-US" altLang="ko-KR" dirty="0"/>
          </a:p>
          <a:p>
            <a:r>
              <a:rPr lang="en-US" altLang="ko-KR" dirty="0"/>
              <a:t>Kafka-server-start.sh </a:t>
            </a:r>
            <a:r>
              <a:rPr lang="ko-KR" altLang="en-US" dirty="0"/>
              <a:t>명령어를 통해 카프카 브로커를 실행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jps</a:t>
            </a:r>
            <a:r>
              <a:rPr lang="en-US" altLang="ko-KR" dirty="0"/>
              <a:t> : </a:t>
            </a:r>
            <a:r>
              <a:rPr lang="ko-KR" altLang="en-US" dirty="0" err="1"/>
              <a:t>주키퍼</a:t>
            </a:r>
            <a:r>
              <a:rPr lang="en-US" altLang="ko-KR" dirty="0"/>
              <a:t>,</a:t>
            </a:r>
            <a:r>
              <a:rPr lang="ko-KR" altLang="en-US" dirty="0"/>
              <a:t> 브로커 프로세스의 동작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Tail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로그 확인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7B143-17D0-CFEC-30F7-BA9488B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36796BC-FECD-AB3E-73A4-43C50FA9B6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ED2A89D-89CA-89FE-D79F-39C19D4FA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42" y="2609883"/>
            <a:ext cx="5525271" cy="9907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09C3D8-EE39-1C4E-C061-2D9594855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42" y="4056499"/>
            <a:ext cx="8248434" cy="22724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F0EFF3-EA26-9C85-A7CD-D967A963C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72" y="1794725"/>
            <a:ext cx="10983858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8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EC183-7D34-0184-C6ED-8DE8DC17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로컬 컴퓨터에서 카프카와 통신확인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7261CF-F537-0066-886B-DA89752C2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로컬에 카프카 바이너리 패키지 다운로드</a:t>
            </a:r>
            <a:r>
              <a:rPr lang="en-US" altLang="ko-KR" dirty="0"/>
              <a:t>(</a:t>
            </a:r>
            <a:r>
              <a:rPr lang="en-US" altLang="ko-KR" dirty="0" err="1"/>
              <a:t>crul</a:t>
            </a:r>
            <a:r>
              <a:rPr lang="en-US" altLang="ko-KR" dirty="0"/>
              <a:t> &gt; </a:t>
            </a:r>
            <a:r>
              <a:rPr lang="ko-KR" altLang="en-US" dirty="0"/>
              <a:t>커맨드라인 </a:t>
            </a:r>
            <a:r>
              <a:rPr lang="en-US" altLang="ko-KR" dirty="0" err="1"/>
              <a:t>url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Tar</a:t>
            </a:r>
            <a:r>
              <a:rPr lang="ko-KR" altLang="en-US" dirty="0"/>
              <a:t>로 압축풀기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5BE5F7-7341-9834-24F2-4A28440C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F64959-4A91-25A7-B61F-6E563FAA71E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DBD741-9151-BFCC-B9F6-0CA21FE76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43" y="1508052"/>
            <a:ext cx="10811618" cy="10945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CA0267-F47E-8A67-224B-540C5073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43" y="3429000"/>
            <a:ext cx="736385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50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0F5C5-2677-364D-3807-E57FBF9D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로컬 컴퓨터에서 카프카와 통신확인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99B0F-1B7E-8396-3195-A0B6F0394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윈도우 환경이라 </a:t>
            </a:r>
            <a:r>
              <a:rPr lang="en-US" altLang="ko-KR" dirty="0"/>
              <a:t>bat</a:t>
            </a:r>
            <a:r>
              <a:rPr lang="ko-KR" altLang="en-US" dirty="0"/>
              <a:t>로 실행 </a:t>
            </a:r>
            <a:r>
              <a:rPr lang="en-US" altLang="ko-KR" dirty="0"/>
              <a:t>&gt; </a:t>
            </a:r>
            <a:r>
              <a:rPr lang="ko-KR" altLang="en-US" dirty="0"/>
              <a:t>브로커 </a:t>
            </a:r>
            <a:r>
              <a:rPr lang="en-US" altLang="ko-KR" dirty="0"/>
              <a:t>id:0</a:t>
            </a:r>
            <a:r>
              <a:rPr lang="ko-KR" altLang="en-US" dirty="0"/>
              <a:t>으로 </a:t>
            </a:r>
            <a:r>
              <a:rPr lang="ko-KR" altLang="en-US" dirty="0" err="1"/>
              <a:t>작동중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8F38F1-3392-D82B-C5EE-3BA23A814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320EB63-1D89-1D9D-8144-A0762863883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E0990F-911D-C111-2A4F-2304C8449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536181"/>
            <a:ext cx="9108489" cy="449874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08C5AF3-1026-593A-1838-C8888212A176}"/>
              </a:ext>
            </a:extLst>
          </p:cNvPr>
          <p:cNvSpPr/>
          <p:nvPr/>
        </p:nvSpPr>
        <p:spPr>
          <a:xfrm>
            <a:off x="2139518" y="1741894"/>
            <a:ext cx="1313895" cy="168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400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2FC3F-0173-117A-835A-431AC7F8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로컬 컴퓨터에서 카프카와 통신확인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5763A-5E01-D9AF-7DB7-FF7551B2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ko-KR" altLang="en-US" dirty="0"/>
              <a:t>를 </a:t>
            </a:r>
            <a:r>
              <a:rPr lang="en-US" altLang="ko-KR" dirty="0"/>
              <a:t>my-</a:t>
            </a:r>
            <a:r>
              <a:rPr lang="en-US" altLang="ko-KR" dirty="0" err="1"/>
              <a:t>kafka</a:t>
            </a:r>
            <a:r>
              <a:rPr lang="ko-KR" altLang="en-US" dirty="0"/>
              <a:t>로 편하게 사용하기 위해 메모장 편집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52.78.81.196  my-</a:t>
            </a:r>
            <a:r>
              <a:rPr lang="en-US" altLang="ko-KR" dirty="0" err="1"/>
              <a:t>kafka</a:t>
            </a:r>
            <a:r>
              <a:rPr lang="ko-KR" altLang="en-US" dirty="0"/>
              <a:t> 로 추가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DEB30-F2D7-7634-3ECB-C8D9DD9F9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A2EE97-1E00-D74D-2830-46158E2DCD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308A42A-CE83-0132-00E5-23772DD0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6" y="1363392"/>
            <a:ext cx="6144482" cy="419158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480DB7-A8FA-8964-F514-A003D05715F9}"/>
              </a:ext>
            </a:extLst>
          </p:cNvPr>
          <p:cNvGrpSpPr/>
          <p:nvPr/>
        </p:nvGrpSpPr>
        <p:grpSpPr>
          <a:xfrm>
            <a:off x="7016032" y="1116177"/>
            <a:ext cx="4745500" cy="4849144"/>
            <a:chOff x="7369307" y="1244667"/>
            <a:chExt cx="4745500" cy="484914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E9F0558-5890-E832-E952-8083CFB52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9307" y="1244667"/>
              <a:ext cx="4745500" cy="482823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67DA09E-1101-9DE9-49FC-3CEE90BEF6FA}"/>
                </a:ext>
              </a:extLst>
            </p:cNvPr>
            <p:cNvSpPr/>
            <p:nvPr/>
          </p:nvSpPr>
          <p:spPr>
            <a:xfrm>
              <a:off x="7369307" y="5880747"/>
              <a:ext cx="1703672" cy="21306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4327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148A6-1F85-FE5B-F33D-9B83DC6AB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64B77-C8C0-9B01-C9A2-EE7C50822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Kafka-topics.sh(bat)</a:t>
            </a:r>
          </a:p>
          <a:p>
            <a:r>
              <a:rPr lang="en-US" altLang="ko-KR" dirty="0"/>
              <a:t>--create : </a:t>
            </a:r>
            <a:r>
              <a:rPr lang="ko-KR" altLang="en-US" dirty="0"/>
              <a:t>토픽을 생성하는 명령어</a:t>
            </a:r>
            <a:endParaRPr lang="en-US" altLang="ko-KR" dirty="0"/>
          </a:p>
          <a:p>
            <a:r>
              <a:rPr lang="en-US" altLang="ko-KR" dirty="0"/>
              <a:t>--bootstrap-server : </a:t>
            </a:r>
            <a:r>
              <a:rPr lang="ko-KR" altLang="en-US" dirty="0"/>
              <a:t>토픽을 생성할 카프카 클러스터를 구성하는 브로커들의 </a:t>
            </a:r>
            <a:r>
              <a:rPr lang="en-US" altLang="ko-KR" dirty="0" err="1"/>
              <a:t>ip</a:t>
            </a:r>
            <a:r>
              <a:rPr lang="ko-KR" altLang="en-US" dirty="0"/>
              <a:t>와 </a:t>
            </a:r>
            <a:r>
              <a:rPr lang="en-US" altLang="ko-KR" dirty="0"/>
              <a:t>port</a:t>
            </a:r>
            <a:r>
              <a:rPr lang="ko-KR" altLang="en-US" dirty="0"/>
              <a:t>를 적음</a:t>
            </a:r>
            <a:endParaRPr lang="en-US" altLang="ko-KR" dirty="0"/>
          </a:p>
          <a:p>
            <a:r>
              <a:rPr lang="en-US" altLang="ko-KR" dirty="0"/>
              <a:t>--topic : </a:t>
            </a:r>
            <a:r>
              <a:rPr lang="ko-KR" altLang="en-US" dirty="0"/>
              <a:t>토픽이름을 작성</a:t>
            </a:r>
            <a:endParaRPr lang="en-US" altLang="ko-KR" dirty="0"/>
          </a:p>
          <a:p>
            <a:r>
              <a:rPr lang="ko-KR" altLang="en-US" dirty="0"/>
              <a:t>서버로그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0A7E1-95B1-93A1-D104-11F75784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0AE73AA-E8F6-084B-E952-567FDB0C12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966C91-A9AC-4150-B91B-9A7516366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87" y="1132446"/>
            <a:ext cx="10167757" cy="26930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45B5DF-CD9A-6401-2E76-A4F5E593E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783" y="1404840"/>
            <a:ext cx="3543795" cy="352474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B198152F-45C8-BC87-6711-B03C7BEBE883}"/>
              </a:ext>
            </a:extLst>
          </p:cNvPr>
          <p:cNvGrpSpPr/>
          <p:nvPr/>
        </p:nvGrpSpPr>
        <p:grpSpPr>
          <a:xfrm>
            <a:off x="798787" y="2951509"/>
            <a:ext cx="9862241" cy="3520786"/>
            <a:chOff x="691804" y="2828500"/>
            <a:chExt cx="9862241" cy="3520786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7305EAF-9608-1EAD-1A36-9056EF2CE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1804" y="2828500"/>
              <a:ext cx="9862241" cy="3520786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A77B32D-8907-222D-D377-AC963FBF5D50}"/>
                </a:ext>
              </a:extLst>
            </p:cNvPr>
            <p:cNvSpPr/>
            <p:nvPr/>
          </p:nvSpPr>
          <p:spPr>
            <a:xfrm>
              <a:off x="2654423" y="3628809"/>
              <a:ext cx="2441360" cy="1708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9990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F10BA-D797-6059-99FD-B5487CB0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711349-F640-B5C4-35AC-53995CF5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200" dirty="0"/>
              <a:t>윈도우용 명령어는 책과 달라 헷갈려서 리눅스로 진행</a:t>
            </a:r>
            <a:endParaRPr lang="en-US" altLang="ko-KR" dirty="0"/>
          </a:p>
          <a:p>
            <a:r>
              <a:rPr lang="ko-KR" altLang="en-US" dirty="0"/>
              <a:t>상세 옵션 기입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--</a:t>
            </a:r>
            <a:r>
              <a:rPr lang="en-US" altLang="ko-KR" dirty="0" err="1"/>
              <a:t>partions</a:t>
            </a:r>
            <a:r>
              <a:rPr lang="en-US" altLang="ko-KR" dirty="0"/>
              <a:t> :</a:t>
            </a:r>
            <a:r>
              <a:rPr lang="ko-KR" altLang="en-US" dirty="0"/>
              <a:t> 파티션의 개수</a:t>
            </a:r>
            <a:endParaRPr lang="en-US" altLang="ko-KR" dirty="0"/>
          </a:p>
          <a:p>
            <a:r>
              <a:rPr lang="en-US" altLang="ko-KR" dirty="0"/>
              <a:t>--replication-facto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토픽의 파티션을 복제할 복제개수 </a:t>
            </a:r>
            <a:r>
              <a:rPr lang="en-US" altLang="ko-KR" dirty="0"/>
              <a:t>&gt; 1</a:t>
            </a:r>
            <a:r>
              <a:rPr lang="ko-KR" altLang="en-US" dirty="0"/>
              <a:t>이면 </a:t>
            </a:r>
            <a:r>
              <a:rPr lang="ko-KR" altLang="en-US" dirty="0" err="1"/>
              <a:t>복제가없는것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면 복제가 </a:t>
            </a:r>
            <a:r>
              <a:rPr lang="en-US" altLang="ko-KR" dirty="0"/>
              <a:t>1</a:t>
            </a:r>
            <a:r>
              <a:rPr lang="ko-KR" altLang="en-US" dirty="0" err="1"/>
              <a:t>개인것</a:t>
            </a:r>
            <a:r>
              <a:rPr lang="en-US" altLang="ko-KR" dirty="0"/>
              <a:t>, </a:t>
            </a:r>
            <a:r>
              <a:rPr lang="ko-KR" altLang="en-US" dirty="0"/>
              <a:t>최소는 </a:t>
            </a:r>
            <a:r>
              <a:rPr lang="en-US" altLang="ko-KR" dirty="0"/>
              <a:t>1</a:t>
            </a:r>
            <a:r>
              <a:rPr lang="ko-KR" altLang="en-US" dirty="0"/>
              <a:t>이고 최대는 통신하는 카프카 클러스터의 브로커 개수</a:t>
            </a:r>
            <a:endParaRPr lang="en-US" altLang="ko-KR" dirty="0"/>
          </a:p>
          <a:p>
            <a:r>
              <a:rPr lang="en-US" altLang="ko-KR" dirty="0"/>
              <a:t>--config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통해 </a:t>
            </a:r>
            <a:r>
              <a:rPr lang="en-US" altLang="ko-KR" dirty="0"/>
              <a:t>kafka-topics.sh</a:t>
            </a:r>
            <a:r>
              <a:rPr lang="ko-KR" altLang="en-US" dirty="0"/>
              <a:t>명령에 포함되지 않은 추가 설정가능 </a:t>
            </a:r>
            <a:r>
              <a:rPr lang="en-US" altLang="ko-KR" dirty="0"/>
              <a:t>&gt; retention.ms</a:t>
            </a:r>
            <a:r>
              <a:rPr lang="ko-KR" altLang="en-US" dirty="0"/>
              <a:t>는 토픽의 데이터 유지기간을 뜻함 </a:t>
            </a:r>
            <a:r>
              <a:rPr lang="en-US" altLang="ko-KR" dirty="0"/>
              <a:t>&gt; 2</a:t>
            </a:r>
            <a:r>
              <a:rPr lang="ko-KR" altLang="en-US" dirty="0"/>
              <a:t>일을 </a:t>
            </a:r>
            <a:r>
              <a:rPr lang="en-US" altLang="ko-KR" dirty="0" err="1"/>
              <a:t>ms</a:t>
            </a:r>
            <a:r>
              <a:rPr lang="ko-KR" altLang="en-US" dirty="0"/>
              <a:t>로 </a:t>
            </a:r>
            <a:r>
              <a:rPr lang="ko-KR" altLang="en-US" dirty="0" err="1"/>
              <a:t>나타낸것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9C62AC-06D1-DB4C-3518-93EE1294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7EEE249-8479-EC79-9FAD-66C9F54F5E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389820-4137-AA70-88CE-FE76B363C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66" y="1733313"/>
            <a:ext cx="5353797" cy="169568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1AE6A8A-D353-108D-9135-359249601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66" y="5271153"/>
            <a:ext cx="3038899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98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4A373-3AB7-8330-6678-38B2F1489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D04E0-1DE2-4799-E91C-632A8BD5F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토픽 리스트 조회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토픽 상세조회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2FD89C-2981-5173-AE8E-1D0110FA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86770C0-4727-5373-8460-FED037613E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06EA1F-DBB7-8A09-8ABE-2557EF47C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470" y="1504631"/>
            <a:ext cx="9392961" cy="7335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78D5C8-7B62-C279-F46C-B16BA330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79" y="2993376"/>
            <a:ext cx="10002646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86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9C573-A732-8CBA-579A-3AE71DE9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DDD2F-CCFD-DD5B-870E-DF071ABA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토픽옵션 수정</a:t>
            </a:r>
            <a:endParaRPr lang="en-US" altLang="ko-KR" dirty="0"/>
          </a:p>
          <a:p>
            <a:r>
              <a:rPr lang="ko-KR" altLang="en-US" dirty="0"/>
              <a:t>파티션개수 변경 </a:t>
            </a:r>
            <a:r>
              <a:rPr lang="en-US" altLang="ko-KR" dirty="0"/>
              <a:t>&gt; kafka-topics.sh &gt; </a:t>
            </a:r>
            <a:r>
              <a:rPr lang="ko-KR" altLang="en-US" dirty="0"/>
              <a:t>파티션개수를 </a:t>
            </a:r>
            <a:r>
              <a:rPr lang="ko-KR" altLang="en-US" dirty="0" err="1"/>
              <a:t>늘릴순있지만</a:t>
            </a:r>
            <a:r>
              <a:rPr lang="ko-KR" altLang="en-US" dirty="0"/>
              <a:t> </a:t>
            </a:r>
            <a:r>
              <a:rPr lang="ko-KR" altLang="en-US" dirty="0" err="1"/>
              <a:t>줄이는건</a:t>
            </a:r>
            <a:r>
              <a:rPr lang="ko-KR" altLang="en-US" dirty="0"/>
              <a:t> 불가능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2BC27-12AC-2F6B-4AFC-A283B119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E98A764-29F5-17EE-EF9A-89E6B3EEC2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315A065-6C9B-2C7C-EBD5-9A6BA16C4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17" y="2267805"/>
            <a:ext cx="8811855" cy="9907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C7BBB16-8BB3-935A-041E-A6DA5DBE2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7" y="3576763"/>
            <a:ext cx="9831172" cy="220058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6453BF6-65EC-023D-2494-A663F039F165}"/>
              </a:ext>
            </a:extLst>
          </p:cNvPr>
          <p:cNvSpPr/>
          <p:nvPr/>
        </p:nvSpPr>
        <p:spPr>
          <a:xfrm>
            <a:off x="1582897" y="5548544"/>
            <a:ext cx="8244683" cy="2288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469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C3E1-211D-00CA-8676-8775C6197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BCC49-6635-6DD1-9021-07BB7831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DF5415-7C70-2DD7-9552-E2012226E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토픽옵션 수정</a:t>
            </a:r>
            <a:endParaRPr lang="en-US" altLang="ko-KR" dirty="0"/>
          </a:p>
          <a:p>
            <a:r>
              <a:rPr lang="ko-KR" altLang="en-US" dirty="0"/>
              <a:t>파티션개수 변경 </a:t>
            </a:r>
            <a:r>
              <a:rPr lang="en-US" altLang="ko-KR" dirty="0"/>
              <a:t>&gt; kafka-topics.sh &gt; </a:t>
            </a:r>
            <a:r>
              <a:rPr lang="ko-KR" altLang="en-US" dirty="0"/>
              <a:t>파티션개수를 </a:t>
            </a:r>
            <a:r>
              <a:rPr lang="ko-KR" altLang="en-US" dirty="0" err="1"/>
              <a:t>늘릴순있지만</a:t>
            </a:r>
            <a:r>
              <a:rPr lang="ko-KR" altLang="en-US" dirty="0"/>
              <a:t> </a:t>
            </a:r>
            <a:r>
              <a:rPr lang="ko-KR" altLang="en-US" dirty="0" err="1"/>
              <a:t>줄이는건</a:t>
            </a:r>
            <a:r>
              <a:rPr lang="ko-KR" altLang="en-US" dirty="0"/>
              <a:t> 불가능</a:t>
            </a:r>
            <a:endParaRPr lang="en-US" altLang="ko-KR" dirty="0"/>
          </a:p>
          <a:p>
            <a:r>
              <a:rPr lang="ko-KR" altLang="en-US" dirty="0" err="1"/>
              <a:t>토픽삭제정책</a:t>
            </a:r>
            <a:r>
              <a:rPr lang="ko-KR" altLang="en-US" dirty="0"/>
              <a:t> 기간을 변경 </a:t>
            </a:r>
            <a:r>
              <a:rPr lang="en-US" altLang="ko-KR" dirty="0"/>
              <a:t>&gt; kafka-configs.sh (</a:t>
            </a:r>
            <a:r>
              <a:rPr lang="ko-KR" altLang="en-US" dirty="0" err="1"/>
              <a:t>다이내믹옵션들</a:t>
            </a:r>
            <a:r>
              <a:rPr lang="ko-KR" altLang="en-US" dirty="0"/>
              <a:t> </a:t>
            </a:r>
            <a:r>
              <a:rPr lang="en-US" altLang="ko-KR" dirty="0"/>
              <a:t>&gt; configs)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F712A4-6E26-3056-06E2-047CEB9F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827202A-BDCA-D49C-B27A-F5F8AF8F9F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67D70C-0244-1581-40C4-FF07D1F00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049" y="4134414"/>
            <a:ext cx="9859751" cy="14765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3BDA36D-E39F-72C8-7B5F-8F042731E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49" y="2645876"/>
            <a:ext cx="8840434" cy="122889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EB60C19-9493-FE29-09DB-B893CB9228D9}"/>
              </a:ext>
            </a:extLst>
          </p:cNvPr>
          <p:cNvSpPr/>
          <p:nvPr/>
        </p:nvSpPr>
        <p:spPr>
          <a:xfrm>
            <a:off x="863807" y="5335480"/>
            <a:ext cx="2385420" cy="27551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5527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C55B9-EAED-E635-2975-DB38DA01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4F3559-D633-CE1B-CFD7-12A2AFE48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Kafka-console-producer.sh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생성된 토픽에 데이터를 넣을 수 있는 명령어 </a:t>
            </a:r>
            <a:endParaRPr lang="en-US" altLang="ko-KR" dirty="0"/>
          </a:p>
          <a:p>
            <a:r>
              <a:rPr lang="ko-KR" altLang="en-US" dirty="0"/>
              <a:t>메시지키와 </a:t>
            </a:r>
            <a:r>
              <a:rPr lang="ko-KR" altLang="en-US" dirty="0" err="1"/>
              <a:t>메시지값인</a:t>
            </a:r>
            <a:r>
              <a:rPr lang="ko-KR" altLang="en-US" dirty="0"/>
              <a:t> </a:t>
            </a:r>
            <a:r>
              <a:rPr lang="en-US" altLang="ko-KR" dirty="0"/>
              <a:t>key-value</a:t>
            </a:r>
            <a:r>
              <a:rPr lang="ko-KR" altLang="en-US" dirty="0"/>
              <a:t>형식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Key</a:t>
            </a:r>
            <a:r>
              <a:rPr lang="ko-KR" altLang="en-US" dirty="0"/>
              <a:t>가 없다면 </a:t>
            </a:r>
            <a:r>
              <a:rPr lang="en-US" altLang="ko-KR" dirty="0"/>
              <a:t>null : value</a:t>
            </a:r>
            <a:r>
              <a:rPr lang="ko-KR" altLang="en-US" dirty="0"/>
              <a:t>로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6C32F-FFE2-5E05-5B3D-581617CC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836126F-E443-D634-8054-F14917C11C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3B0619-6254-E8DD-94DD-A448BB88D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38" y="1871395"/>
            <a:ext cx="9821646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9A7B9-8276-EFCD-EC16-A75F68DA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D5A2E-2F53-2481-0CF6-3876572DA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메시지 키를 가지는 레코드 전송</a:t>
            </a:r>
            <a:endParaRPr lang="en-US" altLang="ko-KR" dirty="0"/>
          </a:p>
          <a:p>
            <a:r>
              <a:rPr lang="en-US" altLang="ko-KR" dirty="0" err="1"/>
              <a:t>Parse.key</a:t>
            </a:r>
            <a:r>
              <a:rPr lang="en-US" altLang="ko-KR" dirty="0"/>
              <a:t>=true &gt;&gt; </a:t>
            </a:r>
            <a:r>
              <a:rPr lang="ko-KR" altLang="en-US" dirty="0"/>
              <a:t>레코드를 </a:t>
            </a:r>
            <a:r>
              <a:rPr lang="ko-KR" altLang="en-US" dirty="0" err="1"/>
              <a:t>전송할때</a:t>
            </a:r>
            <a:r>
              <a:rPr lang="ko-KR" altLang="en-US" dirty="0"/>
              <a:t> 메시지 키를 </a:t>
            </a:r>
            <a:r>
              <a:rPr lang="ko-KR" altLang="en-US" dirty="0" err="1"/>
              <a:t>추가할수있음</a:t>
            </a:r>
            <a:endParaRPr lang="en-US" altLang="ko-KR" dirty="0"/>
          </a:p>
          <a:p>
            <a:r>
              <a:rPr lang="en-US" altLang="ko-KR" dirty="0"/>
              <a:t>Separator &gt;&gt; </a:t>
            </a:r>
            <a:r>
              <a:rPr lang="ko-KR" altLang="en-US" dirty="0"/>
              <a:t>키와 </a:t>
            </a:r>
            <a:r>
              <a:rPr lang="ko-KR" altLang="en-US" dirty="0" err="1"/>
              <a:t>메시지값을</a:t>
            </a:r>
            <a:r>
              <a:rPr lang="ko-KR" altLang="en-US" dirty="0"/>
              <a:t> 구분하는 </a:t>
            </a:r>
            <a:r>
              <a:rPr lang="ko-KR" altLang="en-US" dirty="0" err="1"/>
              <a:t>구분자</a:t>
            </a:r>
            <a:r>
              <a:rPr lang="ko-KR" altLang="en-US" dirty="0"/>
              <a:t> 선언 </a:t>
            </a:r>
            <a:r>
              <a:rPr lang="ko-KR" altLang="en-US" dirty="0" err="1"/>
              <a:t>선언하지않았다면</a:t>
            </a:r>
            <a:r>
              <a:rPr lang="ko-KR" altLang="en-US" dirty="0"/>
              <a:t> </a:t>
            </a:r>
            <a:r>
              <a:rPr lang="en-US" altLang="ko-KR" dirty="0"/>
              <a:t>Tab</a:t>
            </a:r>
            <a:r>
              <a:rPr lang="ko-KR" altLang="en-US" dirty="0"/>
              <a:t>임</a:t>
            </a:r>
            <a:r>
              <a:rPr lang="en-US" altLang="ko-KR" dirty="0"/>
              <a:t>, </a:t>
            </a:r>
            <a:r>
              <a:rPr lang="ko-KR" altLang="en-US" dirty="0"/>
              <a:t>만약 </a:t>
            </a:r>
            <a:r>
              <a:rPr lang="en-US" altLang="ko-KR" dirty="0"/>
              <a:t>separator</a:t>
            </a:r>
            <a:r>
              <a:rPr lang="ko-KR" altLang="en-US" dirty="0"/>
              <a:t>로 선언한 구분자를 </a:t>
            </a:r>
            <a:r>
              <a:rPr lang="ko-KR" altLang="en-US" dirty="0" err="1"/>
              <a:t>넣지않고</a:t>
            </a:r>
            <a:r>
              <a:rPr lang="ko-KR" altLang="en-US" dirty="0"/>
              <a:t> </a:t>
            </a:r>
            <a:r>
              <a:rPr lang="ko-KR" altLang="en-US" dirty="0" err="1"/>
              <a:t>보내려하면</a:t>
            </a:r>
            <a:r>
              <a:rPr lang="ko-KR" altLang="en-US" dirty="0"/>
              <a:t> 바로 종료됨</a:t>
            </a:r>
            <a:endParaRPr lang="en-US" altLang="ko-KR" dirty="0"/>
          </a:p>
          <a:p>
            <a:r>
              <a:rPr lang="ko-KR" altLang="en-US" dirty="0"/>
              <a:t>키를 통해 파티션이 결정됨</a:t>
            </a:r>
            <a:r>
              <a:rPr lang="en-US" altLang="ko-KR" dirty="0"/>
              <a:t>(</a:t>
            </a:r>
            <a:r>
              <a:rPr lang="ko-KR" altLang="en-US" dirty="0"/>
              <a:t>키의 </a:t>
            </a:r>
            <a:r>
              <a:rPr lang="ko-KR" altLang="en-US" dirty="0" err="1"/>
              <a:t>해시값작성</a:t>
            </a:r>
            <a:r>
              <a:rPr lang="ko-KR" altLang="en-US" dirty="0"/>
              <a:t> 및 </a:t>
            </a:r>
            <a:r>
              <a:rPr lang="ko-KR" altLang="en-US" dirty="0" err="1"/>
              <a:t>해당파티션에</a:t>
            </a:r>
            <a:r>
              <a:rPr lang="ko-KR" altLang="en-US" dirty="0"/>
              <a:t> 할당 </a:t>
            </a:r>
            <a:r>
              <a:rPr lang="en-US" altLang="ko-KR" dirty="0"/>
              <a:t>&gt; </a:t>
            </a:r>
            <a:r>
              <a:rPr lang="ko-KR" altLang="en-US" dirty="0"/>
              <a:t>메시지키가 동일하다면 동일한 파티션으로 전송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메시지 키가 </a:t>
            </a:r>
            <a:r>
              <a:rPr lang="en-US" altLang="ko-KR" dirty="0"/>
              <a:t>null</a:t>
            </a:r>
            <a:r>
              <a:rPr lang="ko-KR" altLang="en-US" dirty="0"/>
              <a:t>이라면 </a:t>
            </a:r>
            <a:r>
              <a:rPr lang="en-US" altLang="ko-KR" dirty="0"/>
              <a:t>RR</a:t>
            </a:r>
            <a:r>
              <a:rPr lang="ko-KR" altLang="en-US" dirty="0"/>
              <a:t>방식으로 저장됨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A31B0D-24E2-56B8-D2AF-051E770AB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8D7B836-2C54-D1E6-650F-4BEE6D1E78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4FFC518-17DD-C7DB-00DA-D059DF2AA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45" y="3628809"/>
            <a:ext cx="6420746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804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F85D0-FA57-A724-614F-E860A66B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86873-67E8-7495-7CE1-94BC87676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Kafka-console-consumer.sh &gt; </a:t>
            </a:r>
            <a:r>
              <a:rPr lang="ko-KR" altLang="en-US" dirty="0"/>
              <a:t>전송한 데이터를 확인</a:t>
            </a:r>
            <a:endParaRPr lang="en-US" altLang="ko-KR" dirty="0"/>
          </a:p>
          <a:p>
            <a:r>
              <a:rPr lang="ko-KR" altLang="en-US" dirty="0"/>
              <a:t>필수옵션으로 </a:t>
            </a:r>
            <a:r>
              <a:rPr lang="en-US" altLang="ko-KR" dirty="0"/>
              <a:t>bootstrap-serve</a:t>
            </a:r>
            <a:r>
              <a:rPr lang="ko-KR" altLang="en-US" dirty="0"/>
              <a:t>에 카프카 클러스터 정보</a:t>
            </a:r>
            <a:r>
              <a:rPr lang="en-US" altLang="ko-KR" dirty="0"/>
              <a:t>, --topic</a:t>
            </a:r>
            <a:r>
              <a:rPr lang="ko-KR" altLang="en-US" dirty="0"/>
              <a:t>에 토픽이름이 필요함</a:t>
            </a:r>
            <a:endParaRPr lang="en-US" altLang="ko-KR" dirty="0"/>
          </a:p>
          <a:p>
            <a:r>
              <a:rPr lang="en-US" altLang="ko-KR" dirty="0"/>
              <a:t>--from-beginning</a:t>
            </a:r>
            <a:r>
              <a:rPr lang="ko-KR" altLang="en-US" dirty="0"/>
              <a:t>옵션을 주면 토픽에 저장된 가장 처음데이터부터 출력함</a:t>
            </a:r>
            <a:endParaRPr lang="en-US" altLang="ko-KR" dirty="0"/>
          </a:p>
          <a:p>
            <a:pPr lvl="1"/>
            <a:r>
              <a:rPr lang="ko-KR" altLang="en-US" dirty="0"/>
              <a:t>이때 토픽에 저장된 데이터는 파티션별로 나뉘어 저장되기때문에 순서가 </a:t>
            </a:r>
            <a:r>
              <a:rPr lang="ko-KR" altLang="en-US" dirty="0" err="1"/>
              <a:t>달라보임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E47776-2031-0C01-DA54-7A8C1CF9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17FFE6-A78A-F69D-D5DC-EA383C4A91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13BAB28-CE66-8E0B-9BEC-331EE2AEE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47" y="2460515"/>
            <a:ext cx="9888330" cy="790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FD51D3-49A3-C0B6-3981-55DAAB490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47" y="3328390"/>
            <a:ext cx="1072037" cy="2874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02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7A24-5D18-D0D9-16AD-E357A906B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38539-2FC8-7C97-6D85-4FBC4E3C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246C51-79AB-23EB-D662-E7AF741A4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Kafka-console-consumer.sh &gt; </a:t>
            </a:r>
            <a:r>
              <a:rPr lang="ko-KR" altLang="en-US" dirty="0"/>
              <a:t>전송한 데이터를 확인</a:t>
            </a:r>
            <a:endParaRPr lang="en-US" altLang="ko-KR" dirty="0"/>
          </a:p>
          <a:p>
            <a:r>
              <a:rPr lang="ko-KR" altLang="en-US" dirty="0"/>
              <a:t>데이터의 메시지 키와 </a:t>
            </a:r>
            <a:r>
              <a:rPr lang="ko-KR" altLang="en-US" dirty="0" err="1"/>
              <a:t>메시지값을</a:t>
            </a:r>
            <a:r>
              <a:rPr lang="ko-KR" altLang="en-US" dirty="0"/>
              <a:t> 확인</a:t>
            </a:r>
            <a:endParaRPr lang="en-US" altLang="ko-KR" dirty="0"/>
          </a:p>
          <a:p>
            <a:r>
              <a:rPr lang="en-US" altLang="ko-KR" dirty="0"/>
              <a:t>--</a:t>
            </a:r>
            <a:r>
              <a:rPr lang="en-US" altLang="ko-KR" dirty="0" err="1"/>
              <a:t>print.key</a:t>
            </a:r>
            <a:r>
              <a:rPr lang="ko-KR" altLang="en-US" dirty="0"/>
              <a:t>를 </a:t>
            </a:r>
            <a:r>
              <a:rPr lang="en-US" altLang="ko-KR" dirty="0"/>
              <a:t>true</a:t>
            </a:r>
            <a:r>
              <a:rPr lang="ko-KR" altLang="en-US" dirty="0"/>
              <a:t>로 키 </a:t>
            </a:r>
            <a:r>
              <a:rPr lang="ko-KR" altLang="en-US" dirty="0" err="1"/>
              <a:t>체킹</a:t>
            </a:r>
            <a:endParaRPr lang="en-US" altLang="ko-KR" dirty="0"/>
          </a:p>
          <a:p>
            <a:r>
              <a:rPr lang="en-US" altLang="ko-KR" dirty="0"/>
              <a:t>--</a:t>
            </a:r>
            <a:r>
              <a:rPr lang="en-US" altLang="ko-KR" dirty="0" err="1"/>
              <a:t>key.separator</a:t>
            </a:r>
            <a:r>
              <a:rPr lang="ko-KR" altLang="en-US" dirty="0"/>
              <a:t>를 설정 메시지 </a:t>
            </a:r>
            <a:r>
              <a:rPr lang="ko-KR" altLang="en-US" dirty="0" err="1"/>
              <a:t>키값을</a:t>
            </a:r>
            <a:r>
              <a:rPr lang="ko-KR" altLang="en-US" dirty="0"/>
              <a:t> 구분하기위해 </a:t>
            </a:r>
            <a:endParaRPr lang="en-US" altLang="ko-KR" dirty="0"/>
          </a:p>
          <a:p>
            <a:r>
              <a:rPr lang="en-US" altLang="ko-KR" dirty="0"/>
              <a:t>--group</a:t>
            </a:r>
            <a:r>
              <a:rPr lang="ko-KR" altLang="en-US" dirty="0"/>
              <a:t>를 통해 신규 </a:t>
            </a:r>
            <a:r>
              <a:rPr lang="ko-KR" altLang="en-US" dirty="0" err="1"/>
              <a:t>컨슈머그룹을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ko-KR" altLang="en-US" dirty="0"/>
              <a:t>가져간 메시지에 대해 </a:t>
            </a:r>
            <a:r>
              <a:rPr lang="ko-KR" altLang="en-US" dirty="0" err="1"/>
              <a:t>커밋을</a:t>
            </a:r>
            <a:r>
              <a:rPr lang="ko-KR" altLang="en-US" dirty="0"/>
              <a:t> 함 </a:t>
            </a:r>
            <a:r>
              <a:rPr lang="en-US" altLang="ko-KR" dirty="0"/>
              <a:t>&gt; </a:t>
            </a:r>
            <a:r>
              <a:rPr lang="ko-KR" altLang="en-US" dirty="0"/>
              <a:t>오프셋번호를 카프카 브로커에 저장 </a:t>
            </a:r>
            <a:r>
              <a:rPr lang="en-US" altLang="ko-KR" dirty="0"/>
              <a:t>&gt; __</a:t>
            </a:r>
            <a:r>
              <a:rPr lang="en-US" altLang="ko-KR" dirty="0" err="1"/>
              <a:t>consumer_offsets</a:t>
            </a:r>
            <a:r>
              <a:rPr lang="ko-KR" altLang="en-US" dirty="0"/>
              <a:t>의 </a:t>
            </a:r>
            <a:r>
              <a:rPr lang="ko-KR" altLang="en-US" dirty="0" err="1"/>
              <a:t>내부토픽에</a:t>
            </a:r>
            <a:r>
              <a:rPr lang="ko-KR" altLang="en-US" dirty="0"/>
              <a:t> 저장됨 </a:t>
            </a:r>
            <a:endParaRPr lang="en-US" altLang="ko-KR" dirty="0"/>
          </a:p>
          <a:p>
            <a:pPr lvl="1"/>
            <a:r>
              <a:rPr lang="en-US" altLang="ko-KR" dirty="0"/>
              <a:t>&gt;&gt;</a:t>
            </a:r>
            <a:r>
              <a:rPr lang="ko-KR" altLang="en-US" dirty="0"/>
              <a:t>어디까지 가져갔는지 기억함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10439-91D6-1CB3-B085-FC7B8AB83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D1BA507-9AF1-7658-2EBB-91D96C3B6A0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19D7CD-3544-B24C-6CDE-4725B0A6F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47" y="3628809"/>
            <a:ext cx="9122515" cy="144315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BED9565-8162-730C-A84F-4E05E3116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770" y="2884402"/>
            <a:ext cx="1402591" cy="29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2100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88852-05CC-561F-48A9-DAC75420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C213E-8D5F-7247-EA69-B68FA1886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Kafka-consumer-groups.sh &gt; </a:t>
            </a:r>
            <a:r>
              <a:rPr lang="ko-KR" altLang="en-US" dirty="0"/>
              <a:t>생성된 </a:t>
            </a:r>
            <a:r>
              <a:rPr lang="ko-KR" altLang="en-US" dirty="0" err="1"/>
              <a:t>컨슈머</a:t>
            </a:r>
            <a:r>
              <a:rPr lang="ko-KR" altLang="en-US" dirty="0"/>
              <a:t> 그룹의 리스트 확인가능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확인된 그룹명과 </a:t>
            </a:r>
            <a:r>
              <a:rPr lang="en-US" altLang="ko-KR" dirty="0"/>
              <a:t>describe</a:t>
            </a:r>
            <a:r>
              <a:rPr lang="ko-KR" altLang="en-US" dirty="0"/>
              <a:t>옵션으로 더 자세한 내용 확인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Partition : </a:t>
            </a:r>
            <a:r>
              <a:rPr lang="ko-KR" altLang="en-US" dirty="0"/>
              <a:t>마지막으로 커밋한 파티션</a:t>
            </a:r>
            <a:endParaRPr lang="en-US" altLang="ko-KR" dirty="0"/>
          </a:p>
          <a:p>
            <a:r>
              <a:rPr lang="en-US" altLang="ko-KR" dirty="0"/>
              <a:t>Current-offset : </a:t>
            </a:r>
            <a:r>
              <a:rPr lang="ko-KR" altLang="en-US" dirty="0" err="1"/>
              <a:t>해당파티션에</a:t>
            </a:r>
            <a:r>
              <a:rPr lang="ko-KR" altLang="en-US" dirty="0"/>
              <a:t> 가장 </a:t>
            </a:r>
            <a:r>
              <a:rPr lang="ko-KR" altLang="en-US" dirty="0" err="1"/>
              <a:t>최신오프셋</a:t>
            </a:r>
            <a:endParaRPr lang="en-US" altLang="ko-KR" dirty="0"/>
          </a:p>
          <a:p>
            <a:r>
              <a:rPr lang="en-US" altLang="ko-KR" dirty="0"/>
              <a:t>Log-end-offset : </a:t>
            </a:r>
            <a:r>
              <a:rPr lang="ko-KR" altLang="en-US" dirty="0" err="1"/>
              <a:t>어느오프셋까지</a:t>
            </a:r>
            <a:r>
              <a:rPr lang="ko-KR" altLang="en-US" dirty="0"/>
              <a:t> 커밋했는지 등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BC22A-ABBE-541B-3001-59943993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747579D-A020-D0C9-003E-346301C456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1EC2A3-74A3-DA62-25FD-B21680F4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05" y="1530588"/>
            <a:ext cx="10355120" cy="4667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2F5290A-CEAF-29F5-2E69-B6E7C8E07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5" y="2620566"/>
            <a:ext cx="9812119" cy="771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0307367-9E78-E015-A4E7-3C9C4CB99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05" y="3392199"/>
            <a:ext cx="11108790" cy="138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83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2CF89-864C-F67A-ADA0-9BF387496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701124-A8C3-67A2-6FE9-F0521490A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Kafka-verifiable-producer, consumer.sh &gt;&gt; string</a:t>
            </a:r>
            <a:r>
              <a:rPr lang="ko-KR" altLang="en-US" dirty="0"/>
              <a:t>타입 메시지 값을 </a:t>
            </a:r>
            <a:r>
              <a:rPr lang="ko-KR" altLang="en-US" dirty="0" err="1"/>
              <a:t>코드없이</a:t>
            </a:r>
            <a:r>
              <a:rPr lang="ko-KR" altLang="en-US" dirty="0"/>
              <a:t> 주고받기 가능</a:t>
            </a:r>
            <a:r>
              <a:rPr lang="en-US" altLang="ko-KR" dirty="0"/>
              <a:t>, </a:t>
            </a:r>
            <a:r>
              <a:rPr lang="ko-KR" altLang="en-US" dirty="0"/>
              <a:t>간단한 네트워크 통신테스트 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--max-messages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프로듀서로 보내는 데이터 개수를 지정</a:t>
            </a:r>
            <a:r>
              <a:rPr lang="en-US" altLang="ko-KR" dirty="0"/>
              <a:t>, -1</a:t>
            </a:r>
            <a:r>
              <a:rPr lang="ko-KR" altLang="en-US" dirty="0"/>
              <a:t>을 주면 프로듀서가 </a:t>
            </a:r>
            <a:r>
              <a:rPr lang="ko-KR" altLang="en-US" dirty="0" err="1"/>
              <a:t>종료될때까지</a:t>
            </a:r>
            <a:r>
              <a:rPr lang="ko-KR" altLang="en-US" dirty="0"/>
              <a:t> 데이터를 보냄</a:t>
            </a:r>
            <a:endParaRPr lang="en-US" altLang="ko-KR" dirty="0"/>
          </a:p>
          <a:p>
            <a:r>
              <a:rPr lang="en-US" altLang="ko-KR" dirty="0"/>
              <a:t>--topic : </a:t>
            </a:r>
            <a:r>
              <a:rPr lang="ko-KR" altLang="en-US" dirty="0"/>
              <a:t>데이터를 받을 대상 토픽을 입력함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630CC-4962-8D9E-0175-32E8E810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25C67B0-1AE8-1BA4-C542-D2A3859B2B8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2AE2E4-6391-813C-8CAA-5579E8E99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59" y="1871395"/>
            <a:ext cx="10183646" cy="704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7045F3-0AE5-C88D-D19B-51EBC655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59" y="3628809"/>
            <a:ext cx="10062666" cy="266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889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101DC-E8EC-FB4B-8687-4C146FEE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5463C-ABE4-3C75-0988-E9328C39C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Kafka-verifiable-consumer.sh &gt; </a:t>
            </a:r>
            <a:r>
              <a:rPr lang="ko-KR" altLang="en-US" dirty="0"/>
              <a:t>전송한 </a:t>
            </a:r>
            <a:r>
              <a:rPr lang="ko-KR" altLang="en-US" dirty="0" err="1"/>
              <a:t>데이터를확인</a:t>
            </a:r>
            <a:r>
              <a:rPr lang="ko-KR" altLang="en-US" dirty="0"/>
              <a:t> </a:t>
            </a:r>
            <a:r>
              <a:rPr lang="en-US" altLang="ko-KR" dirty="0"/>
              <a:t>(2</a:t>
            </a:r>
            <a:r>
              <a:rPr lang="ko-KR" altLang="en-US" dirty="0"/>
              <a:t>번 수행해서 </a:t>
            </a:r>
            <a:r>
              <a:rPr lang="en-US" altLang="ko-KR" dirty="0"/>
              <a:t>20)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EA334-7BE6-F54F-5457-7DF0BD03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7C10E4-B2C9-45A6-DADA-F98FBDC02F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E311CF-21B2-272C-5FBF-42E79913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39" y="1460822"/>
            <a:ext cx="11500155" cy="197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526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86AF5-BDFC-A530-0E5C-6AEED48D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카프카 커맨드 라인 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3EFC1-075E-7A2E-CCCA-A8317BCF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Kafka-delete-record.sh &gt; </a:t>
            </a:r>
            <a:r>
              <a:rPr lang="ko-KR" altLang="en-US" dirty="0"/>
              <a:t>적재된 토픽의 데이터를 지우는 방법</a:t>
            </a:r>
            <a:endParaRPr lang="en-US" altLang="ko-KR" dirty="0"/>
          </a:p>
          <a:p>
            <a:r>
              <a:rPr lang="ko-KR" altLang="en-US" dirty="0"/>
              <a:t>가장 오래된 데이터</a:t>
            </a:r>
            <a:r>
              <a:rPr lang="en-US" altLang="ko-KR" dirty="0"/>
              <a:t>, </a:t>
            </a:r>
            <a:r>
              <a:rPr lang="ko-KR" altLang="en-US" dirty="0"/>
              <a:t>특정시점의 오프셋까지 삭제가능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오프셋 </a:t>
            </a:r>
            <a:r>
              <a:rPr lang="en-US" altLang="ko-KR" dirty="0"/>
              <a:t>20</a:t>
            </a:r>
            <a:r>
              <a:rPr lang="ko-KR" altLang="en-US" dirty="0"/>
              <a:t>이전의 </a:t>
            </a:r>
            <a:r>
              <a:rPr lang="ko-KR" altLang="en-US" dirty="0" err="1"/>
              <a:t>모든데이터가</a:t>
            </a:r>
            <a:r>
              <a:rPr lang="ko-KR" altLang="en-US" dirty="0"/>
              <a:t> 삭제됨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D82AD9-BAAE-7403-065E-BA7103BB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8B77E1-EA12-0F53-0FB2-9C0E1328B8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A2E508A-5BD5-2CD0-7ABD-31536B8EA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1871395"/>
            <a:ext cx="5315692" cy="2476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15A5545-8B2F-EEDF-62F6-9D9488458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7" y="2225567"/>
            <a:ext cx="8811855" cy="47631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16263AC-FA78-1836-0BCD-1B2DC0B2C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53" y="2932976"/>
            <a:ext cx="10856293" cy="104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35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38242B-B868-2CE8-2407-4F9CC9280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5A984-F09A-6509-5DF4-E7B7BBB29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Impression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클릭한 게시글 </a:t>
            </a:r>
            <a:r>
              <a:rPr lang="en-US" altLang="ko-KR" dirty="0"/>
              <a:t>ID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User</a:t>
            </a:r>
            <a:r>
              <a:rPr lang="ko-KR" altLang="en-US" dirty="0"/>
              <a:t> </a:t>
            </a:r>
            <a:r>
              <a:rPr lang="en-US" altLang="ko-KR" dirty="0"/>
              <a:t>ID</a:t>
            </a:r>
            <a:r>
              <a:rPr lang="ko-KR" altLang="en-US" dirty="0"/>
              <a:t>:유저의 익명 아이디  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Time</a:t>
            </a:r>
            <a:r>
              <a:rPr lang="ko-KR" altLang="en-US" dirty="0"/>
              <a:t>: </a:t>
            </a:r>
            <a:r>
              <a:rPr lang="ko-KR" altLang="en-US" dirty="0" err="1"/>
              <a:t>impresion의</a:t>
            </a:r>
            <a:r>
              <a:rPr lang="ko-KR" altLang="en-US" dirty="0"/>
              <a:t> 타임스탬프  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History</a:t>
            </a:r>
            <a:r>
              <a:rPr lang="ko-KR" altLang="en-US" dirty="0"/>
              <a:t>: 유저가 과거에 클릭했던 기사들의 </a:t>
            </a:r>
            <a:r>
              <a:rPr lang="ko-KR" altLang="en-US" dirty="0" err="1"/>
              <a:t>ID의</a:t>
            </a:r>
            <a:r>
              <a:rPr lang="ko-KR" altLang="en-US" dirty="0"/>
              <a:t> 리스트 (클릭 시간순으로 정렬됨)        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impressions</a:t>
            </a:r>
            <a:r>
              <a:rPr lang="ko-KR" altLang="en-US" dirty="0"/>
              <a:t> : </a:t>
            </a:r>
            <a:r>
              <a:rPr lang="ko-KR" altLang="en-US" dirty="0" err="1"/>
              <a:t>impression</a:t>
            </a:r>
            <a:r>
              <a:rPr lang="ko-KR" altLang="en-US" dirty="0"/>
              <a:t> 상황에서 유저에게 보여진 뉴스 기사들의 </a:t>
            </a:r>
            <a:r>
              <a:rPr lang="ko-KR" altLang="en-US" dirty="0" err="1"/>
              <a:t>ID들과</a:t>
            </a:r>
            <a:r>
              <a:rPr lang="ko-KR" altLang="en-US" dirty="0"/>
              <a:t> 그 유저가 해당 기사를 클릭했는지에 대한 정보가 저장됨 </a:t>
            </a:r>
            <a:r>
              <a:rPr lang="en-US" altLang="ko-KR" dirty="0"/>
              <a:t>(1 :</a:t>
            </a:r>
            <a:r>
              <a:rPr lang="ko-KR" altLang="en-US" dirty="0"/>
              <a:t>클릭</a:t>
            </a:r>
            <a:r>
              <a:rPr lang="en-US" altLang="ko-KR" dirty="0"/>
              <a:t>, 0 : </a:t>
            </a:r>
            <a:r>
              <a:rPr lang="ko-KR" altLang="en-US" dirty="0"/>
              <a:t>클릭 </a:t>
            </a:r>
            <a:r>
              <a:rPr lang="en-US" altLang="ko-KR" dirty="0"/>
              <a:t>x)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816669-746F-DCF5-9E80-CC79CD36B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2B80325-779E-ABAD-8195-FBEE41F5B1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35112F-EBCD-25FD-9049-40A7C75B3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52" y="1267099"/>
            <a:ext cx="6838086" cy="22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30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11522</TotalTime>
  <Words>1062</Words>
  <Application>Microsoft Office PowerPoint</Application>
  <PresentationFormat>와이드스크린</PresentationFormat>
  <Paragraphs>261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8" baseType="lpstr">
      <vt:lpstr>se-nanumgothic</vt:lpstr>
      <vt:lpstr>맑은 고딕</vt:lpstr>
      <vt:lpstr>Arial</vt:lpstr>
      <vt:lpstr>Times New Roman</vt:lpstr>
      <vt:lpstr>세미나테마</vt:lpstr>
      <vt:lpstr>Kafka 2차시</vt:lpstr>
      <vt:lpstr>목차</vt:lpstr>
      <vt:lpstr>AWS 인스턴스 생성</vt:lpstr>
      <vt:lpstr>인스턴스에 접속하기</vt:lpstr>
      <vt:lpstr>인스턴스에 자바 설치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주키퍼,카프카 브로커 실행</vt:lpstr>
      <vt:lpstr>로컬 컴퓨터에서 카프카와 통신확인</vt:lpstr>
      <vt:lpstr>로컬 컴퓨터에서 카프카와 통신확인</vt:lpstr>
      <vt:lpstr>로컬 컴퓨터에서 카프카와 통신확인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카프카 커맨드 라인 툴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현우 서</cp:lastModifiedBy>
  <cp:revision>37</cp:revision>
  <dcterms:created xsi:type="dcterms:W3CDTF">2023-07-06T03:52:26Z</dcterms:created>
  <dcterms:modified xsi:type="dcterms:W3CDTF">2025-01-21T06:00:05Z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