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56" r:id="rId5"/>
    <p:sldId id="258" r:id="rId6"/>
    <p:sldId id="298" r:id="rId7"/>
    <p:sldId id="300" r:id="rId8"/>
    <p:sldId id="295" r:id="rId9"/>
    <p:sldId id="296" r:id="rId10"/>
    <p:sldId id="299" r:id="rId11"/>
    <p:sldId id="304" r:id="rId12"/>
    <p:sldId id="302" r:id="rId13"/>
    <p:sldId id="297" r:id="rId14"/>
    <p:sldId id="307" r:id="rId15"/>
    <p:sldId id="305" r:id="rId16"/>
    <p:sldId id="303" r:id="rId17"/>
    <p:sldId id="308" r:id="rId18"/>
    <p:sldId id="309" r:id="rId19"/>
    <p:sldId id="306" r:id="rId20"/>
    <p:sldId id="310" r:id="rId21"/>
    <p:sldId id="301" r:id="rId22"/>
    <p:sldId id="311" r:id="rId23"/>
    <p:sldId id="313" r:id="rId24"/>
    <p:sldId id="312" r:id="rId25"/>
    <p:sldId id="26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58" d="100"/>
          <a:sy n="58" d="100"/>
        </p:scale>
        <p:origin x="48" y="10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2025-02-04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Kafka 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  <a:r>
              <a:rPr lang="en-US" altLang="ko-KR" dirty="0"/>
              <a:t>, </a:t>
            </a:r>
            <a:r>
              <a:rPr lang="ko-KR" altLang="en-US" dirty="0"/>
              <a:t>오민정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2025-02-04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Mind data set</a:t>
            </a:r>
          </a:p>
          <a:p>
            <a:r>
              <a:rPr lang="en-US" altLang="ko-KR" dirty="0"/>
              <a:t>2. Producer</a:t>
            </a:r>
          </a:p>
          <a:p>
            <a:r>
              <a:rPr lang="en-US" altLang="ko-KR" dirty="0"/>
              <a:t>3. Consumer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F699A8A-A92E-7042-114B-9838D79FF4A6}"/>
              </a:ext>
            </a:extLst>
          </p:cNvPr>
          <p:cNvSpPr txBox="1">
            <a:spLocks/>
          </p:cNvSpPr>
          <p:nvPr/>
        </p:nvSpPr>
        <p:spPr>
          <a:xfrm>
            <a:off x="663039" y="12330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behaviors.tsv</a:t>
            </a:r>
            <a:r>
              <a:rPr lang="ko-KR" altLang="en-US" dirty="0"/>
              <a:t>: 사용자의 클릭 기록 및 노출 로그</a:t>
            </a:r>
          </a:p>
          <a:p>
            <a:r>
              <a:rPr lang="ko-KR" altLang="en-US" dirty="0" err="1"/>
              <a:t>news.tsv</a:t>
            </a:r>
            <a:r>
              <a:rPr lang="ko-KR" altLang="en-US" dirty="0"/>
              <a:t>: 뉴스 기사 정보</a:t>
            </a:r>
          </a:p>
          <a:p>
            <a:r>
              <a:rPr lang="ko-KR" altLang="en-US" dirty="0" err="1"/>
              <a:t>entity_embedding.vec</a:t>
            </a:r>
            <a:r>
              <a:rPr lang="ko-KR" altLang="en-US" dirty="0"/>
              <a:t>: 지식 그래프로부터 추출한 뉴스 내 </a:t>
            </a:r>
            <a:r>
              <a:rPr lang="ko-KR" altLang="en-US" dirty="0" err="1"/>
              <a:t>엔터티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endParaRPr lang="ko-KR" altLang="en-US" dirty="0"/>
          </a:p>
          <a:p>
            <a:r>
              <a:rPr lang="ko-KR" altLang="en-US" dirty="0" err="1"/>
              <a:t>relation_embedding.vec</a:t>
            </a:r>
            <a:r>
              <a:rPr lang="ko-KR" altLang="en-US" dirty="0"/>
              <a:t>: 지식 그래프로부터 추출한 </a:t>
            </a:r>
            <a:r>
              <a:rPr lang="ko-KR" altLang="en-US" dirty="0" err="1"/>
              <a:t>엔터티</a:t>
            </a:r>
            <a:r>
              <a:rPr lang="ko-KR" altLang="en-US" dirty="0"/>
              <a:t> 간 관계 </a:t>
            </a:r>
            <a:r>
              <a:rPr lang="ko-KR" altLang="en-US" dirty="0" err="1"/>
              <a:t>임베딩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8B957DF-E480-A5E8-9968-E5D89F90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DATA SET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0960F45-61B6-B3F7-BEDC-085143118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25" y="1267098"/>
            <a:ext cx="9503409" cy="2185622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B656A-8CA2-B1F5-45B9-87204508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3884AC-96AF-6075-1EAE-14CF667A39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73045B-BEE0-B4F3-E08C-D22BC3C9A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03" y="1326303"/>
            <a:ext cx="9503408" cy="2067213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9CE02F4-9DBF-5846-A6E1-750DEA55F37E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139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F756D-F580-5195-1ED1-3F09805E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8F7B9-16F3-74AF-F082-70A9D801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CCFE6E-3D14-0CB2-2D51-68F66D9F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F3B1A8-3617-8088-EE35-0013A45748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A13D8CB-7AF0-3DA0-8CEE-61B15357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1" y="174515"/>
            <a:ext cx="12037797" cy="616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5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8242B-B868-2CE8-2407-4F9CC928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5A984-F09A-6509-5DF4-E7B7BBB2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Behaviors.tsv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Impression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클릭한 게시글 </a:t>
            </a:r>
            <a:r>
              <a:rPr lang="en-US" altLang="ko-KR" dirty="0"/>
              <a:t>ID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User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:유저의 익명 아이디  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Time</a:t>
            </a:r>
            <a:r>
              <a:rPr lang="ko-KR" altLang="en-US" dirty="0"/>
              <a:t>: </a:t>
            </a:r>
            <a:r>
              <a:rPr lang="ko-KR" altLang="en-US" dirty="0" err="1"/>
              <a:t>impresion의</a:t>
            </a:r>
            <a:r>
              <a:rPr lang="ko-KR" altLang="en-US" dirty="0"/>
              <a:t> 타임스탬프  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History</a:t>
            </a:r>
            <a:r>
              <a:rPr lang="ko-KR" altLang="en-US" dirty="0"/>
              <a:t>: 유저가 과거에 클릭했던 기사들의 </a:t>
            </a:r>
            <a:r>
              <a:rPr lang="ko-KR" altLang="en-US" dirty="0" err="1"/>
              <a:t>ID의</a:t>
            </a:r>
            <a:r>
              <a:rPr lang="ko-KR" altLang="en-US" dirty="0"/>
              <a:t> 리스트 (클릭 시간순으로 정렬됨)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impressions</a:t>
            </a:r>
            <a:r>
              <a:rPr lang="ko-KR" altLang="en-US" dirty="0"/>
              <a:t> : </a:t>
            </a:r>
            <a:r>
              <a:rPr lang="ko-KR" altLang="en-US" dirty="0" err="1"/>
              <a:t>impression</a:t>
            </a:r>
            <a:r>
              <a:rPr lang="ko-KR" altLang="en-US" dirty="0"/>
              <a:t> 상황에서 유저에게 보여진 뉴스 기사들의 </a:t>
            </a:r>
            <a:r>
              <a:rPr lang="ko-KR" altLang="en-US" dirty="0" err="1"/>
              <a:t>ID들과</a:t>
            </a:r>
            <a:r>
              <a:rPr lang="ko-KR" altLang="en-US" dirty="0"/>
              <a:t> 그 유저가 해당 기사를 클릭했는지에 대한 정보가 저장됨 </a:t>
            </a:r>
            <a:r>
              <a:rPr lang="en-US" altLang="ko-KR" dirty="0"/>
              <a:t>(1 :</a:t>
            </a:r>
            <a:r>
              <a:rPr lang="ko-KR" altLang="en-US" dirty="0"/>
              <a:t>클릭</a:t>
            </a:r>
            <a:r>
              <a:rPr lang="en-US" altLang="ko-KR" dirty="0"/>
              <a:t>, 0 : </a:t>
            </a:r>
            <a:r>
              <a:rPr lang="ko-KR" altLang="en-US" dirty="0"/>
              <a:t>클릭 </a:t>
            </a:r>
            <a:r>
              <a:rPr lang="en-US" altLang="ko-KR" dirty="0"/>
              <a:t>x)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16669-746F-DCF5-9E80-CC79CD36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2B80325-779E-ABAD-8195-FBEE41F5B1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35112F-EBCD-25FD-9049-40A7C75B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52" y="1267099"/>
            <a:ext cx="6838086" cy="22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3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3081B-76DE-47DA-0A36-6AA800ED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28487-17FB-C7DE-1C1A-BBCA89519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</a:t>
            </a:r>
            <a:r>
              <a:rPr lang="ko-KR" altLang="en-US" dirty="0"/>
              <a:t>칼럼으로 정렬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073903-6812-3E7B-E75E-A7A1306C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33EAB4-2951-0FCD-7879-B059C9FFE8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124E97-EF15-7C2D-F466-A30A12D32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352" y="31725"/>
            <a:ext cx="6852648" cy="65008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907AA2-0B05-602B-5316-F8402E6C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7" y="1481779"/>
            <a:ext cx="4572638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6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3A8B-F07E-C33B-A64C-86626B5D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24B98-FB49-5650-6023-FF0FCEC1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MIND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C3B19-7FF7-9073-1DD0-0893320B0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</a:t>
            </a:r>
            <a:r>
              <a:rPr lang="ko-KR" altLang="en-US" dirty="0"/>
              <a:t>칼럼으로 정렬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BBE8C-35E3-E5E2-EE6B-658FF574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CB5BCFF-06B4-3BD5-99C4-4FF53FE449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11DBADB-74C6-AB78-FF20-799DDE96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57" y="1481779"/>
            <a:ext cx="4572638" cy="7906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E29600-C120-B7B5-9A4B-26E5F611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76" y="1460822"/>
            <a:ext cx="11904973" cy="48398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B09245-55A7-09AA-092D-FC9146D0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19" y="16636"/>
            <a:ext cx="11092142" cy="651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9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01F6-092E-7BCA-F7A7-A5C7496B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54B9D-0607-F57D-2487-DC6D8B67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구문 </a:t>
            </a:r>
            <a:r>
              <a:rPr lang="en-US" altLang="ko-KR" dirty="0"/>
              <a:t>- </a:t>
            </a:r>
            <a:r>
              <a:rPr lang="en-US" altLang="ko-KR" dirty="0" err="1"/>
              <a:t>AdminClient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 err="1"/>
              <a:t>NewTopic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79A94-8DAB-CB0A-4EAE-BC5564478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DB5874-978B-F98D-8D7C-1B49799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580583-354E-77F1-140B-FE64B965CD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C03F5D-972F-D0F7-671F-126AE599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34" y="1565444"/>
            <a:ext cx="10019932" cy="359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0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60344-4D62-D471-5ABC-688EA156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구문 </a:t>
            </a:r>
            <a:r>
              <a:rPr lang="en-US" altLang="ko-KR" dirty="0"/>
              <a:t>- Producer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AB51-0581-CC44-9E65-54D650C4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D85ACE1-11D2-EC68-83E6-067EF62776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8" name="내용 개체 틀 17">
            <a:extLst>
              <a:ext uri="{FF2B5EF4-FFF2-40B4-BE49-F238E27FC236}">
                <a16:creationId xmlns:a16="http://schemas.microsoft.com/office/drawing/2014/main" id="{C48A0EAA-E610-3E0F-84BB-AC3F288D0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629" y="2018822"/>
            <a:ext cx="9834046" cy="3174340"/>
          </a:xfrm>
        </p:spPr>
      </p:pic>
    </p:spTree>
    <p:extLst>
      <p:ext uri="{BB962C8B-B14F-4D97-AF65-F5344CB8AC3E}">
        <p14:creationId xmlns:p14="http://schemas.microsoft.com/office/powerpoint/2010/main" val="382528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95BEB-2364-D313-5569-F26EE8E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501C4-CF0A-DD10-B151-4ECE48CE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AEC609-EE71-B345-F0D0-2226279E93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9C938F-1BBD-9F40-215E-E4AF6905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368" y="10955"/>
            <a:ext cx="7983984" cy="6521608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656C0F9-E241-B47D-4581-87F5A8E68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0639" y="4946871"/>
            <a:ext cx="8278380" cy="571580"/>
          </a:xfr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2D009B5-FBBF-8638-0328-AA898C485BEE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기존 존재하는 토픽 삭제</a:t>
            </a:r>
            <a:endParaRPr lang="en-US" altLang="ko-KR" dirty="0"/>
          </a:p>
          <a:p>
            <a:r>
              <a:rPr lang="ko-KR" altLang="en-US" dirty="0"/>
              <a:t>새로운 토픽 생성 </a:t>
            </a:r>
            <a:endParaRPr lang="en-US" altLang="ko-KR" dirty="0"/>
          </a:p>
          <a:p>
            <a:pPr lvl="1"/>
            <a:r>
              <a:rPr lang="ko-KR" altLang="en-US" dirty="0"/>
              <a:t>파티션 </a:t>
            </a:r>
            <a:r>
              <a:rPr lang="en-US" altLang="ko-KR" dirty="0"/>
              <a:t>3</a:t>
            </a:r>
          </a:p>
          <a:p>
            <a:pPr lvl="1"/>
            <a:r>
              <a:rPr lang="ko-KR" altLang="en-US" dirty="0"/>
              <a:t>복제 </a:t>
            </a:r>
            <a:r>
              <a:rPr lang="en-US" altLang="ko-KR" dirty="0"/>
              <a:t>1 (</a:t>
            </a:r>
            <a:r>
              <a:rPr lang="ko-KR" altLang="en-US" dirty="0"/>
              <a:t>원본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9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37DD-B248-E753-06EA-A26CFBF6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A3886-008D-649E-872E-4BBCAEDA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A707F6-C566-35BE-9599-F49957AF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FB2684-65C0-86E0-8218-B5D4984992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9B553A9-2141-9771-61B5-AEABFEBAA49B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생성된 토픽 확인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C63B2E-1CEA-993C-F09E-1C2786FB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493755"/>
            <a:ext cx="5744377" cy="10193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7CFC03-BFF3-88BB-2C60-3C8B4485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2513072"/>
            <a:ext cx="485842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1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6AAC-6FE9-E5FC-FB95-090911DA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72C5D-5AEF-D164-C4BE-CADAF3D3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A134B7E-6107-0B2F-5AD1-6A1E1937E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432" y="881062"/>
            <a:ext cx="7877568" cy="564054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763D86-B8B0-F478-E7F9-0DD1ABE0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72665B7-F071-227E-4DE3-608506C154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E26F57-CBC8-F7A0-7F33-194ADBA1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962" y="3908369"/>
            <a:ext cx="12192000" cy="426177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C6A0A18-0D69-FD03-1FB9-58A0DD33DC06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정렬한 데이터를 카프카로 전송</a:t>
            </a:r>
          </a:p>
        </p:txBody>
      </p:sp>
    </p:spTree>
    <p:extLst>
      <p:ext uri="{BB962C8B-B14F-4D97-AF65-F5344CB8AC3E}">
        <p14:creationId xmlns:p14="http://schemas.microsoft.com/office/powerpoint/2010/main" val="1990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4420-6907-E2C1-9D0F-603114D4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D8475-67B4-8A1E-0346-5909B786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구문 </a:t>
            </a:r>
            <a:r>
              <a:rPr lang="en-US" altLang="ko-KR" dirty="0"/>
              <a:t>- Consumer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5354FC-B1D5-FE18-927A-2C5B75643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331" y="1116177"/>
            <a:ext cx="10303337" cy="50958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897A03-01E0-DAFE-FBC5-A22978F0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68851C-A23B-C7AE-735D-246A82C627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418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938CD-69E0-C6CB-4F28-8904426A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0914E4-097C-8450-F206-075B3BA6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0E300BA-551F-B906-47BC-00045BB6D8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67156E-39D9-D84E-041F-CA7D366D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623" y="0"/>
            <a:ext cx="7059377" cy="6521608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F442279-ED23-C44F-FE29-5974153B8301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컨슈머</a:t>
            </a:r>
            <a:r>
              <a:rPr lang="ko-KR" altLang="en-US" dirty="0"/>
              <a:t> 옵션</a:t>
            </a:r>
            <a:endParaRPr lang="en-US" altLang="ko-KR" dirty="0"/>
          </a:p>
          <a:p>
            <a:r>
              <a:rPr lang="en-US" altLang="ko-KR" dirty="0" err="1"/>
              <a:t>Auto_offset_reset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 err="1"/>
              <a:t>컨슈머</a:t>
            </a:r>
            <a:r>
              <a:rPr lang="ko-KR" altLang="en-US" dirty="0"/>
              <a:t> 그룹에 저장된 오프셋이 </a:t>
            </a:r>
            <a:r>
              <a:rPr lang="ko-KR" altLang="en-US" dirty="0" err="1"/>
              <a:t>없을때</a:t>
            </a:r>
            <a:r>
              <a:rPr lang="ko-KR" altLang="en-US" dirty="0"/>
              <a:t> 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어디서 부터 읽을지를 결정</a:t>
            </a:r>
            <a:endParaRPr lang="en-US" altLang="ko-KR" dirty="0"/>
          </a:p>
          <a:p>
            <a:pPr lvl="1"/>
            <a:r>
              <a:rPr lang="en-US" altLang="ko-KR" dirty="0"/>
              <a:t>Earliest : </a:t>
            </a:r>
            <a:r>
              <a:rPr lang="ko-KR" altLang="en-US" dirty="0"/>
              <a:t>가장 처음</a:t>
            </a:r>
            <a:r>
              <a:rPr lang="en-US" altLang="ko-KR" dirty="0"/>
              <a:t>(</a:t>
            </a:r>
            <a:r>
              <a:rPr lang="ko-KR" altLang="en-US" dirty="0"/>
              <a:t>오래된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Latest : </a:t>
            </a:r>
            <a:r>
              <a:rPr lang="ko-KR" altLang="en-US" dirty="0"/>
              <a:t>가장 끝</a:t>
            </a:r>
            <a:r>
              <a:rPr lang="en-US" altLang="ko-KR" dirty="0"/>
              <a:t>(</a:t>
            </a:r>
            <a:r>
              <a:rPr lang="ko-KR" altLang="en-US" dirty="0"/>
              <a:t>최신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None : </a:t>
            </a:r>
            <a:r>
              <a:rPr lang="ko-KR" altLang="en-US" dirty="0"/>
              <a:t>예외를 발생</a:t>
            </a:r>
            <a:endParaRPr lang="en-US" altLang="ko-KR" dirty="0"/>
          </a:p>
          <a:p>
            <a:r>
              <a:rPr lang="en-US" altLang="ko-KR" dirty="0" err="1"/>
              <a:t>Enable_auto_commit</a:t>
            </a:r>
            <a:endParaRPr lang="en-US" altLang="ko-KR" dirty="0"/>
          </a:p>
          <a:p>
            <a:pPr lvl="1"/>
            <a:r>
              <a:rPr lang="ko-KR" altLang="en-US" dirty="0"/>
              <a:t>처리한 오프셋 </a:t>
            </a:r>
            <a:r>
              <a:rPr lang="ko-KR" altLang="en-US" dirty="0" err="1"/>
              <a:t>커밋</a:t>
            </a:r>
            <a:r>
              <a:rPr lang="ko-KR" altLang="en-US" dirty="0"/>
              <a:t> 자동처리 옵션</a:t>
            </a:r>
            <a:endParaRPr lang="en-US" altLang="ko-KR" dirty="0"/>
          </a:p>
          <a:p>
            <a:r>
              <a:rPr lang="en-US" altLang="ko-KR" dirty="0" err="1"/>
              <a:t>Group_id</a:t>
            </a:r>
            <a:endParaRPr lang="en-US" altLang="ko-KR" dirty="0"/>
          </a:p>
          <a:p>
            <a:pPr lvl="1"/>
            <a:r>
              <a:rPr lang="ko-KR" altLang="en-US" dirty="0" err="1"/>
              <a:t>컨슈머</a:t>
            </a:r>
            <a:r>
              <a:rPr lang="ko-KR" altLang="en-US" dirty="0"/>
              <a:t> 그룹 식별자</a:t>
            </a:r>
            <a:endParaRPr lang="en-US" altLang="ko-KR" dirty="0"/>
          </a:p>
          <a:p>
            <a:r>
              <a:rPr lang="en-US" altLang="ko-KR" dirty="0" err="1"/>
              <a:t>Value_deserializer</a:t>
            </a:r>
            <a:endParaRPr lang="en-US" altLang="ko-KR" dirty="0"/>
          </a:p>
          <a:p>
            <a:pPr lvl="1"/>
            <a:r>
              <a:rPr lang="ko-KR" altLang="en-US" dirty="0"/>
              <a:t>수신한 메시지를 디코딩（ｕｔｆ－８）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36DC4FEE-EA08-4BE2-5E30-D042F90B6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937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22C7-08B1-1FAB-EC50-B634F19E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7F7CE-25E5-7B11-935D-72D5DCB3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8ED9D-DE24-F91B-4D4C-B85FF056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253B54-B291-B05C-5BFF-B8D91B0ED1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E82AC70-2CCF-EA09-D1F4-8F937EE7D68E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컨슈머는</a:t>
            </a:r>
            <a:r>
              <a:rPr lang="ko-KR" altLang="en-US" dirty="0"/>
              <a:t> 기본적으로 지속적으로 데이터를 수신하기위해 계속 실행됨</a:t>
            </a:r>
            <a:endParaRPr lang="en-US" altLang="ko-KR" dirty="0"/>
          </a:p>
          <a:p>
            <a:r>
              <a:rPr lang="en-US" altLang="ko-KR" dirty="0"/>
              <a:t>10</a:t>
            </a:r>
            <a:r>
              <a:rPr lang="ko-KR" altLang="en-US" dirty="0" err="1"/>
              <a:t>초동안</a:t>
            </a:r>
            <a:r>
              <a:rPr lang="ko-KR" altLang="en-US" dirty="0"/>
              <a:t> 메시지가 수신되지 않는다면 </a:t>
            </a:r>
            <a:r>
              <a:rPr lang="ko-KR" altLang="en-US" dirty="0" err="1"/>
              <a:t>종료시킴</a:t>
            </a:r>
            <a:endParaRPr lang="en-US" altLang="ko-KR" dirty="0"/>
          </a:p>
        </p:txBody>
      </p:sp>
      <p:pic>
        <p:nvPicPr>
          <p:cNvPr id="13" name="내용 개체 틀 8">
            <a:extLst>
              <a:ext uri="{FF2B5EF4-FFF2-40B4-BE49-F238E27FC236}">
                <a16:creationId xmlns:a16="http://schemas.microsoft.com/office/drawing/2014/main" id="{09F0D4EA-0C20-7137-C230-D85364663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7992" y="1460822"/>
            <a:ext cx="6215453" cy="4773847"/>
          </a:xfrm>
        </p:spPr>
      </p:pic>
    </p:spTree>
    <p:extLst>
      <p:ext uri="{BB962C8B-B14F-4D97-AF65-F5344CB8AC3E}">
        <p14:creationId xmlns:p14="http://schemas.microsoft.com/office/powerpoint/2010/main" val="381643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1DA3-D88E-EFAF-3168-66593B93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1069C-E37F-4691-905F-5F228A59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pic>
        <p:nvPicPr>
          <p:cNvPr id="9" name="그림 8" descr="스크린샷, 패턴, 흑백, 모노크롬이(가) 표시된 사진&#10;&#10;자동 생성된 설명">
            <a:extLst>
              <a:ext uri="{FF2B5EF4-FFF2-40B4-BE49-F238E27FC236}">
                <a16:creationId xmlns:a16="http://schemas.microsoft.com/office/drawing/2014/main" id="{96073F78-91E6-DB5C-E8BA-9FCF5134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14"/>
          <a:stretch/>
        </p:blipFill>
        <p:spPr>
          <a:xfrm>
            <a:off x="76168" y="1054859"/>
            <a:ext cx="12071870" cy="5466749"/>
          </a:xfrm>
          <a:prstGeom prst="rect">
            <a:avLst/>
          </a:prstGeom>
          <a:noFill/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A2E8F7-5294-0F79-68F6-AD7890CF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13237F5-BA6C-44EB-8611-BE9F046D20F4}" type="slidenum">
              <a:rPr lang="ko-KR" altLang="en-US" smtClean="0"/>
              <a:pPr>
                <a:spcAft>
                  <a:spcPts val="600"/>
                </a:spcAft>
              </a:pPr>
              <a:t>16</a:t>
            </a:fld>
            <a:endParaRPr lang="ko-KR" alt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7EA503BB-F0CB-5604-B09F-6F78225A07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62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F0CA4-A7E6-7269-7686-C6062BE9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0EBB9F-0F9F-4ED4-CCF1-68E32F72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저장된 </a:t>
            </a:r>
            <a:r>
              <a:rPr lang="ko-KR" altLang="en-US" dirty="0" err="1"/>
              <a:t>컨슈머파일을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타임스탬프 칼럼으로 재정렬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기존의 정렬 했던 파일과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동일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F8C0B-295B-735B-38A2-F51740E7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1B3C43-4521-0D14-529B-CB4A4D8C68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1B700F9-4D4C-AB66-5B12-4E0B075B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84" y="865779"/>
            <a:ext cx="8420016" cy="56558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B1C1FA-08EB-EDAB-16DF-ABFACD54A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7915"/>
            <a:ext cx="12192000" cy="42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7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109A-ACDE-85BE-BCA5-7FE914CB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627D7-C417-4418-5FDD-AD3434A7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448C72-C106-71DF-7F1D-EAB32F6A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자체의 타임스탬프 제공 </a:t>
            </a:r>
            <a:r>
              <a:rPr lang="en-US" altLang="ko-KR" dirty="0"/>
              <a:t>&gt; </a:t>
            </a:r>
            <a:r>
              <a:rPr lang="en-US" altLang="ko-KR" dirty="0" err="1"/>
              <a:t>log.message.timestamp.type</a:t>
            </a:r>
            <a:endParaRPr lang="en-US" altLang="ko-KR" dirty="0"/>
          </a:p>
          <a:p>
            <a:r>
              <a:rPr lang="ko-KR" altLang="en-US" dirty="0"/>
              <a:t>기본값 </a:t>
            </a:r>
            <a:r>
              <a:rPr lang="en-US" altLang="ko-KR" dirty="0"/>
              <a:t>: create time  &gt; </a:t>
            </a:r>
            <a:r>
              <a:rPr lang="ko-KR" altLang="en-US" dirty="0"/>
              <a:t>프로듀서가 부여하는 시간 </a:t>
            </a:r>
            <a:r>
              <a:rPr lang="en-US" altLang="ko-KR" dirty="0"/>
              <a:t>&gt; </a:t>
            </a:r>
            <a:r>
              <a:rPr lang="ko-KR" altLang="en-US" dirty="0"/>
              <a:t>현재시스템시각</a:t>
            </a:r>
            <a:r>
              <a:rPr lang="en-US" altLang="ko-KR" dirty="0"/>
              <a:t>(</a:t>
            </a:r>
            <a:r>
              <a:rPr lang="ko-KR" altLang="en-US" dirty="0" err="1"/>
              <a:t>밀리초단위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LogAppendTime</a:t>
            </a:r>
            <a:r>
              <a:rPr lang="en-US" altLang="ko-KR" dirty="0"/>
              <a:t> &gt; </a:t>
            </a:r>
            <a:r>
              <a:rPr lang="ko-KR" altLang="en-US" dirty="0"/>
              <a:t>브로커에 실제로 </a:t>
            </a:r>
            <a:r>
              <a:rPr lang="ko-KR" altLang="en-US" dirty="0" err="1"/>
              <a:t>기록될때</a:t>
            </a:r>
            <a:r>
              <a:rPr lang="ko-KR" altLang="en-US" dirty="0"/>
              <a:t> 브로커가 부여하는 타임스탬프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F367C-619C-D809-D972-8DC94212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5E00D4-2C56-4A3B-67D5-239FFEA567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158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36C9A-1881-90CD-5C95-982B69C6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280285-53A6-C718-4A2E-8D96432F7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카프카의 타임스탬프를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C459C-DE66-1ACE-902F-973EAA78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5C5253-C69A-29DC-8155-CC9F81BD53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74E85D-5538-25A7-E1B4-3DEFEF3F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832" y="962419"/>
            <a:ext cx="6754168" cy="23053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2A8F611-EF84-4C7F-4448-1157D075C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832" y="3267791"/>
            <a:ext cx="6754168" cy="31596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7D460B-8160-E48C-F9B2-075440F17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61" y="1037367"/>
            <a:ext cx="11739204" cy="548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3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74A0-F02F-DB06-847B-2BA9268B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B28CC-9595-F553-F1D1-F8926758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F8D763-7E57-04A8-1127-AD1B81DF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카프카의 타임스탬프를 확인</a:t>
            </a:r>
            <a:endParaRPr lang="en-US" altLang="ko-KR" dirty="0"/>
          </a:p>
          <a:p>
            <a:r>
              <a:rPr lang="ko-KR" altLang="en-US" dirty="0"/>
              <a:t>파티션별로 순서가 보장 된 모습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75C67D-41D7-ECC3-1355-29A49A4C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26811E-2C7F-F743-5414-25A31E29EF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4CFFA50-5435-AD30-93F9-8566D57D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71" y="1785020"/>
            <a:ext cx="8724267" cy="47475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5810DA8-19EE-CEB9-C68A-A059E46CE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4" y="931238"/>
            <a:ext cx="4887007" cy="8954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4013A9F-461E-7727-CCAD-3FC24DE97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537" y="1731158"/>
            <a:ext cx="9047939" cy="48907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851A972-6A09-69E9-4870-A1E3C6A00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098" y="1785020"/>
            <a:ext cx="9047940" cy="484456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3810B6D-D6A0-94FC-3530-E45AA460F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537" y="934354"/>
            <a:ext cx="5801535" cy="84784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CE575CC-6666-18A9-ED65-46ECAC214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0167" y="931238"/>
            <a:ext cx="4725059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31159-8AA7-FD5B-479E-4FD58E1D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4B8E2-CC41-7518-1618-A657A069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카프카스트림즈</a:t>
            </a:r>
            <a:r>
              <a:rPr lang="ko-KR" altLang="en-US" dirty="0"/>
              <a:t>， </a:t>
            </a:r>
            <a:r>
              <a:rPr lang="en-US" altLang="ko-KR" dirty="0" err="1"/>
              <a:t>KsqlDB</a:t>
            </a:r>
            <a:r>
              <a:rPr lang="en-US" altLang="ko-KR" dirty="0"/>
              <a:t> </a:t>
            </a:r>
            <a:r>
              <a:rPr lang="ko-KR" altLang="en-US" dirty="0"/>
              <a:t>와 같이 카프카 </a:t>
            </a:r>
            <a:r>
              <a:rPr lang="ko-KR" altLang="en-US" dirty="0" err="1"/>
              <a:t>브로커딴에서</a:t>
            </a:r>
            <a:r>
              <a:rPr lang="ko-KR" altLang="en-US" dirty="0"/>
              <a:t> 데이터를 미리 처리 가능</a:t>
            </a:r>
            <a:endParaRPr lang="en-US" altLang="ko-KR" dirty="0"/>
          </a:p>
          <a:p>
            <a:r>
              <a:rPr lang="ko-KR" altLang="en-US" dirty="0"/>
              <a:t>단순 메시지 전송 및 저장이 필요하다면 기본 </a:t>
            </a:r>
            <a:r>
              <a:rPr lang="en-US" altLang="ko-KR" dirty="0"/>
              <a:t>Kafka</a:t>
            </a:r>
            <a:r>
              <a:rPr lang="ko-KR" altLang="en-US" dirty="0"/>
              <a:t>의 </a:t>
            </a:r>
            <a:r>
              <a:rPr lang="en-US" altLang="ko-KR" dirty="0"/>
              <a:t>Producer/Consumer API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ko-KR" altLang="en-US" dirty="0"/>
              <a:t>실시간 데이터 처리 및 분석이 필요하다면 </a:t>
            </a:r>
            <a:r>
              <a:rPr lang="en-US" altLang="ko-KR" dirty="0"/>
              <a:t>Kafka Streams</a:t>
            </a:r>
            <a:r>
              <a:rPr lang="ko-KR" altLang="en-US" dirty="0"/>
              <a:t>나 </a:t>
            </a:r>
            <a:r>
              <a:rPr lang="en-US" altLang="ko-KR" dirty="0" err="1"/>
              <a:t>ksqlDB</a:t>
            </a:r>
            <a:r>
              <a:rPr lang="en-US" altLang="ko-KR" dirty="0"/>
              <a:t> </a:t>
            </a:r>
            <a:r>
              <a:rPr lang="ko-KR" altLang="en-US" dirty="0"/>
              <a:t>같은 도구를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2D3C1-C874-DE4D-78E3-E9368E11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AB0E8CA-B662-293C-655E-EEE7E2CE03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9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3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12327</TotalTime>
  <Words>381</Words>
  <Application>Microsoft Office PowerPoint</Application>
  <PresentationFormat>와이드스크린</PresentationFormat>
  <Paragraphs>117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se-nanumgothic</vt:lpstr>
      <vt:lpstr>맑은 고딕</vt:lpstr>
      <vt:lpstr>Arial</vt:lpstr>
      <vt:lpstr>Times New Roman</vt:lpstr>
      <vt:lpstr>세미나테마</vt:lpstr>
      <vt:lpstr>Kafka 3</vt:lpstr>
      <vt:lpstr>목차</vt:lpstr>
      <vt:lpstr>MIND DATA SET</vt:lpstr>
      <vt:lpstr>PowerPoint 프레젠테이션</vt:lpstr>
      <vt:lpstr>MIND DATA SET</vt:lpstr>
      <vt:lpstr>MIND DATA SET</vt:lpstr>
      <vt:lpstr>MIND DATA SET</vt:lpstr>
      <vt:lpstr>주요 구문 - AdminClient / NewTopic</vt:lpstr>
      <vt:lpstr>주요 구문 - Producer</vt:lpstr>
      <vt:lpstr>Producer</vt:lpstr>
      <vt:lpstr>Producer</vt:lpstr>
      <vt:lpstr>Producer</vt:lpstr>
      <vt:lpstr>주요 구문 - Consumer</vt:lpstr>
      <vt:lpstr>Consumer</vt:lpstr>
      <vt:lpstr>Consumer</vt:lpstr>
      <vt:lpstr>Consumer</vt:lpstr>
      <vt:lpstr>Consumer</vt:lpstr>
      <vt:lpstr>Producer</vt:lpstr>
      <vt:lpstr>Consumer</vt:lpstr>
      <vt:lpstr>Consumer</vt:lpstr>
      <vt:lpstr>Consumer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43</cp:revision>
  <dcterms:created xsi:type="dcterms:W3CDTF">2023-07-06T03:52:26Z</dcterms:created>
  <dcterms:modified xsi:type="dcterms:W3CDTF">2025-02-04T05:58:49Z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